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pertanyaan di sampul dan minta kelas memilih: ya, tidak, atau tergantung. Catat jumlahnya, nanti dibandingkan dengan jawaban setelah slide 5.
Tujuan (Sub-CPMK3): mahasiswa mampu menganalisis hubungan hukum internasional dan hukum nasional (monisme dan dualisme) dan menerapkannya pada kasus konkret di Indonesia.
Waktu kira-kira: teori 35 menit, praktik negara 25 menit, Indonesia dan kasus 50 menit, debat 25 menit, kuis 15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membantu: dualisme seperti dua lingkaran yang tidak bersentuhan, perlu jembatan (transformasi). Monisme seperti lingkaran besar yang memuat lingkaran kecil.
Dualisme berangkat dari perbedaan sumber, subjek, dan struktur kedua sistem (Triepel, Anzilotti).
Monisme menurut Kelsen menempatkan hukum internasional di atas, karena kedaulatan negara sendiri berasal dari hukum internasional. Varian lain menempatkan hukum nasional di atas, tetapi akibatnya hukum internasional bisa diabaikan sesuka negara.
Tanya kelas: kalau kalian pembuat konstitusi, pilih yang mana dan kenapa?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Transformasi identik dengan dualisme, adopsi dengan monisme.
Inggris: perjanjian dibuat oleh pemerintah, sedangkan hukum dibuat parlemen, maka perjanjian perlu undang-undang agar bisa dipakai di pengadilan.
Belanda: Pasal 93 dan 94 konstitusinya membuat ketentuan perjanjian yang mengikat setiap orang berlaku langsung, bahkan di atas undang-undang.
Amerika: perjanjian disebut supreme law of the land, tetapi dalam Medellín v. Texas (2008) Mahkamah Agung AS menyatakan putusan MI dalam kasus Avena tidak otomatis berlaku tanpa undang-undang.
Jerman: Pasal 25 Grundgesetz menyangkut aturan umum hukum internasional (kebiasaan), bukan setiap perjanjian.
Pertanyaan: dari empat contoh ini, mana yang paling mirip Indonesia? Jawabannya di slide berikut.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UUD 1945 tidak tegas memilih. Itu sebabnya titik Indonesia sengaja diletakkan di tengah.
Pasal 7 UU 12/2011 (beserta perubahannya) tidak menyebut perjanjian internasional, sehingga kedudukannya dalam hierarki masih diperdebatkan.
Pasal 7 ayat (2) UU HAM menunjukkan sikap adopsi untuk bidang HAM.
Contoh di kanan menunjukkan praktik yang tidak seragam: ada perjanjian yang diikuti undang-undang pelaksana, ada yang dipakai langsung.
Minta mahasiswa menyebut satu perjanjian lain yang mereka tahu dan menebak letaknya di garis spektrum.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Kasus kiri menunjukkan wajah dualis: perjanjian sudah disahkan, tetapi hakim menunggu aturan pelaksana. Perkara ini berawal dari PN Jakarta Pusat No. 228/1979/P dan masih di tingkat kasasi ketika Keppres 34/1981 terbit.
Kasus kanan menunjukkan perjanjian dipakai sebagai bahan pertimbangan ketika MK menafsirkan UUD 1945. MK membaca Pasal 6 ayat (2) ICCPR sebagai tidak melarang pidana mati untuk kejahatan paling serius. Ada empat hakim yang berpendapat berbeda.
Kalimat bawah penting: di forum internasional, alasan "hukum nasional kami belum siap" tidak bisa membebaskan negara dari kewajibannya.
Sekarang ulangi voting dari sampul. Apakah jawaban kelas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 kelas dua sisi secara acak, bukan berdasarkan pendapat pribadi. Melatih mahasiswa membela posisi yang mungkin tidak mereka setujui.
Poin di slide hanya pemantik. Dorong tim mencari argumen tambahan, misalnya perbedaan perjanjian yang self-executing dan yang tidak.
Penutup dosen: jawaban paling aman adalah "tergantung isi perjanjiannya". Ketentuan yang jelas dan langsung menyangkut hak orang lebih mudah dipakai hakim.
Kegiatan ini sekaligus latihan presentasi sesuai metode pembelajaran di RPS.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(1) dualisme, lewat transformasi; (2) Pasal 11 UUD 1945 dan UU 24/2000 (boleh juga UU 39/1999 Pasal 7 ayat (2)); (3) konvensi sudah disahkan tetapi MA menolak menjalankannya sebelum ada aturan pelaksana.
Tugas baca: minta mahasiswa membawa satu berita kejahatan lintas negara untuk Pertemuan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pic>
        <p:nvPicPr>
          <p:cNvPr id="2" name="Image 0" descr="/tmp/claude-0/-home-claude/1d55af17-4c07-5715-bc68-ec714a3707f7/scratchpad/pptx-hi/logo-kecil.png">    </p:cNvPr>
          <p:cNvPicPr>
            <a:picLocks noChangeAspect="1"/>
          </p:cNvPicPr>
          <p:nvPr/>
        </p:nvPicPr>
        <p:blipFill>
          <a:blip r:embed="rId1"/>
          <a:stretch>
            <a:fillRect/>
          </a:stretch>
        </p:blipFill>
        <p:spPr>
          <a:xfrm>
            <a:off x="502920" y="256032"/>
            <a:ext cx="384048" cy="365760"/>
          </a:xfrm>
          <a:prstGeom prst="rect">
            <a:avLst/>
          </a:prstGeom>
        </p:spPr>
      </p:pic>
      <p:sp>
        <p:nvSpPr>
          <p:cNvPr id="3" name="Text 0"/>
          <p:cNvSpPr/>
          <p:nvPr/>
        </p:nvSpPr>
        <p:spPr>
          <a:xfrm>
            <a:off x="978408" y="274320"/>
            <a:ext cx="5486400" cy="329184"/>
          </a:xfrm>
          <a:prstGeom prst="rect">
            <a:avLst/>
          </a:prstGeom>
          <a:noFill/>
          <a:ln/>
        </p:spPr>
        <p:txBody>
          <a:bodyPr wrap="square" lIns="0" tIns="0" rIns="0" bIns="0" rtlCol="0" anchor="ctr"/>
          <a:lstStyle/>
          <a:p>
            <a:pPr indent="0" marL="0">
              <a:buNone/>
            </a:pPr>
            <a:r>
              <a:rPr lang="en-US" sz="1100" dirty="0">
                <a:solidFill>
                  <a:srgbClr val="5F5F5F"/>
                </a:solidFill>
                <a:latin typeface="Arial" pitchFamily="34" charset="0"/>
                <a:ea typeface="Arial" pitchFamily="34" charset="-122"/>
                <a:cs typeface="Arial" pitchFamily="34" charset="-120"/>
              </a:rPr>
              <a:t>Fakultas Hukum Universitas Islam Sultan Agung</a:t>
            </a:r>
            <a:endParaRPr lang="en-US" sz="1100" dirty="0"/>
          </a:p>
        </p:txBody>
      </p:sp>
      <p:sp>
        <p:nvSpPr>
          <p:cNvPr id="4" name="Text 1"/>
          <p:cNvSpPr/>
          <p:nvPr/>
        </p:nvSpPr>
        <p:spPr>
          <a:xfrm>
            <a:off x="6675120" y="274320"/>
            <a:ext cx="5010912" cy="329184"/>
          </a:xfrm>
          <a:prstGeom prst="rect">
            <a:avLst/>
          </a:prstGeom>
          <a:noFill/>
          <a:ln/>
        </p:spPr>
        <p:txBody>
          <a:bodyPr wrap="square" lIns="0" tIns="0" rIns="0" bIns="0" rtlCol="0" anchor="ctr"/>
          <a:lstStyle/>
          <a:p>
            <a:pPr algn="r" indent="0" marL="0">
              <a:buNone/>
            </a:pPr>
            <a:r>
              <a:rPr lang="en-US" sz="1100" dirty="0">
                <a:solidFill>
                  <a:srgbClr val="5F5F5F"/>
                </a:solidFill>
                <a:latin typeface="Arial" pitchFamily="34" charset="0"/>
                <a:ea typeface="Arial" pitchFamily="34" charset="-122"/>
                <a:cs typeface="Arial" pitchFamily="34" charset="-120"/>
              </a:rPr>
              <a:t>Hukum Internasional | Pertemuan 3</a:t>
            </a:r>
            <a:endParaRPr lang="en-US" sz="1100" dirty="0"/>
          </a:p>
        </p:txBody>
      </p:sp>
      <p:sp>
        <p:nvSpPr>
          <p:cNvPr id="5" name="Shape 2"/>
          <p:cNvSpPr/>
          <p:nvPr/>
        </p:nvSpPr>
        <p:spPr>
          <a:xfrm>
            <a:off x="502920" y="749808"/>
            <a:ext cx="11183112" cy="0"/>
          </a:xfrm>
          <a:prstGeom prst="line">
            <a:avLst/>
          </a:prstGeom>
          <a:noFill/>
          <a:ln w="12700">
            <a:solidFill>
              <a:srgbClr val="D9D2CB"/>
            </a:solidFill>
            <a:prstDash val="solid"/>
          </a:ln>
        </p:spPr>
      </p:sp>
      <p:sp>
        <p:nvSpPr>
          <p:cNvPr id="6" name="Shape 3"/>
          <p:cNvSpPr/>
          <p:nvPr/>
        </p:nvSpPr>
        <p:spPr>
          <a:xfrm>
            <a:off x="502920" y="6400800"/>
            <a:ext cx="11183112" cy="0"/>
          </a:xfrm>
          <a:prstGeom prst="line">
            <a:avLst/>
          </a:prstGeom>
          <a:noFill/>
          <a:ln w="12700">
            <a:solidFill>
              <a:srgbClr val="D9D2CB"/>
            </a:solidFill>
            <a:prstDash val="solid"/>
          </a:ln>
        </p:spPr>
      </p:sp>
      <p:sp>
        <p:nvSpPr>
          <p:cNvPr id="7" name="Text 4"/>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F5F5F"/>
                </a:solidFill>
                <a:latin typeface="Arial" pitchFamily="34" charset="0"/>
                <a:ea typeface="Arial" pitchFamily="34" charset="-122"/>
                <a:cs typeface="Arial" pitchFamily="34" charset="-120"/>
              </a:rPr>
              <a:t>Aditya Noviyansyah, S.H., M.H.</a:t>
            </a:r>
            <a:endParaRPr lang="en-US" sz="10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40080"/>
            <a:ext cx="0" cy="5577840"/>
          </a:xfrm>
          <a:prstGeom prst="line">
            <a:avLst/>
          </a:prstGeom>
          <a:noFill/>
          <a:ln w="28575">
            <a:solidFill>
              <a:srgbClr val="7A1220"/>
            </a:solidFill>
            <a:prstDash val="solid"/>
          </a:ln>
        </p:spPr>
      </p:sp>
      <p:pic>
        <p:nvPicPr>
          <p:cNvPr id="3" name="Image 0" descr="/tmp/claude-0/-home-claude/1d55af17-4c07-5715-bc68-ec714a3707f7/scratchpad/pptx-hi/logo-besar.png">    </p:cNvPr>
          <p:cNvPicPr>
            <a:picLocks noChangeAspect="1"/>
          </p:cNvPicPr>
          <p:nvPr/>
        </p:nvPicPr>
        <p:blipFill>
          <a:blip r:embed="rId1"/>
          <a:stretch>
            <a:fillRect/>
          </a:stretch>
        </p:blipFill>
        <p:spPr>
          <a:xfrm>
            <a:off x="1051560" y="685800"/>
            <a:ext cx="1143000" cy="1097280"/>
          </a:xfrm>
          <a:prstGeom prst="rect">
            <a:avLst/>
          </a:prstGeom>
        </p:spPr>
      </p:pic>
      <p:sp>
        <p:nvSpPr>
          <p:cNvPr id="4" name="Text 1"/>
          <p:cNvSpPr txBox="1"/>
          <p:nvPr/>
        </p:nvSpPr>
        <p:spPr>
          <a:xfrm>
            <a:off x="1051560" y="201168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rgbClr val="5F5F5F"/>
                </a:solidFill>
                <a:latin typeface="Arial" pitchFamily="34" charset="0"/>
                <a:ea typeface="Arial" pitchFamily="34" charset="-122"/>
                <a:cs typeface="Arial" pitchFamily="34" charset="-120"/>
              </a:rPr>
              <a:t>MATA KULIAH HUKUM INTERNASIONAL</a:t>
            </a:r>
            <a:endParaRPr lang="en-US" sz="1400" dirty="0"/>
          </a:p>
        </p:txBody>
      </p:sp>
      <p:sp>
        <p:nvSpPr>
          <p:cNvPr id="5" name="Text 2"/>
          <p:cNvSpPr txBox="1"/>
          <p:nvPr/>
        </p:nvSpPr>
        <p:spPr>
          <a:xfrm>
            <a:off x="1051560" y="2395728"/>
            <a:ext cx="10424160" cy="1508760"/>
          </a:xfrm>
          <a:prstGeom prst="rect">
            <a:avLst/>
          </a:prstGeom>
          <a:noFill/>
          <a:ln/>
        </p:spPr>
        <p:txBody>
          <a:bodyPr wrap="square" lIns="0" tIns="0" rIns="0" bIns="0" rtlCol="0" anchor="t"/>
          <a:lstStyle/>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Hubungan Hukum Internasional</a:t>
            </a:r>
            <a:endParaRPr lang="en-US" sz="4400" dirty="0"/>
          </a:p>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dan Hukum Nasional</a:t>
            </a:r>
            <a:endParaRPr lang="en-US" sz="4400" dirty="0"/>
          </a:p>
        </p:txBody>
      </p:sp>
      <p:sp>
        <p:nvSpPr>
          <p:cNvPr id="6" name="Text 3"/>
          <p:cNvSpPr txBox="1"/>
          <p:nvPr/>
        </p:nvSpPr>
        <p:spPr>
          <a:xfrm>
            <a:off x="1051560" y="4005072"/>
            <a:ext cx="9875520" cy="777240"/>
          </a:xfrm>
          <a:prstGeom prst="rect">
            <a:avLst/>
          </a:prstGeom>
          <a:noFill/>
          <a:ln/>
        </p:spPr>
        <p:txBody>
          <a:bodyPr wrap="square" lIns="0" tIns="0" rIns="0" bIns="0" rtlCol="0" anchor="t"/>
          <a:lstStyle/>
          <a:p>
            <a:pPr indent="0" marL="0">
              <a:spcAft>
                <a:spcPts val="600"/>
              </a:spcAft>
              <a:buNone/>
            </a:pPr>
            <a:r>
              <a:rPr lang="en-US" sz="2000" i="1" dirty="0">
                <a:solidFill>
                  <a:srgbClr val="2B2B2B"/>
                </a:solidFill>
                <a:latin typeface="Georgia" pitchFamily="34" charset="0"/>
                <a:ea typeface="Georgia" pitchFamily="34" charset="-122"/>
                <a:cs typeface="Georgia" pitchFamily="34" charset="-120"/>
              </a:rPr>
              <a:t>Indonesia sudah ikut sebuah perjanjian. Apakah hakim di Semarang otomatis wajib memakainya?</a:t>
            </a:r>
            <a:endParaRPr lang="en-US" sz="2000" dirty="0"/>
          </a:p>
        </p:txBody>
      </p:sp>
      <p:sp>
        <p:nvSpPr>
          <p:cNvPr id="7" name="Shape 4"/>
          <p:cNvSpPr/>
          <p:nvPr/>
        </p:nvSpPr>
        <p:spPr>
          <a:xfrm>
            <a:off x="1051560" y="4937760"/>
            <a:ext cx="2926080" cy="0"/>
          </a:xfrm>
          <a:prstGeom prst="line">
            <a:avLst/>
          </a:prstGeom>
          <a:noFill/>
          <a:ln w="12700">
            <a:solidFill>
              <a:srgbClr val="D9D2CB"/>
            </a:solidFill>
            <a:prstDash val="solid"/>
          </a:ln>
        </p:spPr>
      </p:sp>
      <p:sp>
        <p:nvSpPr>
          <p:cNvPr id="8" name="Text 5"/>
          <p:cNvSpPr txBox="1"/>
          <p:nvPr/>
        </p:nvSpPr>
        <p:spPr>
          <a:xfrm>
            <a:off x="1051560" y="5074920"/>
            <a:ext cx="7315200" cy="1188720"/>
          </a:xfrm>
          <a:prstGeom prst="rect">
            <a:avLst/>
          </a:prstGeom>
          <a:noFill/>
          <a:ln/>
        </p:spPr>
        <p:txBody>
          <a:bodyPr wrap="square" lIns="0" tIns="0" rIns="0" bIns="0" rtlCol="0" anchor="t"/>
          <a:lstStyle/>
          <a:p>
            <a:pPr indent="0" marL="0">
              <a:spcAft>
                <a:spcPts val="200"/>
              </a:spcAft>
              <a:buNone/>
            </a:pPr>
            <a:r>
              <a:rPr lang="en-US" sz="1400" b="1" dirty="0">
                <a:solidFill>
                  <a:srgbClr val="5F5F5F"/>
                </a:solidFill>
                <a:latin typeface="Arial" pitchFamily="34" charset="0"/>
                <a:ea typeface="Arial" pitchFamily="34" charset="-122"/>
                <a:cs typeface="Arial" pitchFamily="34" charset="-120"/>
              </a:rPr>
              <a:t>Aditya Noviyansyah, S.H., M.H.</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Program Studi S1 Ilmu Hukum, Fakultas Hukum</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Universitas Islam Sultan Agung Semarang</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Pertemuan 3 | Semester Gasal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DUA TEORI BESAR</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Satu Sistem atau Dua Sistem?</a:t>
            </a:r>
            <a:endParaRPr lang="en-US" sz="2800" dirty="0"/>
          </a:p>
        </p:txBody>
      </p:sp>
      <p:sp>
        <p:nvSpPr>
          <p:cNvPr id="4" name="Text 2"/>
          <p:cNvSpPr txBox="1"/>
          <p:nvPr/>
        </p:nvSpPr>
        <p:spPr>
          <a:xfrm>
            <a:off x="502920" y="1920240"/>
            <a:ext cx="53035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Dualisme</a:t>
            </a:r>
            <a:endParaRPr lang="en-US" sz="2200" dirty="0"/>
          </a:p>
        </p:txBody>
      </p:sp>
      <p:sp>
        <p:nvSpPr>
          <p:cNvPr id="5" name="Text 3"/>
          <p:cNvSpPr/>
          <p:nvPr/>
        </p:nvSpPr>
        <p:spPr>
          <a:xfrm>
            <a:off x="822960" y="2514600"/>
            <a:ext cx="1874520" cy="1874520"/>
          </a:xfrm>
          <a:prstGeom prst="ellipse">
            <a:avLst/>
          </a:prstGeom>
          <a:ln w="19050">
            <a:solidFill>
              <a:srgbClr val="7A1220"/>
            </a:solidFill>
          </a:ln>
        </p:spPr>
        <p:txBody>
          <a:bodyPr wrap="square" lIns="0" tIns="0" rIns="0" bIns="0" rtlCol="0" anchor="ctr"/>
          <a:lstStyle/>
          <a:p>
            <a:pPr algn="ctr" indent="0" marL="0">
              <a:buNone/>
            </a:pPr>
            <a:r>
              <a:rPr lang="en-US" sz="1400" b="1" dirty="0">
                <a:solidFill>
                  <a:srgbClr val="7A1220"/>
                </a:solidFill>
                <a:latin typeface="Arial" pitchFamily="34" charset="0"/>
                <a:ea typeface="Arial" pitchFamily="34" charset="-122"/>
                <a:cs typeface="Arial" pitchFamily="34" charset="-120"/>
              </a:rPr>
              <a:t>Hukum</a:t>
            </a:r>
            <a:endParaRPr lang="en-US" sz="1400" dirty="0"/>
          </a:p>
          <a:p>
            <a:pPr algn="ctr" indent="0" marL="0">
              <a:buNone/>
            </a:pPr>
            <a:r>
              <a:rPr lang="en-US" sz="1400" b="1" dirty="0">
                <a:solidFill>
                  <a:srgbClr val="7A1220"/>
                </a:solidFill>
                <a:latin typeface="Arial" pitchFamily="34" charset="0"/>
                <a:ea typeface="Arial" pitchFamily="34" charset="-122"/>
                <a:cs typeface="Arial" pitchFamily="34" charset="-120"/>
              </a:rPr>
              <a:t>internasional</a:t>
            </a:r>
            <a:endParaRPr lang="en-US" sz="1400" dirty="0"/>
          </a:p>
        </p:txBody>
      </p:sp>
      <p:sp>
        <p:nvSpPr>
          <p:cNvPr id="6" name="Text 4"/>
          <p:cNvSpPr/>
          <p:nvPr/>
        </p:nvSpPr>
        <p:spPr>
          <a:xfrm>
            <a:off x="3246120" y="2514600"/>
            <a:ext cx="1874520" cy="1874520"/>
          </a:xfrm>
          <a:prstGeom prst="ellipse">
            <a:avLst/>
          </a:prstGeom>
          <a:ln w="19050">
            <a:solidFill>
              <a:srgbClr val="5F5F5F"/>
            </a:solidFill>
          </a:ln>
        </p:spPr>
        <p:txBody>
          <a:bodyPr wrap="square" lIns="0" tIns="0" rIns="0" bIns="0" rtlCol="0" anchor="ctr"/>
          <a:lstStyle/>
          <a:p>
            <a:pPr algn="ctr" indent="0" marL="0">
              <a:buNone/>
            </a:pPr>
            <a:r>
              <a:rPr lang="en-US" sz="1400" b="1" dirty="0">
                <a:solidFill>
                  <a:srgbClr val="5F5F5F"/>
                </a:solidFill>
                <a:latin typeface="Arial" pitchFamily="34" charset="0"/>
                <a:ea typeface="Arial" pitchFamily="34" charset="-122"/>
                <a:cs typeface="Arial" pitchFamily="34" charset="-120"/>
              </a:rPr>
              <a:t>Hukum</a:t>
            </a:r>
            <a:endParaRPr lang="en-US" sz="1400" dirty="0"/>
          </a:p>
          <a:p>
            <a:pPr algn="ctr" indent="0" marL="0">
              <a:buNone/>
            </a:pPr>
            <a:r>
              <a:rPr lang="en-US" sz="1400" b="1" dirty="0">
                <a:solidFill>
                  <a:srgbClr val="5F5F5F"/>
                </a:solidFill>
                <a:latin typeface="Arial" pitchFamily="34" charset="0"/>
                <a:ea typeface="Arial" pitchFamily="34" charset="-122"/>
                <a:cs typeface="Arial" pitchFamily="34" charset="-120"/>
              </a:rPr>
              <a:t>nasional</a:t>
            </a:r>
            <a:endParaRPr lang="en-US" sz="1400" dirty="0"/>
          </a:p>
        </p:txBody>
      </p:sp>
      <p:sp>
        <p:nvSpPr>
          <p:cNvPr id="7" name="Text 5"/>
          <p:cNvSpPr txBox="1"/>
          <p:nvPr/>
        </p:nvSpPr>
        <p:spPr>
          <a:xfrm>
            <a:off x="502920" y="4572000"/>
            <a:ext cx="5303520" cy="8686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Dua sistem yang terpisah. Aturan internasional baru berlaku di dalam negeri setelah diubah menjadi hukum nasional.</a:t>
            </a:r>
            <a:endParaRPr lang="en-US" sz="1500" dirty="0"/>
          </a:p>
        </p:txBody>
      </p:sp>
      <p:sp>
        <p:nvSpPr>
          <p:cNvPr id="8" name="Text 6"/>
          <p:cNvSpPr txBox="1"/>
          <p:nvPr/>
        </p:nvSpPr>
        <p:spPr>
          <a:xfrm>
            <a:off x="502920" y="5486400"/>
            <a:ext cx="5303520" cy="36576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Tokoh: Heinrich Triepel, Dionisio Anzilotti</a:t>
            </a:r>
            <a:endParaRPr lang="en-US" sz="1300" dirty="0"/>
          </a:p>
        </p:txBody>
      </p:sp>
      <p:sp>
        <p:nvSpPr>
          <p:cNvPr id="9" name="Shape 7"/>
          <p:cNvSpPr/>
          <p:nvPr/>
        </p:nvSpPr>
        <p:spPr>
          <a:xfrm>
            <a:off x="6080760" y="1965960"/>
            <a:ext cx="0" cy="4206240"/>
          </a:xfrm>
          <a:prstGeom prst="line">
            <a:avLst/>
          </a:prstGeom>
          <a:noFill/>
          <a:ln w="12700">
            <a:solidFill>
              <a:srgbClr val="D9D2CB"/>
            </a:solidFill>
            <a:prstDash val="solid"/>
          </a:ln>
        </p:spPr>
      </p:sp>
      <p:sp>
        <p:nvSpPr>
          <p:cNvPr id="10" name="Text 8"/>
          <p:cNvSpPr txBox="1"/>
          <p:nvPr/>
        </p:nvSpPr>
        <p:spPr>
          <a:xfrm>
            <a:off x="6355080" y="1920240"/>
            <a:ext cx="53035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Monisme</a:t>
            </a:r>
            <a:endParaRPr lang="en-US" sz="2200" dirty="0"/>
          </a:p>
        </p:txBody>
      </p:sp>
      <p:sp>
        <p:nvSpPr>
          <p:cNvPr id="11" name="Shape 9"/>
          <p:cNvSpPr/>
          <p:nvPr/>
        </p:nvSpPr>
        <p:spPr>
          <a:xfrm>
            <a:off x="7086600" y="2423160"/>
            <a:ext cx="3749040" cy="2103120"/>
          </a:xfrm>
          <a:prstGeom prst="ellipse">
            <a:avLst/>
          </a:prstGeom>
          <a:ln w="19050">
            <a:solidFill>
              <a:srgbClr val="7A1220"/>
            </a:solidFill>
            <a:prstDash val="solid"/>
          </a:ln>
        </p:spPr>
      </p:sp>
      <p:sp>
        <p:nvSpPr>
          <p:cNvPr id="12" name="Text 10"/>
          <p:cNvSpPr txBox="1"/>
          <p:nvPr/>
        </p:nvSpPr>
        <p:spPr>
          <a:xfrm>
            <a:off x="7086600" y="2606040"/>
            <a:ext cx="3749040" cy="320040"/>
          </a:xfrm>
          <a:prstGeom prst="rect">
            <a:avLst/>
          </a:prstGeom>
          <a:noFill/>
          <a:ln/>
        </p:spPr>
        <p:txBody>
          <a:bodyPr wrap="square" lIns="0" tIns="0" rIns="0" bIns="0" rtlCol="0" anchor="t"/>
          <a:lstStyle/>
          <a:p>
            <a:pPr algn="ctr" indent="0" marL="0">
              <a:spcAft>
                <a:spcPts val="600"/>
              </a:spcAft>
              <a:buNone/>
            </a:pPr>
            <a:r>
              <a:rPr lang="en-US" sz="1400" b="1" dirty="0">
                <a:solidFill>
                  <a:srgbClr val="7A1220"/>
                </a:solidFill>
                <a:latin typeface="Arial" pitchFamily="34" charset="0"/>
                <a:ea typeface="Arial" pitchFamily="34" charset="-122"/>
                <a:cs typeface="Arial" pitchFamily="34" charset="-120"/>
              </a:rPr>
              <a:t>Hukum internasional</a:t>
            </a:r>
            <a:endParaRPr lang="en-US" sz="1400" dirty="0"/>
          </a:p>
        </p:txBody>
      </p:sp>
      <p:sp>
        <p:nvSpPr>
          <p:cNvPr id="13" name="Text 11"/>
          <p:cNvSpPr/>
          <p:nvPr/>
        </p:nvSpPr>
        <p:spPr>
          <a:xfrm>
            <a:off x="8229600" y="3017520"/>
            <a:ext cx="1463040" cy="1325880"/>
          </a:xfrm>
          <a:prstGeom prst="ellipse">
            <a:avLst/>
          </a:prstGeom>
          <a:ln w="19050">
            <a:solidFill>
              <a:srgbClr val="5F5F5F"/>
            </a:solidFill>
          </a:ln>
        </p:spPr>
        <p:txBody>
          <a:bodyPr wrap="square" lIns="0" tIns="0" rIns="0" bIns="0" rtlCol="0" anchor="ctr"/>
          <a:lstStyle/>
          <a:p>
            <a:pPr algn="ctr" indent="0" marL="0">
              <a:buNone/>
            </a:pPr>
            <a:r>
              <a:rPr lang="en-US" sz="1300" b="1" dirty="0">
                <a:solidFill>
                  <a:srgbClr val="5F5F5F"/>
                </a:solidFill>
                <a:latin typeface="Arial" pitchFamily="34" charset="0"/>
                <a:ea typeface="Arial" pitchFamily="34" charset="-122"/>
                <a:cs typeface="Arial" pitchFamily="34" charset="-120"/>
              </a:rPr>
              <a:t>Hukum</a:t>
            </a:r>
            <a:endParaRPr lang="en-US" sz="1300" dirty="0"/>
          </a:p>
          <a:p>
            <a:pPr algn="ctr" indent="0" marL="0">
              <a:buNone/>
            </a:pPr>
            <a:r>
              <a:rPr lang="en-US" sz="1300" b="1" dirty="0">
                <a:solidFill>
                  <a:srgbClr val="5F5F5F"/>
                </a:solidFill>
                <a:latin typeface="Arial" pitchFamily="34" charset="0"/>
                <a:ea typeface="Arial" pitchFamily="34" charset="-122"/>
                <a:cs typeface="Arial" pitchFamily="34" charset="-120"/>
              </a:rPr>
              <a:t>nasional</a:t>
            </a:r>
            <a:endParaRPr lang="en-US" sz="1300" dirty="0"/>
          </a:p>
        </p:txBody>
      </p:sp>
      <p:sp>
        <p:nvSpPr>
          <p:cNvPr id="14" name="Text 12"/>
          <p:cNvSpPr txBox="1"/>
          <p:nvPr/>
        </p:nvSpPr>
        <p:spPr>
          <a:xfrm>
            <a:off x="6355080" y="4572000"/>
            <a:ext cx="5303520" cy="86868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Satu kesatuan sistem hukum. Lalu siapa di atas? Primat hukum internasional (Hans Kelsen) atau primat hukum nasional.</a:t>
            </a:r>
            <a:endParaRPr lang="en-US" sz="1500" dirty="0"/>
          </a:p>
        </p:txBody>
      </p:sp>
      <p:sp>
        <p:nvSpPr>
          <p:cNvPr id="15" name="Text 13"/>
          <p:cNvSpPr txBox="1"/>
          <p:nvPr/>
        </p:nvSpPr>
        <p:spPr>
          <a:xfrm>
            <a:off x="6355080" y="5486400"/>
            <a:ext cx="5303520" cy="36576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Tokoh: Hans Kelsen, Mazhab Wina</a:t>
            </a:r>
            <a:endParaRPr lang="en-US" sz="13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CARA MASUK KE HUKUM NASIONAL</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Transformasi atau Adopsi?</a:t>
            </a:r>
            <a:endParaRPr lang="en-US" sz="2800" dirty="0"/>
          </a:p>
        </p:txBody>
      </p:sp>
      <p:sp>
        <p:nvSpPr>
          <p:cNvPr id="4" name="Text 2"/>
          <p:cNvSpPr txBox="1"/>
          <p:nvPr/>
        </p:nvSpPr>
        <p:spPr>
          <a:xfrm>
            <a:off x="502920" y="1874520"/>
            <a:ext cx="5394960" cy="73152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Transformasi</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Isi perjanjian harus dituangkan dulu ke undang-undang nasional.</a:t>
            </a:r>
            <a:endParaRPr lang="en-US" sz="1500" dirty="0"/>
          </a:p>
        </p:txBody>
      </p:sp>
      <p:sp>
        <p:nvSpPr>
          <p:cNvPr id="5" name="Text 3"/>
          <p:cNvSpPr txBox="1"/>
          <p:nvPr/>
        </p:nvSpPr>
        <p:spPr>
          <a:xfrm>
            <a:off x="6263640" y="1874520"/>
            <a:ext cx="5394960" cy="73152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Adopsi (inkorporasi)</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Perjanjian yang mengikat negara langsung menjadi bagian hukum nasional.</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2788920"/>
          <a:ext cx="11183112" cy="914400"/>
        </p:xfrm>
        <a:graphic>
          <a:graphicData uri="http://schemas.openxmlformats.org/drawingml/2006/table">
            <a:tbl>
              <a:tblPr/>
              <a:tblGrid>
                <a:gridCol w="1783080"/>
                <a:gridCol w="1600200"/>
                <a:gridCol w="2788920"/>
                <a:gridCol w="5010912"/>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Negara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Sikap</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Dasar</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Contoh</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r>
              <a:tr h="713232">
                <a:tc>
                  <a:txBody>
                    <a:bodyPr/>
                    <a:lstStyle/>
                    <a:p>
                      <a:pPr indent="0" marL="0">
                        <a:buNone/>
                      </a:pPr>
                      <a:r>
                        <a:rPr lang="en-US" sz="1400" b="1" dirty="0">
                          <a:solidFill>
                            <a:srgbClr val="2B2B2B"/>
                          </a:solidFill>
                          <a:latin typeface="Arial" pitchFamily="34" charset="0"/>
                          <a:ea typeface="Arial" pitchFamily="34" charset="-122"/>
                          <a:cs typeface="Arial" pitchFamily="34" charset="-120"/>
                        </a:rPr>
                        <a:t>Inggris</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Transformasi</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Perjanjian harus dijadikan Act of Parliament</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Konvensi Eropa tentang HAM baru dipakai langsung hakim setelah Human Rights Act 1998</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B2B2B"/>
                          </a:solidFill>
                          <a:latin typeface="Arial" pitchFamily="34" charset="0"/>
                          <a:ea typeface="Arial" pitchFamily="34" charset="-122"/>
                          <a:cs typeface="Arial" pitchFamily="34" charset="-120"/>
                        </a:rPr>
                        <a:t>Belanda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Adopsi</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93 dan 94 Grondwet</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Ketentuan perjanjian yang mengikat setiap orang berlaku langsung dan mengalahkan undang-undang</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713232">
                <a:tc>
                  <a:txBody>
                    <a:bodyPr/>
                    <a:lstStyle/>
                    <a:p>
                      <a:pPr indent="0" marL="0">
                        <a:buNone/>
                      </a:pPr>
                      <a:r>
                        <a:rPr lang="en-US" sz="1400" b="1" dirty="0">
                          <a:solidFill>
                            <a:srgbClr val="2B2B2B"/>
                          </a:solidFill>
                          <a:latin typeface="Arial" pitchFamily="34" charset="0"/>
                          <a:ea typeface="Arial" pitchFamily="34" charset="-122"/>
                          <a:cs typeface="Arial" pitchFamily="34" charset="-120"/>
                        </a:rPr>
                        <a:t>Amerika Serikat</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Campuran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VI Konstitusi (Supremacy Clause)</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Medellín v. Texas (2008): perjanjian yang tidak self-executing tetap butuh undang-undang</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B2B2B"/>
                          </a:solidFill>
                          <a:latin typeface="Arial" pitchFamily="34" charset="0"/>
                          <a:ea typeface="Arial" pitchFamily="34" charset="-122"/>
                          <a:cs typeface="Arial" pitchFamily="34" charset="-120"/>
                        </a:rPr>
                        <a:t>Jerman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Adopsi untuk hukum kebiasaan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Pasal 25 Grundgesetz</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Aturan umum hukum internasional menjadi bagian hukum federal dan di atas undang-undang</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bl>
          </a:graphicData>
        </a:graphic>
      </p:graphicFrame>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BAGAIMANA DENGAN INDONESIA?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Indonesia Ikut yang Mana?</a:t>
            </a:r>
            <a:endParaRPr lang="en-US" sz="2800" dirty="0"/>
          </a:p>
        </p:txBody>
      </p:sp>
      <p:sp>
        <p:nvSpPr>
          <p:cNvPr id="4" name="Text 2"/>
          <p:cNvSpPr txBox="1"/>
          <p:nvPr/>
        </p:nvSpPr>
        <p:spPr>
          <a:xfrm>
            <a:off x="502920" y="1920240"/>
            <a:ext cx="566928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DASAR HUKUM</a:t>
            </a:r>
            <a:endParaRPr lang="en-US" sz="1200" dirty="0"/>
          </a:p>
        </p:txBody>
      </p:sp>
      <p:sp>
        <p:nvSpPr>
          <p:cNvPr id="5" name="Text 3"/>
          <p:cNvSpPr txBox="1"/>
          <p:nvPr/>
        </p:nvSpPr>
        <p:spPr>
          <a:xfrm>
            <a:off x="502920" y="2286000"/>
            <a:ext cx="5669280" cy="9144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Pasal 11 UUD 1945</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Perjanjian tertentu dibuat Presiden dengan persetujuan DPR.</a:t>
            </a:r>
            <a:endParaRPr lang="en-US" sz="1500" dirty="0"/>
          </a:p>
        </p:txBody>
      </p:sp>
      <p:sp>
        <p:nvSpPr>
          <p:cNvPr id="6" name="Text 4"/>
          <p:cNvSpPr txBox="1"/>
          <p:nvPr/>
        </p:nvSpPr>
        <p:spPr>
          <a:xfrm>
            <a:off x="502920" y="3273552"/>
            <a:ext cx="5669280" cy="9144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UU No. 24 Tahun 2000, Pasal 9 sampai 11</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Perjanjian disahkan dengan undang-undang atau peraturan presiden.</a:t>
            </a:r>
            <a:endParaRPr lang="en-US" sz="1500" dirty="0"/>
          </a:p>
        </p:txBody>
      </p:sp>
      <p:sp>
        <p:nvSpPr>
          <p:cNvPr id="7" name="Text 5"/>
          <p:cNvSpPr txBox="1"/>
          <p:nvPr/>
        </p:nvSpPr>
        <p:spPr>
          <a:xfrm>
            <a:off x="502920" y="4261104"/>
            <a:ext cx="5669280" cy="9144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UU No. 39 Tahun 1999, Pasal 7 ayat (2)</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Hukum internasional tentang HAM yang telah diterima Indonesia menjadi hukum nasional.</a:t>
            </a:r>
            <a:endParaRPr lang="en-US" sz="1500" dirty="0"/>
          </a:p>
        </p:txBody>
      </p:sp>
      <p:sp>
        <p:nvSpPr>
          <p:cNvPr id="8" name="Text 6"/>
          <p:cNvSpPr txBox="1"/>
          <p:nvPr/>
        </p:nvSpPr>
        <p:spPr>
          <a:xfrm>
            <a:off x="502920" y="5248656"/>
            <a:ext cx="5669280" cy="9144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UU No. 12 Tahun 2011, Pasal 7</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Hierarki peraturan perundang-undangan tidak menyebut perjanjian internasional.</a:t>
            </a:r>
            <a:endParaRPr lang="en-US" sz="1500" dirty="0"/>
          </a:p>
        </p:txBody>
      </p:sp>
      <p:sp>
        <p:nvSpPr>
          <p:cNvPr id="9" name="Shape 7"/>
          <p:cNvSpPr/>
          <p:nvPr/>
        </p:nvSpPr>
        <p:spPr>
          <a:xfrm>
            <a:off x="6492240" y="1965960"/>
            <a:ext cx="0" cy="4251960"/>
          </a:xfrm>
          <a:prstGeom prst="line">
            <a:avLst/>
          </a:prstGeom>
          <a:noFill/>
          <a:ln w="12700">
            <a:solidFill>
              <a:srgbClr val="D9D2CB"/>
            </a:solidFill>
            <a:prstDash val="solid"/>
          </a:ln>
        </p:spPr>
      </p:sp>
      <p:sp>
        <p:nvSpPr>
          <p:cNvPr id="10" name="Text 8"/>
          <p:cNvSpPr txBox="1"/>
          <p:nvPr/>
        </p:nvSpPr>
        <p:spPr>
          <a:xfrm>
            <a:off x="6812280" y="1920240"/>
            <a:ext cx="4846320" cy="274320"/>
          </a:xfrm>
          <a:prstGeom prst="rect">
            <a:avLst/>
          </a:prstGeom>
          <a:noFill/>
          <a:ln/>
        </p:spPr>
        <p:txBody>
          <a:bodyPr wrap="square" lIns="0" tIns="0" rIns="0" bIns="0" rtlCol="0" anchor="t"/>
          <a:lstStyle/>
          <a:p>
            <a:pP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PRAKTIKNYA</a:t>
            </a:r>
            <a:endParaRPr lang="en-US" sz="1200" dirty="0"/>
          </a:p>
        </p:txBody>
      </p:sp>
      <p:sp>
        <p:nvSpPr>
          <p:cNvPr id="11" name="Shape 9"/>
          <p:cNvSpPr/>
          <p:nvPr/>
        </p:nvSpPr>
        <p:spPr>
          <a:xfrm>
            <a:off x="6949440" y="2788920"/>
            <a:ext cx="4572000" cy="0"/>
          </a:xfrm>
          <a:prstGeom prst="line">
            <a:avLst/>
          </a:prstGeom>
          <a:noFill/>
          <a:ln w="19050">
            <a:solidFill>
              <a:srgbClr val="5F5F5F"/>
            </a:solidFill>
            <a:prstDash val="solid"/>
          </a:ln>
        </p:spPr>
      </p:sp>
      <p:sp>
        <p:nvSpPr>
          <p:cNvPr id="12" name="Shape 10"/>
          <p:cNvSpPr/>
          <p:nvPr/>
        </p:nvSpPr>
        <p:spPr>
          <a:xfrm>
            <a:off x="6858000" y="2697480"/>
            <a:ext cx="182880" cy="182880"/>
          </a:xfrm>
          <a:prstGeom prst="ellipse">
            <a:avLst/>
          </a:prstGeom>
          <a:solidFill>
            <a:srgbClr val="5F5F5F"/>
          </a:solidFill>
          <a:ln w="12700">
            <a:solidFill>
              <a:srgbClr val="5F5F5F"/>
            </a:solidFill>
            <a:prstDash val="solid"/>
          </a:ln>
        </p:spPr>
      </p:sp>
      <p:sp>
        <p:nvSpPr>
          <p:cNvPr id="13" name="Shape 11"/>
          <p:cNvSpPr/>
          <p:nvPr/>
        </p:nvSpPr>
        <p:spPr>
          <a:xfrm>
            <a:off x="11430000" y="2697480"/>
            <a:ext cx="182880" cy="182880"/>
          </a:xfrm>
          <a:prstGeom prst="ellipse">
            <a:avLst/>
          </a:prstGeom>
          <a:solidFill>
            <a:srgbClr val="5F5F5F"/>
          </a:solidFill>
          <a:ln w="12700">
            <a:solidFill>
              <a:srgbClr val="5F5F5F"/>
            </a:solidFill>
            <a:prstDash val="solid"/>
          </a:ln>
        </p:spPr>
      </p:sp>
      <p:sp>
        <p:nvSpPr>
          <p:cNvPr id="14" name="Text 12"/>
          <p:cNvSpPr txBox="1"/>
          <p:nvPr/>
        </p:nvSpPr>
        <p:spPr>
          <a:xfrm>
            <a:off x="6812280" y="2971800"/>
            <a:ext cx="1371600" cy="320040"/>
          </a:xfrm>
          <a:prstGeom prst="rect">
            <a:avLst/>
          </a:prstGeom>
          <a:noFill/>
          <a:ln/>
        </p:spPr>
        <p:txBody>
          <a:bodyPr wrap="square" lIns="0" tIns="0" rIns="0" bIns="0" rtlCol="0" anchor="t"/>
          <a:lstStyle/>
          <a:p>
            <a:pPr indent="0" marL="0">
              <a:spcAft>
                <a:spcPts val="600"/>
              </a:spcAft>
              <a:buNone/>
            </a:pPr>
            <a:r>
              <a:rPr lang="en-US" sz="1400" b="1" dirty="0">
                <a:solidFill>
                  <a:srgbClr val="5F5F5F"/>
                </a:solidFill>
                <a:latin typeface="Arial" pitchFamily="34" charset="0"/>
                <a:ea typeface="Arial" pitchFamily="34" charset="-122"/>
                <a:cs typeface="Arial" pitchFamily="34" charset="-120"/>
              </a:rPr>
              <a:t>Dualis</a:t>
            </a:r>
            <a:endParaRPr lang="en-US" sz="1400" dirty="0"/>
          </a:p>
        </p:txBody>
      </p:sp>
      <p:sp>
        <p:nvSpPr>
          <p:cNvPr id="15" name="Text 13"/>
          <p:cNvSpPr txBox="1"/>
          <p:nvPr/>
        </p:nvSpPr>
        <p:spPr>
          <a:xfrm>
            <a:off x="10287000" y="2971800"/>
            <a:ext cx="1371600" cy="320040"/>
          </a:xfrm>
          <a:prstGeom prst="rect">
            <a:avLst/>
          </a:prstGeom>
          <a:noFill/>
          <a:ln/>
        </p:spPr>
        <p:txBody>
          <a:bodyPr wrap="square" lIns="0" tIns="0" rIns="0" bIns="0" rtlCol="0" anchor="t"/>
          <a:lstStyle/>
          <a:p>
            <a:pPr algn="r" indent="0" marL="0">
              <a:spcAft>
                <a:spcPts val="600"/>
              </a:spcAft>
              <a:buNone/>
            </a:pPr>
            <a:r>
              <a:rPr lang="en-US" sz="1400" b="1" dirty="0">
                <a:solidFill>
                  <a:srgbClr val="5F5F5F"/>
                </a:solidFill>
                <a:latin typeface="Arial" pitchFamily="34" charset="0"/>
                <a:ea typeface="Arial" pitchFamily="34" charset="-122"/>
                <a:cs typeface="Arial" pitchFamily="34" charset="-120"/>
              </a:rPr>
              <a:t>Monis</a:t>
            </a:r>
            <a:endParaRPr lang="en-US" sz="1400" dirty="0"/>
          </a:p>
        </p:txBody>
      </p:sp>
      <p:sp>
        <p:nvSpPr>
          <p:cNvPr id="16" name="Shape 14"/>
          <p:cNvSpPr/>
          <p:nvPr/>
        </p:nvSpPr>
        <p:spPr>
          <a:xfrm>
            <a:off x="9098280" y="2651760"/>
            <a:ext cx="274320" cy="274320"/>
          </a:xfrm>
          <a:prstGeom prst="ellipse">
            <a:avLst/>
          </a:prstGeom>
          <a:solidFill>
            <a:srgbClr val="7A1220"/>
          </a:solidFill>
          <a:ln w="12700">
            <a:solidFill>
              <a:srgbClr val="7A1220"/>
            </a:solidFill>
            <a:prstDash val="solid"/>
          </a:ln>
        </p:spPr>
      </p:sp>
      <p:sp>
        <p:nvSpPr>
          <p:cNvPr id="17" name="Text 15"/>
          <p:cNvSpPr txBox="1"/>
          <p:nvPr/>
        </p:nvSpPr>
        <p:spPr>
          <a:xfrm>
            <a:off x="8549640" y="2240280"/>
            <a:ext cx="1371600" cy="320040"/>
          </a:xfrm>
          <a:prstGeom prst="rect">
            <a:avLst/>
          </a:prstGeom>
          <a:noFill/>
          <a:ln/>
        </p:spPr>
        <p:txBody>
          <a:bodyPr wrap="square" lIns="0" tIns="0" rIns="0" bIns="0" rtlCol="0" anchor="t"/>
          <a:lstStyle/>
          <a:p>
            <a:pPr algn="ctr" indent="0" marL="0">
              <a:spcAft>
                <a:spcPts val="600"/>
              </a:spcAft>
              <a:buNone/>
            </a:pPr>
            <a:r>
              <a:rPr lang="en-US" sz="1400" b="1" dirty="0">
                <a:solidFill>
                  <a:srgbClr val="7A1220"/>
                </a:solidFill>
                <a:latin typeface="Arial" pitchFamily="34" charset="0"/>
                <a:ea typeface="Arial" pitchFamily="34" charset="-122"/>
                <a:cs typeface="Arial" pitchFamily="34" charset="-120"/>
              </a:rPr>
              <a:t>Indonesia?</a:t>
            </a:r>
            <a:endParaRPr lang="en-US" sz="1400" dirty="0"/>
          </a:p>
        </p:txBody>
      </p:sp>
      <p:sp>
        <p:nvSpPr>
          <p:cNvPr id="18" name="Text 16"/>
          <p:cNvSpPr txBox="1"/>
          <p:nvPr/>
        </p:nvSpPr>
        <p:spPr>
          <a:xfrm>
            <a:off x="6812280" y="3520440"/>
            <a:ext cx="4846320" cy="9601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Cenderung transformasi</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UNCLOS disahkan dengan UU No. 17 Tahun 1985, lalu dibuat UU No. 6 Tahun 1996 tentang Perairan Indonesia.</a:t>
            </a:r>
            <a:endParaRPr lang="en-US" sz="1400" dirty="0"/>
          </a:p>
        </p:txBody>
      </p:sp>
      <p:sp>
        <p:nvSpPr>
          <p:cNvPr id="19" name="Text 17"/>
          <p:cNvSpPr txBox="1"/>
          <p:nvPr/>
        </p:nvSpPr>
        <p:spPr>
          <a:xfrm>
            <a:off x="6812280" y="4526280"/>
            <a:ext cx="4846320" cy="9601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Cenderung adopsi</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Konvensi Wina 1961 dan 1963 disahkan dengan UU No. 1 Tahun 1982 dan dipakai tanpa undang-undang pelaksana.</a:t>
            </a:r>
            <a:endParaRPr lang="en-US" sz="1400" dirty="0"/>
          </a:p>
        </p:txBody>
      </p:sp>
      <p:sp>
        <p:nvSpPr>
          <p:cNvPr id="20" name="Text 18"/>
          <p:cNvSpPr txBox="1"/>
          <p:nvPr/>
        </p:nvSpPr>
        <p:spPr>
          <a:xfrm>
            <a:off x="6812280" y="5577840"/>
            <a:ext cx="4846320" cy="64008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Mochtar Kusumaatmadja melihat Indonesia cenderung monis; Damos Dumoli Agusman melihat ciri keduanya.</a:t>
            </a:r>
            <a:endParaRPr lang="en-US" sz="13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KASUS KONKRET</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Dua Kasus, Dua Wajah</a:t>
            </a:r>
            <a:endParaRPr lang="en-US" sz="2800" dirty="0"/>
          </a:p>
        </p:txBody>
      </p:sp>
      <p:sp>
        <p:nvSpPr>
          <p:cNvPr id="4" name="Text 2"/>
          <p:cNvSpPr txBox="1"/>
          <p:nvPr/>
        </p:nvSpPr>
        <p:spPr>
          <a:xfrm>
            <a:off x="502920" y="1920240"/>
            <a:ext cx="53492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Kasus PT Nizwar</a:t>
            </a:r>
            <a:endParaRPr lang="en-US" sz="1900" dirty="0"/>
          </a:p>
        </p:txBody>
      </p:sp>
      <p:sp>
        <p:nvSpPr>
          <p:cNvPr id="5" name="Text 3"/>
          <p:cNvSpPr txBox="1"/>
          <p:nvPr/>
        </p:nvSpPr>
        <p:spPr>
          <a:xfrm>
            <a:off x="502920" y="2331720"/>
            <a:ext cx="5349240" cy="32004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Navigation Maritime Bulgare v. PT Nizwar</a:t>
            </a:r>
            <a:endParaRPr lang="en-US" sz="1300" dirty="0"/>
          </a:p>
        </p:txBody>
      </p:sp>
      <p:sp>
        <p:nvSpPr>
          <p:cNvPr id="6" name="Text 4"/>
          <p:cNvSpPr txBox="1"/>
          <p:nvPr/>
        </p:nvSpPr>
        <p:spPr>
          <a:xfrm>
            <a:off x="502920" y="275234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FAKTA</a:t>
            </a:r>
            <a:endParaRPr lang="en-US" sz="1100" dirty="0"/>
          </a:p>
        </p:txBody>
      </p:sp>
      <p:sp>
        <p:nvSpPr>
          <p:cNvPr id="7" name="Text 5"/>
          <p:cNvSpPr txBox="1"/>
          <p:nvPr/>
        </p:nvSpPr>
        <p:spPr>
          <a:xfrm>
            <a:off x="1783080" y="272491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Putusan arbitrase London hendak dijalankan di Indonesia terhadap PT Nizwar.</a:t>
            </a:r>
            <a:endParaRPr lang="en-US" sz="1400" dirty="0"/>
          </a:p>
        </p:txBody>
      </p:sp>
      <p:sp>
        <p:nvSpPr>
          <p:cNvPr id="8" name="Text 6"/>
          <p:cNvSpPr txBox="1"/>
          <p:nvPr/>
        </p:nvSpPr>
        <p:spPr>
          <a:xfrm>
            <a:off x="502920" y="348386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MASALAH</a:t>
            </a:r>
            <a:endParaRPr lang="en-US" sz="1100" dirty="0"/>
          </a:p>
        </p:txBody>
      </p:sp>
      <p:sp>
        <p:nvSpPr>
          <p:cNvPr id="9" name="Text 7"/>
          <p:cNvSpPr txBox="1"/>
          <p:nvPr/>
        </p:nvSpPr>
        <p:spPr>
          <a:xfrm>
            <a:off x="1783080" y="345643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Indonesia sudah mengesahkan Konvensi New York 1958 lewat Keppres No. 34 Tahun 1981.</a:t>
            </a:r>
            <a:endParaRPr lang="en-US" sz="1400" dirty="0"/>
          </a:p>
        </p:txBody>
      </p:sp>
      <p:sp>
        <p:nvSpPr>
          <p:cNvPr id="10" name="Text 8"/>
          <p:cNvSpPr txBox="1"/>
          <p:nvPr/>
        </p:nvSpPr>
        <p:spPr>
          <a:xfrm>
            <a:off x="502920" y="421538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PUTUSAN MA</a:t>
            </a:r>
            <a:endParaRPr lang="en-US" sz="1100" dirty="0"/>
          </a:p>
        </p:txBody>
      </p:sp>
      <p:sp>
        <p:nvSpPr>
          <p:cNvPr id="11" name="Text 9"/>
          <p:cNvSpPr txBox="1"/>
          <p:nvPr/>
        </p:nvSpPr>
        <p:spPr>
          <a:xfrm>
            <a:off x="1783080" y="418795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Eksekusi ditolak. Konvensi dinilai belum bisa dijalankan tanpa aturan pelaksana.</a:t>
            </a:r>
            <a:endParaRPr lang="en-US" sz="1400" dirty="0"/>
          </a:p>
        </p:txBody>
      </p:sp>
      <p:sp>
        <p:nvSpPr>
          <p:cNvPr id="12" name="Text 10"/>
          <p:cNvSpPr txBox="1"/>
          <p:nvPr/>
        </p:nvSpPr>
        <p:spPr>
          <a:xfrm>
            <a:off x="502920" y="494690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AKIBAT</a:t>
            </a:r>
            <a:endParaRPr lang="en-US" sz="1100" dirty="0"/>
          </a:p>
        </p:txBody>
      </p:sp>
      <p:sp>
        <p:nvSpPr>
          <p:cNvPr id="13" name="Text 11"/>
          <p:cNvSpPr txBox="1"/>
          <p:nvPr/>
        </p:nvSpPr>
        <p:spPr>
          <a:xfrm>
            <a:off x="1783080" y="491947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Lahir Perma No. 1 Tahun 1990; kini diatur UU No. 30 Tahun 1999, Pasal 65 sampai 69.</a:t>
            </a:r>
            <a:endParaRPr lang="en-US" sz="1400" dirty="0"/>
          </a:p>
        </p:txBody>
      </p:sp>
      <p:sp>
        <p:nvSpPr>
          <p:cNvPr id="14" name="Shape 12"/>
          <p:cNvSpPr/>
          <p:nvPr/>
        </p:nvSpPr>
        <p:spPr>
          <a:xfrm>
            <a:off x="6080760" y="1965960"/>
            <a:ext cx="0" cy="3474720"/>
          </a:xfrm>
          <a:prstGeom prst="line">
            <a:avLst/>
          </a:prstGeom>
          <a:noFill/>
          <a:ln w="12700">
            <a:solidFill>
              <a:srgbClr val="D9D2CB"/>
            </a:solidFill>
            <a:prstDash val="solid"/>
          </a:ln>
        </p:spPr>
      </p:sp>
      <p:sp>
        <p:nvSpPr>
          <p:cNvPr id="15" name="Text 13"/>
          <p:cNvSpPr txBox="1"/>
          <p:nvPr/>
        </p:nvSpPr>
        <p:spPr>
          <a:xfrm>
            <a:off x="6355080" y="1920240"/>
            <a:ext cx="53492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Putusan MK No. 2-3/PUU-V/2007</a:t>
            </a:r>
            <a:endParaRPr lang="en-US" sz="1900" dirty="0"/>
          </a:p>
        </p:txBody>
      </p:sp>
      <p:sp>
        <p:nvSpPr>
          <p:cNvPr id="16" name="Text 14"/>
          <p:cNvSpPr txBox="1"/>
          <p:nvPr/>
        </p:nvSpPr>
        <p:spPr>
          <a:xfrm>
            <a:off x="6355080" y="2331720"/>
            <a:ext cx="5349240" cy="32004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Pidana mati dalam UU Narkotika</a:t>
            </a:r>
            <a:endParaRPr lang="en-US" sz="1300" dirty="0"/>
          </a:p>
        </p:txBody>
      </p:sp>
      <p:sp>
        <p:nvSpPr>
          <p:cNvPr id="17" name="Text 15"/>
          <p:cNvSpPr txBox="1"/>
          <p:nvPr/>
        </p:nvSpPr>
        <p:spPr>
          <a:xfrm>
            <a:off x="6355080" y="275234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FAKTA</a:t>
            </a:r>
            <a:endParaRPr lang="en-US" sz="1100" dirty="0"/>
          </a:p>
        </p:txBody>
      </p:sp>
      <p:sp>
        <p:nvSpPr>
          <p:cNvPr id="18" name="Text 16"/>
          <p:cNvSpPr txBox="1"/>
          <p:nvPr/>
        </p:nvSpPr>
        <p:spPr>
          <a:xfrm>
            <a:off x="7635240" y="272491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Terpidana mati kasus narkotika menguji UU Narkotika terhadap UUD 1945.</a:t>
            </a:r>
            <a:endParaRPr lang="en-US" sz="1400" dirty="0"/>
          </a:p>
        </p:txBody>
      </p:sp>
      <p:sp>
        <p:nvSpPr>
          <p:cNvPr id="19" name="Text 17"/>
          <p:cNvSpPr txBox="1"/>
          <p:nvPr/>
        </p:nvSpPr>
        <p:spPr>
          <a:xfrm>
            <a:off x="6355080" y="348386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MASALAH</a:t>
            </a:r>
            <a:endParaRPr lang="en-US" sz="1100" dirty="0"/>
          </a:p>
        </p:txBody>
      </p:sp>
      <p:sp>
        <p:nvSpPr>
          <p:cNvPr id="20" name="Text 18"/>
          <p:cNvSpPr txBox="1"/>
          <p:nvPr/>
        </p:nvSpPr>
        <p:spPr>
          <a:xfrm>
            <a:off x="7635240" y="345643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Apakah pidana mati bertentangan dengan hak hidup?</a:t>
            </a:r>
            <a:endParaRPr lang="en-US" sz="1400" dirty="0"/>
          </a:p>
        </p:txBody>
      </p:sp>
      <p:sp>
        <p:nvSpPr>
          <p:cNvPr id="21" name="Text 19"/>
          <p:cNvSpPr txBox="1"/>
          <p:nvPr/>
        </p:nvSpPr>
        <p:spPr>
          <a:xfrm>
            <a:off x="6355080" y="421538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DASAR</a:t>
            </a:r>
            <a:endParaRPr lang="en-US" sz="1100" dirty="0"/>
          </a:p>
        </p:txBody>
      </p:sp>
      <p:sp>
        <p:nvSpPr>
          <p:cNvPr id="22" name="Text 20"/>
          <p:cNvSpPr txBox="1"/>
          <p:nvPr/>
        </p:nvSpPr>
        <p:spPr>
          <a:xfrm>
            <a:off x="7635240" y="418795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MK menimbang Pasal 6 ayat (2) ICCPR dan konvensi narkotika PBB yang sudah disahkan Indonesia.</a:t>
            </a:r>
            <a:endParaRPr lang="en-US" sz="1400" dirty="0"/>
          </a:p>
        </p:txBody>
      </p:sp>
      <p:sp>
        <p:nvSpPr>
          <p:cNvPr id="23" name="Text 21"/>
          <p:cNvSpPr txBox="1"/>
          <p:nvPr/>
        </p:nvSpPr>
        <p:spPr>
          <a:xfrm>
            <a:off x="6355080" y="4946904"/>
            <a:ext cx="1234440" cy="274320"/>
          </a:xfrm>
          <a:prstGeom prst="rect">
            <a:avLst/>
          </a:prstGeom>
          <a:noFill/>
          <a:ln/>
        </p:spPr>
        <p:txBody>
          <a:bodyPr wrap="square" lIns="0" tIns="0" rIns="0" bIns="0" rtlCol="0" anchor="t"/>
          <a:lstStyle/>
          <a:p>
            <a:pPr indent="0" marL="0">
              <a:spcAft>
                <a:spcPts val="600"/>
              </a:spcAft>
              <a:buNone/>
            </a:pPr>
            <a:r>
              <a:rPr lang="en-US" sz="1100" b="1" spc="100" kern="0" dirty="0">
                <a:solidFill>
                  <a:srgbClr val="7A1220"/>
                </a:solidFill>
                <a:latin typeface="Arial" pitchFamily="34" charset="0"/>
                <a:ea typeface="Arial" pitchFamily="34" charset="-122"/>
                <a:cs typeface="Arial" pitchFamily="34" charset="-120"/>
              </a:rPr>
              <a:t>PUTUSAN</a:t>
            </a:r>
            <a:endParaRPr lang="en-US" sz="1100" dirty="0"/>
          </a:p>
        </p:txBody>
      </p:sp>
      <p:sp>
        <p:nvSpPr>
          <p:cNvPr id="24" name="Text 22"/>
          <p:cNvSpPr txBox="1"/>
          <p:nvPr/>
        </p:nvSpPr>
        <p:spPr>
          <a:xfrm>
            <a:off x="7635240" y="4919472"/>
            <a:ext cx="4069080" cy="71323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30 Oktober 2007: permohonan ditolak, pidana mati dinyatakan tidak bertentangan dengan UUD 1945.</a:t>
            </a:r>
            <a:endParaRPr lang="en-US" sz="1400" dirty="0"/>
          </a:p>
        </p:txBody>
      </p:sp>
      <p:sp>
        <p:nvSpPr>
          <p:cNvPr id="25" name="Shape 23"/>
          <p:cNvSpPr/>
          <p:nvPr/>
        </p:nvSpPr>
        <p:spPr>
          <a:xfrm>
            <a:off x="502920" y="5596128"/>
            <a:ext cx="11183112" cy="0"/>
          </a:xfrm>
          <a:prstGeom prst="line">
            <a:avLst/>
          </a:prstGeom>
          <a:noFill/>
          <a:ln w="12700">
            <a:solidFill>
              <a:srgbClr val="D9D2CB"/>
            </a:solidFill>
            <a:prstDash val="solid"/>
          </a:ln>
        </p:spPr>
      </p:sp>
      <p:sp>
        <p:nvSpPr>
          <p:cNvPr id="26" name="Text 24"/>
          <p:cNvSpPr txBox="1"/>
          <p:nvPr/>
        </p:nvSpPr>
        <p:spPr>
          <a:xfrm>
            <a:off x="502920" y="5705856"/>
            <a:ext cx="11155680" cy="566928"/>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Yang pasti: </a:t>
            </a:r>
            <a:pPr indent="0" marL="0">
              <a:spcAft>
                <a:spcPts val="600"/>
              </a:spcAft>
              <a:buNone/>
            </a:pPr>
            <a:r>
              <a:rPr lang="en-US" sz="1500" dirty="0">
                <a:solidFill>
                  <a:srgbClr val="2B2B2B"/>
                </a:solidFill>
                <a:latin typeface="Arial" pitchFamily="34" charset="0"/>
                <a:ea typeface="Arial" pitchFamily="34" charset="-122"/>
                <a:cs typeface="Arial" pitchFamily="34" charset="-120"/>
              </a:rPr>
              <a:t>Pasal 27 Konvensi Wina 1969 melarang negara memakai hukum nasionalnya sebagai alasan tidak melaksanakan perjanjian.</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GILIRAN KALIAN</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Debat Dua Menit</a:t>
            </a:r>
            <a:endParaRPr lang="en-US" sz="2800" dirty="0"/>
          </a:p>
        </p:txBody>
      </p:sp>
      <p:sp>
        <p:nvSpPr>
          <p:cNvPr id="4" name="Text 2"/>
          <p:cNvSpPr txBox="1"/>
          <p:nvPr/>
        </p:nvSpPr>
        <p:spPr>
          <a:xfrm>
            <a:off x="502920" y="1920240"/>
            <a:ext cx="11155680" cy="274320"/>
          </a:xfrm>
          <a:prstGeom prst="rect">
            <a:avLst/>
          </a:prstGeom>
          <a:noFill/>
          <a:ln/>
        </p:spPr>
        <p:txBody>
          <a:bodyPr wrap="square" lIns="0" tIns="0" rIns="0" bIns="0" rtlCol="0" anchor="t"/>
          <a:lstStyle/>
          <a:p>
            <a:pPr algn="ctr" indent="0" marL="0">
              <a:spcAft>
                <a:spcPts val="600"/>
              </a:spcAft>
              <a:buNone/>
            </a:pPr>
            <a:r>
              <a:rPr lang="en-US" sz="1200" b="1" spc="200" kern="0" dirty="0">
                <a:solidFill>
                  <a:srgbClr val="5F5F5F"/>
                </a:solidFill>
                <a:latin typeface="Arial" pitchFamily="34" charset="0"/>
                <a:ea typeface="Arial" pitchFamily="34" charset="-122"/>
                <a:cs typeface="Arial" pitchFamily="34" charset="-120"/>
              </a:rPr>
              <a:t>MOSI</a:t>
            </a:r>
            <a:endParaRPr lang="en-US" sz="1200" dirty="0"/>
          </a:p>
        </p:txBody>
      </p:sp>
      <p:sp>
        <p:nvSpPr>
          <p:cNvPr id="5" name="Text 3"/>
          <p:cNvSpPr txBox="1"/>
          <p:nvPr/>
        </p:nvSpPr>
        <p:spPr>
          <a:xfrm>
            <a:off x="1188720" y="2240280"/>
            <a:ext cx="9784080" cy="960120"/>
          </a:xfrm>
          <a:prstGeom prst="rect">
            <a:avLst/>
          </a:prstGeom>
          <a:noFill/>
          <a:ln/>
        </p:spPr>
        <p:txBody>
          <a:bodyPr wrap="square" lIns="0" tIns="0" rIns="0" bIns="0" rtlCol="0" anchor="t"/>
          <a:lstStyle/>
          <a:p>
            <a:pPr algn="ctr" indent="0" marL="0">
              <a:spcAft>
                <a:spcPts val="600"/>
              </a:spcAft>
              <a:buNone/>
            </a:pPr>
            <a:r>
              <a:rPr lang="en-US" sz="2200" i="1" dirty="0">
                <a:solidFill>
                  <a:srgbClr val="7A1220"/>
                </a:solidFill>
                <a:latin typeface="Georgia" pitchFamily="34" charset="0"/>
                <a:ea typeface="Georgia" pitchFamily="34" charset="-122"/>
                <a:cs typeface="Georgia" pitchFamily="34" charset="-120"/>
              </a:rPr>
              <a:t>Hakim Indonesia boleh langsung memakai perjanjian yang sudah disahkan, tanpa menunggu undang-undang pelaksana.</a:t>
            </a:r>
            <a:endParaRPr lang="en-US" sz="2200" dirty="0"/>
          </a:p>
        </p:txBody>
      </p:sp>
      <p:sp>
        <p:nvSpPr>
          <p:cNvPr id="6" name="Shape 4"/>
          <p:cNvSpPr/>
          <p:nvPr/>
        </p:nvSpPr>
        <p:spPr>
          <a:xfrm>
            <a:off x="502920" y="3429000"/>
            <a:ext cx="11183112" cy="0"/>
          </a:xfrm>
          <a:prstGeom prst="line">
            <a:avLst/>
          </a:prstGeom>
          <a:noFill/>
          <a:ln w="12700">
            <a:solidFill>
              <a:srgbClr val="D9D2CB"/>
            </a:solidFill>
            <a:prstDash val="solid"/>
          </a:ln>
        </p:spPr>
      </p:sp>
      <p:sp>
        <p:nvSpPr>
          <p:cNvPr id="7" name="Shape 5"/>
          <p:cNvSpPr/>
          <p:nvPr/>
        </p:nvSpPr>
        <p:spPr>
          <a:xfrm>
            <a:off x="6080760" y="3611880"/>
            <a:ext cx="0" cy="2011680"/>
          </a:xfrm>
          <a:prstGeom prst="line">
            <a:avLst/>
          </a:prstGeom>
          <a:noFill/>
          <a:ln w="12700">
            <a:solidFill>
              <a:srgbClr val="D9D2CB"/>
            </a:solidFill>
            <a:prstDash val="solid"/>
          </a:ln>
        </p:spPr>
      </p:sp>
      <p:sp>
        <p:nvSpPr>
          <p:cNvPr id="8" name="Text 6"/>
          <p:cNvSpPr txBox="1"/>
          <p:nvPr/>
        </p:nvSpPr>
        <p:spPr>
          <a:xfrm>
            <a:off x="502920" y="3566160"/>
            <a:ext cx="530352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Tim Setuju</a:t>
            </a:r>
            <a:endParaRPr lang="en-US" sz="1900" dirty="0"/>
          </a:p>
        </p:txBody>
      </p:sp>
      <p:sp>
        <p:nvSpPr>
          <p:cNvPr id="9" name="Text 7"/>
          <p:cNvSpPr txBox="1"/>
          <p:nvPr/>
        </p:nvSpPr>
        <p:spPr>
          <a:xfrm>
            <a:off x="502920" y="4023360"/>
            <a:ext cx="5349240" cy="16002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2B2B2B"/>
                </a:solidFill>
                <a:latin typeface="Arial" pitchFamily="34" charset="0"/>
                <a:ea typeface="Arial" pitchFamily="34" charset="-122"/>
                <a:cs typeface="Arial" pitchFamily="34" charset="-120"/>
              </a:rPr>
              <a:t>Perjanjian sudah disahkan dengan undang-undang atau perpres, jadi sudah menjadi hukum</a:t>
            </a:r>
            <a:endParaRPr lang="en-US" sz="1500" dirty="0"/>
          </a:p>
          <a:p>
            <a:pPr marL="228600" indent="-228600">
              <a:spcAft>
                <a:spcPts val="600"/>
              </a:spcAft>
              <a:buSzPct val="100000"/>
              <a:buChar char="•"/>
            </a:pPr>
            <a:r>
              <a:rPr lang="en-US" sz="1500" dirty="0">
                <a:solidFill>
                  <a:srgbClr val="2B2B2B"/>
                </a:solidFill>
                <a:latin typeface="Arial" pitchFamily="34" charset="0"/>
                <a:ea typeface="Arial" pitchFamily="34" charset="-122"/>
                <a:cs typeface="Arial" pitchFamily="34" charset="-120"/>
              </a:rPr>
              <a:t>Pasal 27 Konvensi Wina 1969</a:t>
            </a:r>
            <a:endParaRPr lang="en-US" sz="1500" dirty="0"/>
          </a:p>
          <a:p>
            <a:pPr marL="228600" indent="-228600">
              <a:spcAft>
                <a:spcPts val="600"/>
              </a:spcAft>
              <a:buSzPct val="100000"/>
              <a:buChar char="•"/>
            </a:pPr>
            <a:r>
              <a:rPr lang="en-US" sz="1500" dirty="0">
                <a:solidFill>
                  <a:srgbClr val="2B2B2B"/>
                </a:solidFill>
                <a:latin typeface="Arial" pitchFamily="34" charset="0"/>
                <a:ea typeface="Arial" pitchFamily="34" charset="-122"/>
                <a:cs typeface="Arial" pitchFamily="34" charset="-120"/>
              </a:rPr>
              <a:t>Pasal 7 ayat (2) UU HAM</a:t>
            </a:r>
            <a:endParaRPr lang="en-US" sz="1500" dirty="0"/>
          </a:p>
        </p:txBody>
      </p:sp>
      <p:sp>
        <p:nvSpPr>
          <p:cNvPr id="10" name="Text 8"/>
          <p:cNvSpPr txBox="1"/>
          <p:nvPr/>
        </p:nvSpPr>
        <p:spPr>
          <a:xfrm>
            <a:off x="6355080" y="3566160"/>
            <a:ext cx="5303520" cy="411480"/>
          </a:xfrm>
          <a:prstGeom prst="rect">
            <a:avLst/>
          </a:prstGeom>
          <a:noFill/>
          <a:ln/>
        </p:spPr>
        <p:txBody>
          <a:bodyPr wrap="square" lIns="0" tIns="0" rIns="0" bIns="0" rtlCol="0" anchor="t"/>
          <a:lstStyle/>
          <a:p>
            <a:pPr indent="0" marL="0">
              <a:spcAft>
                <a:spcPts val="600"/>
              </a:spcAft>
              <a:buNone/>
            </a:pPr>
            <a:r>
              <a:rPr lang="en-US" sz="1900" b="1" dirty="0">
                <a:solidFill>
                  <a:srgbClr val="5F5F5F"/>
                </a:solidFill>
                <a:latin typeface="Georgia" pitchFamily="34" charset="0"/>
                <a:ea typeface="Georgia" pitchFamily="34" charset="-122"/>
                <a:cs typeface="Georgia" pitchFamily="34" charset="-120"/>
              </a:rPr>
              <a:t>Tim Tidak Setuju</a:t>
            </a:r>
            <a:endParaRPr lang="en-US" sz="1900" dirty="0"/>
          </a:p>
        </p:txBody>
      </p:sp>
      <p:sp>
        <p:nvSpPr>
          <p:cNvPr id="11" name="Text 9"/>
          <p:cNvSpPr txBox="1"/>
          <p:nvPr/>
        </p:nvSpPr>
        <p:spPr>
          <a:xfrm>
            <a:off x="6355080" y="4023360"/>
            <a:ext cx="5303520" cy="16002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2B2B2B"/>
                </a:solidFill>
                <a:latin typeface="Arial" pitchFamily="34" charset="0"/>
                <a:ea typeface="Arial" pitchFamily="34" charset="-122"/>
                <a:cs typeface="Arial" pitchFamily="34" charset="-120"/>
              </a:rPr>
              <a:t>Banyak perjanjian isinya umum dan tidak bisa langsung diterapkan</a:t>
            </a:r>
            <a:endParaRPr lang="en-US" sz="1500" dirty="0"/>
          </a:p>
          <a:p>
            <a:pPr marL="228600" indent="-228600">
              <a:spcAft>
                <a:spcPts val="600"/>
              </a:spcAft>
              <a:buSzPct val="100000"/>
              <a:buChar char="•"/>
            </a:pPr>
            <a:r>
              <a:rPr lang="en-US" sz="1500" dirty="0">
                <a:solidFill>
                  <a:srgbClr val="2B2B2B"/>
                </a:solidFill>
                <a:latin typeface="Arial" pitchFamily="34" charset="0"/>
                <a:ea typeface="Arial" pitchFamily="34" charset="-122"/>
                <a:cs typeface="Arial" pitchFamily="34" charset="-120"/>
              </a:rPr>
              <a:t>Hakim terikat hierarki dalam UU 12/2011</a:t>
            </a:r>
            <a:endParaRPr lang="en-US" sz="1500" dirty="0"/>
          </a:p>
          <a:p>
            <a:pPr marL="228600" indent="-228600">
              <a:spcAft>
                <a:spcPts val="600"/>
              </a:spcAft>
              <a:buSzPct val="100000"/>
              <a:buChar char="•"/>
            </a:pPr>
            <a:r>
              <a:rPr lang="en-US" sz="1500" dirty="0">
                <a:solidFill>
                  <a:srgbClr val="2B2B2B"/>
                </a:solidFill>
                <a:latin typeface="Arial" pitchFamily="34" charset="0"/>
                <a:ea typeface="Arial" pitchFamily="34" charset="-122"/>
                <a:cs typeface="Arial" pitchFamily="34" charset="-120"/>
              </a:rPr>
              <a:t>Kasus PT Nizwar</a:t>
            </a:r>
            <a:endParaRPr lang="en-US" sz="1500" dirty="0"/>
          </a:p>
        </p:txBody>
      </p:sp>
      <p:sp>
        <p:nvSpPr>
          <p:cNvPr id="12" name="Text 10"/>
          <p:cNvSpPr txBox="1"/>
          <p:nvPr/>
        </p:nvSpPr>
        <p:spPr>
          <a:xfrm>
            <a:off x="502920" y="5760720"/>
            <a:ext cx="11155680" cy="457200"/>
          </a:xfrm>
          <a:prstGeom prst="rect">
            <a:avLst/>
          </a:prstGeom>
          <a:noFill/>
          <a:ln/>
        </p:spPr>
        <p:txBody>
          <a:bodyPr wrap="square" lIns="0" tIns="0" rIns="0" bIns="0" rtlCol="0" anchor="t"/>
          <a:lstStyle/>
          <a:p>
            <a:pPr algn="ctr" indent="0" marL="0">
              <a:spcAft>
                <a:spcPts val="600"/>
              </a:spcAft>
              <a:buNone/>
            </a:pPr>
            <a:r>
              <a:rPr lang="en-US" sz="1400" i="1" dirty="0">
                <a:solidFill>
                  <a:srgbClr val="5F5F5F"/>
                </a:solidFill>
                <a:latin typeface="Arial" pitchFamily="34" charset="0"/>
                <a:ea typeface="Arial" pitchFamily="34" charset="-122"/>
                <a:cs typeface="Arial" pitchFamily="34" charset="-120"/>
              </a:rPr>
              <a:t>Aturan main: 1 menit pembukaan tiap tim, 1 menit bantahan, lalu kelas memilih pemenang.</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SEBELUM PULANG</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Cek Pemahaman</a:t>
            </a:r>
            <a:endParaRPr lang="en-US" sz="2800" dirty="0"/>
          </a:p>
        </p:txBody>
      </p:sp>
      <p:sp>
        <p:nvSpPr>
          <p:cNvPr id="4" name="Text 2"/>
          <p:cNvSpPr txBox="1"/>
          <p:nvPr/>
        </p:nvSpPr>
        <p:spPr>
          <a:xfrm>
            <a:off x="502920" y="19659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1</a:t>
            </a:r>
            <a:endParaRPr lang="en-US" sz="3000" dirty="0"/>
          </a:p>
        </p:txBody>
      </p:sp>
      <p:sp>
        <p:nvSpPr>
          <p:cNvPr id="5" name="Text 3"/>
          <p:cNvSpPr txBox="1"/>
          <p:nvPr/>
        </p:nvSpPr>
        <p:spPr>
          <a:xfrm>
            <a:off x="1051560" y="20116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Negara A wajib membuat undang-undang dulu agar sebuah perjanjian berlaku di dalam negeri. Negara A menganut teori apa?</a:t>
            </a:r>
            <a:endParaRPr lang="en-US" sz="1600" dirty="0"/>
          </a:p>
        </p:txBody>
      </p:sp>
      <p:sp>
        <p:nvSpPr>
          <p:cNvPr id="6" name="Text 4"/>
          <p:cNvSpPr txBox="1"/>
          <p:nvPr/>
        </p:nvSpPr>
        <p:spPr>
          <a:xfrm>
            <a:off x="502920" y="33375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2</a:t>
            </a:r>
            <a:endParaRPr lang="en-US" sz="3000" dirty="0"/>
          </a:p>
        </p:txBody>
      </p:sp>
      <p:sp>
        <p:nvSpPr>
          <p:cNvPr id="7" name="Text 5"/>
          <p:cNvSpPr txBox="1"/>
          <p:nvPr/>
        </p:nvSpPr>
        <p:spPr>
          <a:xfrm>
            <a:off x="1051560" y="33832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Sebut dua dasar hukum di Indonesia yang mengatur pengesahan perjanjian internasional.</a:t>
            </a:r>
            <a:endParaRPr lang="en-US" sz="1600" dirty="0"/>
          </a:p>
        </p:txBody>
      </p:sp>
      <p:sp>
        <p:nvSpPr>
          <p:cNvPr id="8" name="Text 6"/>
          <p:cNvSpPr txBox="1"/>
          <p:nvPr/>
        </p:nvSpPr>
        <p:spPr>
          <a:xfrm>
            <a:off x="502920" y="47091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3</a:t>
            </a:r>
            <a:endParaRPr lang="en-US" sz="3000" dirty="0"/>
          </a:p>
        </p:txBody>
      </p:sp>
      <p:sp>
        <p:nvSpPr>
          <p:cNvPr id="9" name="Text 7"/>
          <p:cNvSpPr txBox="1"/>
          <p:nvPr/>
        </p:nvSpPr>
        <p:spPr>
          <a:xfrm>
            <a:off x="1051560" y="47548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Mengapa kasus PT Nizwar sering dipakai sebagai contoh praktik dualis di Indonesia?</a:t>
            </a:r>
            <a:endParaRPr lang="en-US" sz="1600" dirty="0"/>
          </a:p>
        </p:txBody>
      </p:sp>
      <p:sp>
        <p:nvSpPr>
          <p:cNvPr id="10" name="Shape 8"/>
          <p:cNvSpPr/>
          <p:nvPr/>
        </p:nvSpPr>
        <p:spPr>
          <a:xfrm>
            <a:off x="7589520" y="2011680"/>
            <a:ext cx="0" cy="4160520"/>
          </a:xfrm>
          <a:prstGeom prst="line">
            <a:avLst/>
          </a:prstGeom>
          <a:noFill/>
          <a:ln w="12700">
            <a:solidFill>
              <a:srgbClr val="D9D2CB"/>
            </a:solidFill>
            <a:prstDash val="solid"/>
          </a:ln>
        </p:spPr>
      </p:sp>
      <p:sp>
        <p:nvSpPr>
          <p:cNvPr id="11" name="Text 9"/>
          <p:cNvSpPr txBox="1"/>
          <p:nvPr/>
        </p:nvSpPr>
        <p:spPr>
          <a:xfrm>
            <a:off x="7863840" y="2011680"/>
            <a:ext cx="3822192" cy="2286000"/>
          </a:xfrm>
          <a:prstGeom prst="rect">
            <a:avLst/>
          </a:prstGeom>
          <a:noFill/>
          <a:ln/>
        </p:spPr>
        <p:txBody>
          <a:bodyPr wrap="square" lIns="0" tIns="0" rIns="0" bIns="0" rtlCol="0" anchor="t"/>
          <a:lstStyle/>
          <a:p>
            <a:pPr indent="0" marL="0">
              <a:spcAft>
                <a:spcPts val="400"/>
              </a:spcAft>
              <a:buNone/>
            </a:pPr>
            <a:r>
              <a:rPr lang="en-US" sz="1400" b="1" dirty="0">
                <a:solidFill>
                  <a:srgbClr val="7A1220"/>
                </a:solidFill>
                <a:latin typeface="Arial" pitchFamily="34" charset="0"/>
                <a:ea typeface="Arial" pitchFamily="34" charset="-122"/>
                <a:cs typeface="Arial" pitchFamily="34" charset="-120"/>
              </a:rPr>
              <a:t>Bacaan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Kusumaatmadja (2019), Pengantar Hukum Internasional, Bab 4</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Shaw (2021), International Law, Bab 4</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UU No. 24 Tahun 2000 tentang Perjanjian Internasional</a:t>
            </a:r>
            <a:endParaRPr lang="en-US" sz="1400" dirty="0"/>
          </a:p>
        </p:txBody>
      </p:sp>
      <p:sp>
        <p:nvSpPr>
          <p:cNvPr id="12" name="Text 10"/>
          <p:cNvSpPr txBox="1"/>
          <p:nvPr/>
        </p:nvSpPr>
        <p:spPr>
          <a:xfrm>
            <a:off x="7863840" y="4526280"/>
            <a:ext cx="3822192" cy="16459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Pertemuan berikutnya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Yurisdiksi negara dan pengakuan negara: siapa berhak mengadili kejahatan lintas negara?</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H UNISSULA">
  <a:themeElements>
    <a:clrScheme name="FH UNISSULA">
      <a:dk1>
        <a:srgbClr val="2B2B2B"/>
      </a:dk1>
      <a:lt1>
        <a:srgbClr val="FFFFFF"/>
      </a:lt1>
      <a:dk2>
        <a:srgbClr val="7A1220"/>
      </a:dk2>
      <a:lt2>
        <a:srgbClr val="F7F4F0"/>
      </a:lt2>
      <a:accent1>
        <a:srgbClr val="7A1220"/>
      </a:accent1>
      <a:accent2>
        <a:srgbClr val="9C6B4E"/>
      </a:accent2>
      <a:accent3>
        <a:srgbClr val="4F6D7A"/>
      </a:accent3>
      <a:accent4>
        <a:srgbClr val="B08D57"/>
      </a:accent4>
      <a:accent5>
        <a:srgbClr val="6B6B6B"/>
      </a:accent5>
      <a:accent6>
        <a:srgbClr val="3E5641"/>
      </a:accent6>
      <a:hlink>
        <a:srgbClr val="7A1220"/>
      </a:hlink>
      <a:folHlink>
        <a:srgbClr val="5F5F5F"/>
      </a:folHlink>
    </a:clrScheme>
    <a:fontScheme name="FH UNISSUL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Fakultas Hukum UNISSULA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Hubungan Hukum Internasional dan Hukum Nasional</dc:title>
  <dc:subject>Hukum Internasional, Pertemuan 3</dc:subject>
  <dc:creator>Aditya Noviyansyah, S.H., M.H.</dc:creator>
  <cp:lastModifiedBy>Aditya Noviyansyah, S.H., M.H.</cp:lastModifiedBy>
  <cp:revision>1</cp:revision>
  <dcterms:created xsi:type="dcterms:W3CDTF">2026-10-21T16:42:15Z</dcterms:created>
  <dcterms:modified xsi:type="dcterms:W3CDTF">2026-10-21T16:42:15Z</dcterms:modified>
</cp:coreProperties>
</file>