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Pakai kasus penipuan daring lintas negara sebagai pembuka; banyak mahasiswa pernah mendengar berita WNI yang bekerja di sindikat penipuan di Kamboja atau Myanmar. Minta kelas menebak negara mana yang berwenang. Jawabannya di bagian bawah slide 2.
Tujuan: mahasiswa mampu menganalisis jenis yurisdiksi negara (teritorial, nasional, universal) serta syarat dan akibat hukum pengakuan negara.
Waktu kira-kira: asas yurisdiksi 35 menit, kasus Lotus dan imunitas 35 menit, pengakuan 40 menit, kuis 20 menit.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Yurisdiksi adalah kewenangan negara membuat, menerapkan, dan menegakkan hukum. Yang paling sering diperebutkan adalah yurisdiksi pidana.
KUHP baru (UU 1/2023) berlaku sejak 2 Januari 2026. Pasal 4: wilayah, kapal dan pesawat Indonesia, dan tindak pidana yang akibatnya terjadi di Indonesia. Pasal 5: kepentingan negara, termasuk kepentingan WNI berdasarkan perjanjian. Pasal 6 dan 7: asas universal. Pasal 8: WNI di luar negeri, dengan syarat perbuatannya juga pidana di negara tempat terjadinya.
Tekankan beda yurisdiksi untuk mengadili dan kewenangan menegakkan. Indonesia tidak boleh mengirim polisi menangkap orang di Kamboja tanpa izin Kamboja.
Tanyakan: asas mana yang paling sering dipakai? (Teritorial.)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Ceritakan seperti kronologi berita. PCIJ adalah pendahulu Mahkamah Internasional.
Turki memakai asas teritorial objektif: akibat tabrakan terjadi di kapal Turki, yang diperlakukan seperti wilayah Turki.
Prinsip Lotus: negara bebas bertindak selama tidak ada larangan dalam hukum internasional. Prinsip ini masih sering dikutip dan dikritik.
Plot twist menunjukkan hukum kebiasaan bisa diubah oleh perjanjian. Kalau tabrakan yang sama terjadi hari ini, Turki tidak berwenang mengadili perwira Prancis.
Tanya kelas: adilkah kalau keluarga korban hanya bisa berharap pada pengadilan negara pelaku?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Yurisdiksi universal: negara mana pun boleh mengadili kejahatan tertentu tanpa kaitan tempat, pelaku, atau korban, karena kejahatannya dianggap menyerang seluruh umat manusia.
Pinochet: perkara dikenal sebagai Pinochet No. 3 di House of Lords. Akhirnya ia tidak jadi diekstradisi karena Menteri Dalam Negeri Inggris memulangkannya dengan alasan kesehatan.
Arrest Warrant (Republik Demokratik Kongo v. Belgia): MI membedakan imunitas pejabat yang masih menjabat (penuh) dan setelah tidak menjabat (terbatas).
Diskusi: kalau imunitas melindungi pejabat aktif, apakah itu berarti impunitas? Arahkan ke jalur lain: pengadilan negaranya sendiri, ICC, atau setelah ia tidak menjabat.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Bacakan Pasal 1 Konvensi Montevideo (empat unsur negara) dan Pasal 3: keberadaan politik negara tidak bergantung pada pengakuan negara lain. Itu sebabnya teori deklaratif lebih banyak dianut.
Namun dalam praktik, pengakuan sangat menentukan: tanpa pengakuan, sulit membuka kedutaan, membuat perjanjian, atau menjadi anggota PBB.
Palestina berstatus negara pengamat non-anggota di PBB sejak 2012.
Kosovo: MI hanya menjawab apakah deklarasinya melanggar hukum internasional, bukan apakah Kosovo sudah menjadi negara.
Afghanistan: negaranya tidak berubah, yang dipersoalkan adalah pemerintahannya. Bedakan pengakuan negara dan pengakuan pemerintah.
Ingatkan mahasiswa untuk membahas isu ini secara akademik, dengan dasar hukum, bukan sentimen.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Syarat pengakuan negara pada dasarnya mengikuti unsur Montevideo: penduduk tetap, wilayah tertentu, pemerintahan, dan kemampuan berhubungan dengan negara lain. Dalam praktik, negara juga melihat cara negara baru itu lahir, misalnya apakah melalui penggunaan kekerasan yang melanggar hukum.
De facto bisa ditarik kembali, de jure tidak.
Contoh pengakuan diam-diam: menandatangani perjanjian bilateral atau menerima duta besar.
Luther v. Sagor: putusan Court of Appeal Inggris. Sebelum pengakuan, pengadilan tingkat pertama menolak keabsahan nasionalisasi Soviet; setelah pengakuan, hasilnya berbalik.
Aktivitas analisis kasus (5 menit): tanyakan akibat hukum bila Indonesia suatu saat mengakui Kosovo.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Kuis ini bisa dijadikan kuis daring sesuai RPS.
Kunci: (1) asas teritorial, Pasal 4 huruf b KUHP baru (kapal Indonesia); (2) menteri luar negeri yang sedang menjabat kebal penuh dari yurisdiksi pidana negara lain; (3) ya, selama unsur Pasal 1 Konvensi Montevideo terpenuhi, karena pengakuan hanya menegaskan.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ONTEN">
    <p:bg>
      <p:bgPr>
        <a:solidFill>
          <a:srgbClr val="FFFFFF"/>
        </a:solidFill>
      </p:bgPr>
    </p:bg>
    <p:spTree>
      <p:nvGrpSpPr>
        <p:cNvPr id="1" name=""/>
        <p:cNvGrpSpPr/>
        <p:nvPr/>
      </p:nvGrpSpPr>
      <p:grpSpPr>
        <a:xfrm>
          <a:off x="0" y="0"/>
          <a:ext cx="0" cy="0"/>
          <a:chOff x="0" y="0"/>
          <a:chExt cx="0" cy="0"/>
        </a:xfrm>
      </p:grpSpPr>
      <p:pic>
        <p:nvPicPr>
          <p:cNvPr id="2" name="Image 0" descr="/tmp/claude-0/-home-claude/1d55af17-4c07-5715-bc68-ec714a3707f7/scratchpad/pptx-hi/logo-kecil.png">    </p:cNvPr>
          <p:cNvPicPr>
            <a:picLocks noChangeAspect="1"/>
          </p:cNvPicPr>
          <p:nvPr/>
        </p:nvPicPr>
        <p:blipFill>
          <a:blip r:embed="rId1"/>
          <a:stretch>
            <a:fillRect/>
          </a:stretch>
        </p:blipFill>
        <p:spPr>
          <a:xfrm>
            <a:off x="502920" y="256032"/>
            <a:ext cx="384048" cy="365760"/>
          </a:xfrm>
          <a:prstGeom prst="rect">
            <a:avLst/>
          </a:prstGeom>
        </p:spPr>
      </p:pic>
      <p:sp>
        <p:nvSpPr>
          <p:cNvPr id="3" name="Text 0"/>
          <p:cNvSpPr/>
          <p:nvPr/>
        </p:nvSpPr>
        <p:spPr>
          <a:xfrm>
            <a:off x="978408" y="274320"/>
            <a:ext cx="5486400" cy="329184"/>
          </a:xfrm>
          <a:prstGeom prst="rect">
            <a:avLst/>
          </a:prstGeom>
          <a:noFill/>
          <a:ln/>
        </p:spPr>
        <p:txBody>
          <a:bodyPr wrap="square" lIns="0" tIns="0" rIns="0" bIns="0" rtlCol="0" anchor="ctr"/>
          <a:lstStyle/>
          <a:p>
            <a:pPr indent="0" marL="0">
              <a:buNone/>
            </a:pPr>
            <a:r>
              <a:rPr lang="en-US" sz="1100" dirty="0">
                <a:solidFill>
                  <a:srgbClr val="5F5F5F"/>
                </a:solidFill>
                <a:latin typeface="Arial" pitchFamily="34" charset="0"/>
                <a:ea typeface="Arial" pitchFamily="34" charset="-122"/>
                <a:cs typeface="Arial" pitchFamily="34" charset="-120"/>
              </a:rPr>
              <a:t>Fakultas Hukum Universitas Islam Sultan Agung</a:t>
            </a:r>
            <a:endParaRPr lang="en-US" sz="1100" dirty="0"/>
          </a:p>
        </p:txBody>
      </p:sp>
      <p:sp>
        <p:nvSpPr>
          <p:cNvPr id="4" name="Text 1"/>
          <p:cNvSpPr/>
          <p:nvPr/>
        </p:nvSpPr>
        <p:spPr>
          <a:xfrm>
            <a:off x="6675120" y="274320"/>
            <a:ext cx="5010912" cy="329184"/>
          </a:xfrm>
          <a:prstGeom prst="rect">
            <a:avLst/>
          </a:prstGeom>
          <a:noFill/>
          <a:ln/>
        </p:spPr>
        <p:txBody>
          <a:bodyPr wrap="square" lIns="0" tIns="0" rIns="0" bIns="0" rtlCol="0" anchor="ctr"/>
          <a:lstStyle/>
          <a:p>
            <a:pPr algn="r" indent="0" marL="0">
              <a:buNone/>
            </a:pPr>
            <a:r>
              <a:rPr lang="en-US" sz="1100" dirty="0">
                <a:solidFill>
                  <a:srgbClr val="5F5F5F"/>
                </a:solidFill>
                <a:latin typeface="Arial" pitchFamily="34" charset="0"/>
                <a:ea typeface="Arial" pitchFamily="34" charset="-122"/>
                <a:cs typeface="Arial" pitchFamily="34" charset="-120"/>
              </a:rPr>
              <a:t>Hukum Internasional | Pertemuan 4</a:t>
            </a:r>
            <a:endParaRPr lang="en-US" sz="1100" dirty="0"/>
          </a:p>
        </p:txBody>
      </p:sp>
      <p:sp>
        <p:nvSpPr>
          <p:cNvPr id="5" name="Shape 2"/>
          <p:cNvSpPr/>
          <p:nvPr/>
        </p:nvSpPr>
        <p:spPr>
          <a:xfrm>
            <a:off x="502920" y="749808"/>
            <a:ext cx="11183112" cy="0"/>
          </a:xfrm>
          <a:prstGeom prst="line">
            <a:avLst/>
          </a:prstGeom>
          <a:noFill/>
          <a:ln w="12700">
            <a:solidFill>
              <a:srgbClr val="D9D2CB"/>
            </a:solidFill>
            <a:prstDash val="solid"/>
          </a:ln>
        </p:spPr>
      </p:sp>
      <p:sp>
        <p:nvSpPr>
          <p:cNvPr id="6" name="Shape 3"/>
          <p:cNvSpPr/>
          <p:nvPr/>
        </p:nvSpPr>
        <p:spPr>
          <a:xfrm>
            <a:off x="502920" y="6400800"/>
            <a:ext cx="11183112" cy="0"/>
          </a:xfrm>
          <a:prstGeom prst="line">
            <a:avLst/>
          </a:prstGeom>
          <a:noFill/>
          <a:ln w="12700">
            <a:solidFill>
              <a:srgbClr val="D9D2CB"/>
            </a:solidFill>
            <a:prstDash val="solid"/>
          </a:ln>
        </p:spPr>
      </p:sp>
      <p:sp>
        <p:nvSpPr>
          <p:cNvPr id="7" name="Text 4"/>
          <p:cNvSpPr/>
          <p:nvPr/>
        </p:nvSpPr>
        <p:spPr>
          <a:xfrm>
            <a:off x="502920" y="6446520"/>
            <a:ext cx="5486400" cy="274320"/>
          </a:xfrm>
          <a:prstGeom prst="rect">
            <a:avLst/>
          </a:prstGeom>
          <a:noFill/>
          <a:ln/>
        </p:spPr>
        <p:txBody>
          <a:bodyPr wrap="square" lIns="0" tIns="0" rIns="0" bIns="0" rtlCol="0" anchor="ctr"/>
          <a:lstStyle/>
          <a:p>
            <a:pPr indent="0" marL="0">
              <a:buNone/>
            </a:pPr>
            <a:r>
              <a:rPr lang="en-US" sz="1000" dirty="0">
                <a:solidFill>
                  <a:srgbClr val="5F5F5F"/>
                </a:solidFill>
                <a:latin typeface="Arial" pitchFamily="34" charset="0"/>
                <a:ea typeface="Arial" pitchFamily="34" charset="-122"/>
                <a:cs typeface="Arial" pitchFamily="34" charset="-120"/>
              </a:rPr>
              <a:t>Aditya Noviyansyah, S.H., M.H.</a:t>
            </a:r>
            <a:endParaRPr lang="en-US" sz="1000" dirty="0"/>
          </a:p>
        </p:txBody>
      </p:sp>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640080"/>
            <a:ext cx="0" cy="5577840"/>
          </a:xfrm>
          <a:prstGeom prst="line">
            <a:avLst/>
          </a:prstGeom>
          <a:noFill/>
          <a:ln w="28575">
            <a:solidFill>
              <a:srgbClr val="7A1220"/>
            </a:solidFill>
            <a:prstDash val="solid"/>
          </a:ln>
        </p:spPr>
      </p:sp>
      <p:pic>
        <p:nvPicPr>
          <p:cNvPr id="3" name="Image 0" descr="/tmp/claude-0/-home-claude/1d55af17-4c07-5715-bc68-ec714a3707f7/scratchpad/pptx-hi/logo-besar.png">    </p:cNvPr>
          <p:cNvPicPr>
            <a:picLocks noChangeAspect="1"/>
          </p:cNvPicPr>
          <p:nvPr/>
        </p:nvPicPr>
        <p:blipFill>
          <a:blip r:embed="rId1"/>
          <a:stretch>
            <a:fillRect/>
          </a:stretch>
        </p:blipFill>
        <p:spPr>
          <a:xfrm>
            <a:off x="1051560" y="685800"/>
            <a:ext cx="1143000" cy="1097280"/>
          </a:xfrm>
          <a:prstGeom prst="rect">
            <a:avLst/>
          </a:prstGeom>
        </p:spPr>
      </p:pic>
      <p:sp>
        <p:nvSpPr>
          <p:cNvPr id="4" name="Text 1"/>
          <p:cNvSpPr txBox="1"/>
          <p:nvPr/>
        </p:nvSpPr>
        <p:spPr>
          <a:xfrm>
            <a:off x="1051560" y="2011680"/>
            <a:ext cx="8229600" cy="365760"/>
          </a:xfrm>
          <a:prstGeom prst="rect">
            <a:avLst/>
          </a:prstGeom>
          <a:noFill/>
          <a:ln/>
        </p:spPr>
        <p:txBody>
          <a:bodyPr wrap="square" lIns="0" tIns="0" rIns="0" bIns="0" rtlCol="0" anchor="t"/>
          <a:lstStyle/>
          <a:p>
            <a:pPr indent="0" marL="0">
              <a:spcAft>
                <a:spcPts val="600"/>
              </a:spcAft>
              <a:buNone/>
            </a:pPr>
            <a:r>
              <a:rPr lang="en-US" sz="1400" b="1" spc="200" kern="0" dirty="0">
                <a:solidFill>
                  <a:srgbClr val="5F5F5F"/>
                </a:solidFill>
                <a:latin typeface="Arial" pitchFamily="34" charset="0"/>
                <a:ea typeface="Arial" pitchFamily="34" charset="-122"/>
                <a:cs typeface="Arial" pitchFamily="34" charset="-120"/>
              </a:rPr>
              <a:t>MATA KULIAH HUKUM INTERNASIONAL</a:t>
            </a:r>
            <a:endParaRPr lang="en-US" sz="1400" dirty="0"/>
          </a:p>
        </p:txBody>
      </p:sp>
      <p:sp>
        <p:nvSpPr>
          <p:cNvPr id="5" name="Text 2"/>
          <p:cNvSpPr txBox="1"/>
          <p:nvPr/>
        </p:nvSpPr>
        <p:spPr>
          <a:xfrm>
            <a:off x="1051560" y="2395728"/>
            <a:ext cx="10424160" cy="1508760"/>
          </a:xfrm>
          <a:prstGeom prst="rect">
            <a:avLst/>
          </a:prstGeom>
          <a:noFill/>
          <a:ln/>
        </p:spPr>
        <p:txBody>
          <a:bodyPr wrap="square" lIns="0" tIns="0" rIns="0" bIns="0" rtlCol="0" anchor="t"/>
          <a:lstStyle/>
          <a:p>
            <a:pPr indent="0" marL="0">
              <a:lnSpc>
                <a:spcPct val="100000"/>
              </a:lnSpc>
              <a:buNone/>
            </a:pPr>
            <a:r>
              <a:rPr lang="en-US" sz="4400" b="1" dirty="0">
                <a:solidFill>
                  <a:srgbClr val="7A1220"/>
                </a:solidFill>
                <a:latin typeface="Georgia" pitchFamily="34" charset="0"/>
                <a:ea typeface="Georgia" pitchFamily="34" charset="-122"/>
                <a:cs typeface="Georgia" pitchFamily="34" charset="-120"/>
              </a:rPr>
              <a:t>Yurisdiksi Negara dan</a:t>
            </a:r>
            <a:endParaRPr lang="en-US" sz="4400" dirty="0"/>
          </a:p>
          <a:p>
            <a:pPr indent="0" marL="0">
              <a:lnSpc>
                <a:spcPct val="100000"/>
              </a:lnSpc>
              <a:buNone/>
            </a:pPr>
            <a:r>
              <a:rPr lang="en-US" sz="4400" b="1" dirty="0">
                <a:solidFill>
                  <a:srgbClr val="7A1220"/>
                </a:solidFill>
                <a:latin typeface="Georgia" pitchFamily="34" charset="0"/>
                <a:ea typeface="Georgia" pitchFamily="34" charset="-122"/>
                <a:cs typeface="Georgia" pitchFamily="34" charset="-120"/>
              </a:rPr>
              <a:t>Pengakuan Negara</a:t>
            </a:r>
            <a:endParaRPr lang="en-US" sz="4400" dirty="0"/>
          </a:p>
        </p:txBody>
      </p:sp>
      <p:sp>
        <p:nvSpPr>
          <p:cNvPr id="6" name="Text 3"/>
          <p:cNvSpPr txBox="1"/>
          <p:nvPr/>
        </p:nvSpPr>
        <p:spPr>
          <a:xfrm>
            <a:off x="1051560" y="4005072"/>
            <a:ext cx="9875520" cy="777240"/>
          </a:xfrm>
          <a:prstGeom prst="rect">
            <a:avLst/>
          </a:prstGeom>
          <a:noFill/>
          <a:ln/>
        </p:spPr>
        <p:txBody>
          <a:bodyPr wrap="square" lIns="0" tIns="0" rIns="0" bIns="0" rtlCol="0" anchor="t"/>
          <a:lstStyle/>
          <a:p>
            <a:pPr indent="0" marL="0">
              <a:spcAft>
                <a:spcPts val="600"/>
              </a:spcAft>
              <a:buNone/>
            </a:pPr>
            <a:r>
              <a:rPr lang="en-US" sz="2000" i="1" dirty="0">
                <a:solidFill>
                  <a:srgbClr val="2B2B2B"/>
                </a:solidFill>
                <a:latin typeface="Georgia" pitchFamily="34" charset="0"/>
                <a:ea typeface="Georgia" pitchFamily="34" charset="-122"/>
                <a:cs typeface="Georgia" pitchFamily="34" charset="-120"/>
              </a:rPr>
              <a:t>Pelakunya di Kamboja, korbannya di Semarang, servernya di Singapura. Siapa yang berhak mengadili?</a:t>
            </a:r>
            <a:endParaRPr lang="en-US" sz="2000" dirty="0"/>
          </a:p>
        </p:txBody>
      </p:sp>
      <p:sp>
        <p:nvSpPr>
          <p:cNvPr id="7" name="Shape 4"/>
          <p:cNvSpPr/>
          <p:nvPr/>
        </p:nvSpPr>
        <p:spPr>
          <a:xfrm>
            <a:off x="1051560" y="4937760"/>
            <a:ext cx="2926080" cy="0"/>
          </a:xfrm>
          <a:prstGeom prst="line">
            <a:avLst/>
          </a:prstGeom>
          <a:noFill/>
          <a:ln w="12700">
            <a:solidFill>
              <a:srgbClr val="D9D2CB"/>
            </a:solidFill>
            <a:prstDash val="solid"/>
          </a:ln>
        </p:spPr>
      </p:sp>
      <p:sp>
        <p:nvSpPr>
          <p:cNvPr id="8" name="Text 5"/>
          <p:cNvSpPr txBox="1"/>
          <p:nvPr/>
        </p:nvSpPr>
        <p:spPr>
          <a:xfrm>
            <a:off x="1051560" y="5074920"/>
            <a:ext cx="7315200" cy="1188720"/>
          </a:xfrm>
          <a:prstGeom prst="rect">
            <a:avLst/>
          </a:prstGeom>
          <a:noFill/>
          <a:ln/>
        </p:spPr>
        <p:txBody>
          <a:bodyPr wrap="square" lIns="0" tIns="0" rIns="0" bIns="0" rtlCol="0" anchor="t"/>
          <a:lstStyle/>
          <a:p>
            <a:pPr indent="0" marL="0">
              <a:spcAft>
                <a:spcPts val="200"/>
              </a:spcAft>
              <a:buNone/>
            </a:pPr>
            <a:r>
              <a:rPr lang="en-US" sz="1400" b="1" dirty="0">
                <a:solidFill>
                  <a:srgbClr val="5F5F5F"/>
                </a:solidFill>
                <a:latin typeface="Arial" pitchFamily="34" charset="0"/>
                <a:ea typeface="Arial" pitchFamily="34" charset="-122"/>
                <a:cs typeface="Arial" pitchFamily="34" charset="-120"/>
              </a:rPr>
              <a:t>Aditya Noviyansyah, S.H., M.H.</a:t>
            </a:r>
            <a:endParaRPr lang="en-US" sz="1400" dirty="0"/>
          </a:p>
          <a:p>
            <a:pPr indent="0" marL="0">
              <a:spcAft>
                <a:spcPts val="200"/>
              </a:spcAft>
              <a:buNone/>
            </a:pPr>
            <a:r>
              <a:rPr lang="en-US" sz="1400" dirty="0">
                <a:solidFill>
                  <a:srgbClr val="5F5F5F"/>
                </a:solidFill>
                <a:latin typeface="Arial" pitchFamily="34" charset="0"/>
                <a:ea typeface="Arial" pitchFamily="34" charset="-122"/>
                <a:cs typeface="Arial" pitchFamily="34" charset="-120"/>
              </a:rPr>
              <a:t>Program Studi S1 Ilmu Hukum, Fakultas Hukum</a:t>
            </a:r>
            <a:endParaRPr lang="en-US" sz="1400" dirty="0"/>
          </a:p>
          <a:p>
            <a:pPr indent="0" marL="0">
              <a:spcAft>
                <a:spcPts val="200"/>
              </a:spcAft>
              <a:buNone/>
            </a:pPr>
            <a:r>
              <a:rPr lang="en-US" sz="1400" dirty="0">
                <a:solidFill>
                  <a:srgbClr val="5F5F5F"/>
                </a:solidFill>
                <a:latin typeface="Arial" pitchFamily="34" charset="0"/>
                <a:ea typeface="Arial" pitchFamily="34" charset="-122"/>
                <a:cs typeface="Arial" pitchFamily="34" charset="-120"/>
              </a:rPr>
              <a:t>Universitas Islam Sultan Agung Semarang</a:t>
            </a:r>
            <a:endParaRPr lang="en-US" sz="1400" dirty="0"/>
          </a:p>
          <a:p>
            <a:pPr indent="0" marL="0">
              <a:spcAft>
                <a:spcPts val="200"/>
              </a:spcAft>
              <a:buNone/>
            </a:pPr>
            <a:r>
              <a:rPr lang="en-US" sz="1400" dirty="0">
                <a:solidFill>
                  <a:srgbClr val="5F5F5F"/>
                </a:solidFill>
                <a:latin typeface="Arial" pitchFamily="34" charset="0"/>
                <a:ea typeface="Arial" pitchFamily="34" charset="-122"/>
                <a:cs typeface="Arial" pitchFamily="34" charset="-120"/>
              </a:rPr>
              <a:t>Pertemuan 4 | Semester Gasal 2026/2027</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896112"/>
            <a:ext cx="11155680" cy="274320"/>
          </a:xfrm>
          <a:prstGeom prst="rect">
            <a:avLst/>
          </a:prstGeom>
          <a:noFill/>
          <a:ln/>
        </p:spPr>
        <p:txBody>
          <a:bodyPr wrap="square" lIns="0" tIns="0" rIns="0" bIns="0" rtlCol="0" anchor="t"/>
          <a:lstStyle/>
          <a:p>
            <a:pPr indent="0" marL="0">
              <a:buNone/>
            </a:pPr>
            <a:r>
              <a:rPr lang="en-US" sz="1200" b="1" spc="200" kern="0" dirty="0">
                <a:solidFill>
                  <a:srgbClr val="7A1220"/>
                </a:solidFill>
                <a:latin typeface="Arial" pitchFamily="34" charset="0"/>
                <a:ea typeface="Arial" pitchFamily="34" charset="-122"/>
                <a:cs typeface="Arial" pitchFamily="34" charset="-120"/>
              </a:rPr>
              <a:t>LIMA ASAS</a:t>
            </a:r>
            <a:endParaRPr lang="en-US" sz="1200" dirty="0"/>
          </a:p>
        </p:txBody>
      </p:sp>
      <p:sp>
        <p:nvSpPr>
          <p:cNvPr id="3" name="Text 1"/>
          <p:cNvSpPr txBox="1"/>
          <p:nvPr/>
        </p:nvSpPr>
        <p:spPr>
          <a:xfrm>
            <a:off x="502920" y="1152144"/>
            <a:ext cx="11183112" cy="640080"/>
          </a:xfrm>
          <a:prstGeom prst="rect">
            <a:avLst/>
          </a:prstGeom>
          <a:noFill/>
          <a:ln/>
        </p:spPr>
        <p:txBody>
          <a:bodyPr wrap="square" lIns="0" tIns="0" rIns="0" bIns="0" rtlCol="0" anchor="ctr"/>
          <a:lstStyle/>
          <a:p>
            <a:pPr indent="0" marL="0">
              <a:buNone/>
            </a:pPr>
            <a:r>
              <a:rPr lang="en-US" sz="2800" b="1" dirty="0">
                <a:solidFill>
                  <a:srgbClr val="7A1220"/>
                </a:solidFill>
                <a:latin typeface="Georgia" pitchFamily="34" charset="0"/>
                <a:ea typeface="Georgia" pitchFamily="34" charset="-122"/>
                <a:cs typeface="Georgia" pitchFamily="34" charset="-120"/>
              </a:rPr>
              <a:t>Siapa Berhak Mengadili?</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11183112" cy="914400"/>
        </p:xfrm>
        <a:graphic>
          <a:graphicData uri="http://schemas.openxmlformats.org/drawingml/2006/table">
            <a:tbl>
              <a:tblPr/>
              <a:tblGrid>
                <a:gridCol w="1783080"/>
                <a:gridCol w="2697480"/>
                <a:gridCol w="2057400"/>
                <a:gridCol w="4645152"/>
              </a:tblGrid>
              <a:tr h="384048">
                <a:tc>
                  <a:txBody>
                    <a:bodyPr/>
                    <a:lstStyle/>
                    <a:p>
                      <a:pPr indent="0" marL="0">
                        <a:buNone/>
                      </a:pPr>
                      <a:r>
                        <a:rPr lang="en-US" sz="1400" b="1" dirty="0">
                          <a:solidFill>
                            <a:srgbClr val="FFFFFF"/>
                          </a:solidFill>
                          <a:latin typeface="Arial" pitchFamily="34" charset="0"/>
                          <a:ea typeface="Arial" pitchFamily="34" charset="-122"/>
                          <a:cs typeface="Arial" pitchFamily="34" charset="-120"/>
                        </a:rPr>
                        <a:t>Asas</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7A1220"/>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Pertanyaan kuncinya</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7A1220"/>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KUHP baru</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7A1220"/>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Contoh</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7A1220"/>
                    </a:solidFill>
                  </a:tcPr>
                </a:tc>
              </a:tr>
              <a:tr h="566928">
                <a:tc>
                  <a:txBody>
                    <a:bodyPr/>
                    <a:lstStyle/>
                    <a:p>
                      <a:pPr indent="0" marL="0">
                        <a:buNone/>
                      </a:pPr>
                      <a:r>
                        <a:rPr lang="en-US" sz="1400" b="1" dirty="0">
                          <a:solidFill>
                            <a:srgbClr val="7A1220"/>
                          </a:solidFill>
                          <a:latin typeface="Arial" pitchFamily="34" charset="0"/>
                          <a:ea typeface="Arial" pitchFamily="34" charset="-122"/>
                          <a:cs typeface="Arial" pitchFamily="34" charset="-120"/>
                        </a:rPr>
                        <a:t>Teritorial</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FFFFF"/>
                    </a:solidFill>
                  </a:tcPr>
                </a:tc>
                <a:tc>
                  <a:txBody>
                    <a:bodyPr/>
                    <a:lstStyle/>
                    <a:p>
                      <a:pPr indent="0" marL="0">
                        <a:buNone/>
                      </a:pPr>
                      <a:r>
                        <a:rPr lang="en-US" sz="1400" dirty="0">
                          <a:solidFill>
                            <a:srgbClr val="2B2B2B"/>
                          </a:solidFill>
                          <a:latin typeface="Arial" pitchFamily="34" charset="0"/>
                          <a:ea typeface="Arial" pitchFamily="34" charset="-122"/>
                          <a:cs typeface="Arial" pitchFamily="34" charset="-120"/>
                        </a:rPr>
                        <a:t>Di mana terjadinya?</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FFFFF"/>
                    </a:solidFill>
                  </a:tcPr>
                </a:tc>
                <a:tc>
                  <a:txBody>
                    <a:bodyPr/>
                    <a:lstStyle/>
                    <a:p>
                      <a:pPr indent="0" marL="0">
                        <a:buNone/>
                      </a:pPr>
                      <a:r>
                        <a:rPr lang="en-US" sz="1400" dirty="0">
                          <a:solidFill>
                            <a:srgbClr val="2B2B2B"/>
                          </a:solidFill>
                          <a:latin typeface="Arial" pitchFamily="34" charset="0"/>
                          <a:ea typeface="Arial" pitchFamily="34" charset="-122"/>
                          <a:cs typeface="Arial" pitchFamily="34" charset="-120"/>
                        </a:rPr>
                        <a:t>Pasal 4</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FFFFF"/>
                    </a:solidFill>
                  </a:tcPr>
                </a:tc>
                <a:tc>
                  <a:txBody>
                    <a:bodyPr/>
                    <a:lstStyle/>
                    <a:p>
                      <a:pPr indent="0" marL="0">
                        <a:buNone/>
                      </a:pPr>
                      <a:r>
                        <a:rPr lang="en-US" sz="1400" dirty="0">
                          <a:solidFill>
                            <a:srgbClr val="2B2B2B"/>
                          </a:solidFill>
                          <a:latin typeface="Arial" pitchFamily="34" charset="0"/>
                          <a:ea typeface="Arial" pitchFamily="34" charset="-122"/>
                          <a:cs typeface="Arial" pitchFamily="34" charset="-120"/>
                        </a:rPr>
                        <a:t>Termasuk tindak pidana teknologi informasi yang akibatnya terjadi di Indonesia (huruf c)</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7A1220"/>
                          </a:solidFill>
                          <a:latin typeface="Arial" pitchFamily="34" charset="0"/>
                          <a:ea typeface="Arial" pitchFamily="34" charset="-122"/>
                          <a:cs typeface="Arial" pitchFamily="34" charset="-120"/>
                        </a:rPr>
                        <a:t>Nasional aktif</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7F4F0"/>
                    </a:solidFill>
                  </a:tcPr>
                </a:tc>
                <a:tc>
                  <a:txBody>
                    <a:bodyPr/>
                    <a:lstStyle/>
                    <a:p>
                      <a:pPr indent="0" marL="0">
                        <a:buNone/>
                      </a:pPr>
                      <a:r>
                        <a:rPr lang="en-US" sz="1400" dirty="0">
                          <a:solidFill>
                            <a:srgbClr val="2B2B2B"/>
                          </a:solidFill>
                          <a:latin typeface="Arial" pitchFamily="34" charset="0"/>
                          <a:ea typeface="Arial" pitchFamily="34" charset="-122"/>
                          <a:cs typeface="Arial" pitchFamily="34" charset="-120"/>
                        </a:rPr>
                        <a:t>Siapa pelakunya?</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7F4F0"/>
                    </a:solidFill>
                  </a:tcPr>
                </a:tc>
                <a:tc>
                  <a:txBody>
                    <a:bodyPr/>
                    <a:lstStyle/>
                    <a:p>
                      <a:pPr indent="0" marL="0">
                        <a:buNone/>
                      </a:pPr>
                      <a:r>
                        <a:rPr lang="en-US" sz="1400" dirty="0">
                          <a:solidFill>
                            <a:srgbClr val="2B2B2B"/>
                          </a:solidFill>
                          <a:latin typeface="Arial" pitchFamily="34" charset="0"/>
                          <a:ea typeface="Arial" pitchFamily="34" charset="-122"/>
                          <a:cs typeface="Arial" pitchFamily="34" charset="-120"/>
                        </a:rPr>
                        <a:t>Pasal 8</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7F4F0"/>
                    </a:solidFill>
                  </a:tcPr>
                </a:tc>
                <a:tc>
                  <a:txBody>
                    <a:bodyPr/>
                    <a:lstStyle/>
                    <a:p>
                      <a:pPr indent="0" marL="0">
                        <a:buNone/>
                      </a:pPr>
                      <a:r>
                        <a:rPr lang="en-US" sz="1400" dirty="0">
                          <a:solidFill>
                            <a:srgbClr val="2B2B2B"/>
                          </a:solidFill>
                          <a:latin typeface="Arial" pitchFamily="34" charset="0"/>
                          <a:ea typeface="Arial" pitchFamily="34" charset="-122"/>
                          <a:cs typeface="Arial" pitchFamily="34" charset="-120"/>
                        </a:rPr>
                        <a:t>WNI berbuat pidana di luar negeri, asal perbuatan itu juga pidana di sana</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7F4F0"/>
                    </a:solidFill>
                  </a:tcPr>
                </a:tc>
              </a:tr>
              <a:tr h="566928">
                <a:tc>
                  <a:txBody>
                    <a:bodyPr/>
                    <a:lstStyle/>
                    <a:p>
                      <a:pPr indent="0" marL="0">
                        <a:buNone/>
                      </a:pPr>
                      <a:r>
                        <a:rPr lang="en-US" sz="1400" b="1" dirty="0">
                          <a:solidFill>
                            <a:srgbClr val="7A1220"/>
                          </a:solidFill>
                          <a:latin typeface="Arial" pitchFamily="34" charset="0"/>
                          <a:ea typeface="Arial" pitchFamily="34" charset="-122"/>
                          <a:cs typeface="Arial" pitchFamily="34" charset="-120"/>
                        </a:rPr>
                        <a:t>Pelindungan</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FFFFF"/>
                    </a:solidFill>
                  </a:tcPr>
                </a:tc>
                <a:tc>
                  <a:txBody>
                    <a:bodyPr/>
                    <a:lstStyle/>
                    <a:p>
                      <a:pPr indent="0" marL="0">
                        <a:buNone/>
                      </a:pPr>
                      <a:r>
                        <a:rPr lang="en-US" sz="1400" dirty="0">
                          <a:solidFill>
                            <a:srgbClr val="2B2B2B"/>
                          </a:solidFill>
                          <a:latin typeface="Arial" pitchFamily="34" charset="0"/>
                          <a:ea typeface="Arial" pitchFamily="34" charset="-122"/>
                          <a:cs typeface="Arial" pitchFamily="34" charset="-120"/>
                        </a:rPr>
                        <a:t>Kepentingan negara apa yang diserang?</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FFFFF"/>
                    </a:solidFill>
                  </a:tcPr>
                </a:tc>
                <a:tc>
                  <a:txBody>
                    <a:bodyPr/>
                    <a:lstStyle/>
                    <a:p>
                      <a:pPr indent="0" marL="0">
                        <a:buNone/>
                      </a:pPr>
                      <a:r>
                        <a:rPr lang="en-US" sz="1400" dirty="0">
                          <a:solidFill>
                            <a:srgbClr val="2B2B2B"/>
                          </a:solidFill>
                          <a:latin typeface="Arial" pitchFamily="34" charset="0"/>
                          <a:ea typeface="Arial" pitchFamily="34" charset="-122"/>
                          <a:cs typeface="Arial" pitchFamily="34" charset="-120"/>
                        </a:rPr>
                        <a:t>Pasal 5</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FFFFF"/>
                    </a:solidFill>
                  </a:tcPr>
                </a:tc>
                <a:tc>
                  <a:txBody>
                    <a:bodyPr/>
                    <a:lstStyle/>
                    <a:p>
                      <a:pPr indent="0" marL="0">
                        <a:buNone/>
                      </a:pPr>
                      <a:r>
                        <a:rPr lang="en-US" sz="1400" dirty="0">
                          <a:solidFill>
                            <a:srgbClr val="2B2B2B"/>
                          </a:solidFill>
                          <a:latin typeface="Arial" pitchFamily="34" charset="0"/>
                          <a:ea typeface="Arial" pitchFamily="34" charset="-122"/>
                          <a:cs typeface="Arial" pitchFamily="34" charset="-120"/>
                        </a:rPr>
                        <a:t>Pemalsuan rupiah atau serangan pada sistem komunikasi elektronik dari luar negeri</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7A1220"/>
                          </a:solidFill>
                          <a:latin typeface="Arial" pitchFamily="34" charset="0"/>
                          <a:ea typeface="Arial" pitchFamily="34" charset="-122"/>
                          <a:cs typeface="Arial" pitchFamily="34" charset="-120"/>
                        </a:rPr>
                        <a:t>Nasional pasif</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7F4F0"/>
                    </a:solidFill>
                  </a:tcPr>
                </a:tc>
                <a:tc>
                  <a:txBody>
                    <a:bodyPr/>
                    <a:lstStyle/>
                    <a:p>
                      <a:pPr indent="0" marL="0">
                        <a:buNone/>
                      </a:pPr>
                      <a:r>
                        <a:rPr lang="en-US" sz="1400" dirty="0">
                          <a:solidFill>
                            <a:srgbClr val="2B2B2B"/>
                          </a:solidFill>
                          <a:latin typeface="Arial" pitchFamily="34" charset="0"/>
                          <a:ea typeface="Arial" pitchFamily="34" charset="-122"/>
                          <a:cs typeface="Arial" pitchFamily="34" charset="-120"/>
                        </a:rPr>
                        <a:t>Siapa korbannya?</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7F4F0"/>
                    </a:solidFill>
                  </a:tcPr>
                </a:tc>
                <a:tc>
                  <a:txBody>
                    <a:bodyPr/>
                    <a:lstStyle/>
                    <a:p>
                      <a:pPr indent="0" marL="0">
                        <a:buNone/>
                      </a:pPr>
                      <a:r>
                        <a:rPr lang="en-US" sz="1400" dirty="0">
                          <a:solidFill>
                            <a:srgbClr val="2B2B2B"/>
                          </a:solidFill>
                          <a:latin typeface="Arial" pitchFamily="34" charset="0"/>
                          <a:ea typeface="Arial" pitchFamily="34" charset="-122"/>
                          <a:cs typeface="Arial" pitchFamily="34" charset="-120"/>
                        </a:rPr>
                        <a:t>Pasal 5</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7F4F0"/>
                    </a:solidFill>
                  </a:tcPr>
                </a:tc>
                <a:tc>
                  <a:txBody>
                    <a:bodyPr/>
                    <a:lstStyle/>
                    <a:p>
                      <a:pPr indent="0" marL="0">
                        <a:buNone/>
                      </a:pPr>
                      <a:r>
                        <a:rPr lang="en-US" sz="1400" dirty="0">
                          <a:solidFill>
                            <a:srgbClr val="2B2B2B"/>
                          </a:solidFill>
                          <a:latin typeface="Arial" pitchFamily="34" charset="0"/>
                          <a:ea typeface="Arial" pitchFamily="34" charset="-122"/>
                          <a:cs typeface="Arial" pitchFamily="34" charset="-120"/>
                        </a:rPr>
                        <a:t>Korban WNI, bila ada perjanjian dengan negara tempat kejadian</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7F4F0"/>
                    </a:solidFill>
                  </a:tcPr>
                </a:tc>
              </a:tr>
              <a:tr h="502920">
                <a:tc>
                  <a:txBody>
                    <a:bodyPr/>
                    <a:lstStyle/>
                    <a:p>
                      <a:pPr indent="0" marL="0">
                        <a:buNone/>
                      </a:pPr>
                      <a:r>
                        <a:rPr lang="en-US" sz="1400" b="1" dirty="0">
                          <a:solidFill>
                            <a:srgbClr val="7A1220"/>
                          </a:solidFill>
                          <a:latin typeface="Arial" pitchFamily="34" charset="0"/>
                          <a:ea typeface="Arial" pitchFamily="34" charset="-122"/>
                          <a:cs typeface="Arial" pitchFamily="34" charset="-120"/>
                        </a:rPr>
                        <a:t>Universal</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FFFFF"/>
                    </a:solidFill>
                  </a:tcPr>
                </a:tc>
                <a:tc>
                  <a:txBody>
                    <a:bodyPr/>
                    <a:lstStyle/>
                    <a:p>
                      <a:pPr indent="0" marL="0">
                        <a:buNone/>
                      </a:pPr>
                      <a:r>
                        <a:rPr lang="en-US" sz="1400" dirty="0">
                          <a:solidFill>
                            <a:srgbClr val="2B2B2B"/>
                          </a:solidFill>
                          <a:latin typeface="Arial" pitchFamily="34" charset="0"/>
                          <a:ea typeface="Arial" pitchFamily="34" charset="-122"/>
                          <a:cs typeface="Arial" pitchFamily="34" charset="-120"/>
                        </a:rPr>
                        <a:t>Apakah musuh semua bangsa?</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FFFFF"/>
                    </a:solidFill>
                  </a:tcPr>
                </a:tc>
                <a:tc>
                  <a:txBody>
                    <a:bodyPr/>
                    <a:lstStyle/>
                    <a:p>
                      <a:pPr indent="0" marL="0">
                        <a:buNone/>
                      </a:pPr>
                      <a:r>
                        <a:rPr lang="en-US" sz="1400" dirty="0">
                          <a:solidFill>
                            <a:srgbClr val="2B2B2B"/>
                          </a:solidFill>
                          <a:latin typeface="Arial" pitchFamily="34" charset="0"/>
                          <a:ea typeface="Arial" pitchFamily="34" charset="-122"/>
                          <a:cs typeface="Arial" pitchFamily="34" charset="-120"/>
                        </a:rPr>
                        <a:t>Pasal 6 dan 7</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FFFFF"/>
                    </a:solidFill>
                  </a:tcPr>
                </a:tc>
                <a:tc>
                  <a:txBody>
                    <a:bodyPr/>
                    <a:lstStyle/>
                    <a:p>
                      <a:pPr indent="0" marL="0">
                        <a:buNone/>
                      </a:pPr>
                      <a:r>
                        <a:rPr lang="en-US" sz="1400" dirty="0">
                          <a:solidFill>
                            <a:srgbClr val="2B2B2B"/>
                          </a:solidFill>
                          <a:latin typeface="Arial" pitchFamily="34" charset="0"/>
                          <a:ea typeface="Arial" pitchFamily="34" charset="-122"/>
                          <a:cs typeface="Arial" pitchFamily="34" charset="-120"/>
                        </a:rPr>
                        <a:t>Pembajakan di laut, genosida, penyiksaan</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FFFFF"/>
                    </a:solidFill>
                  </a:tcPr>
                </a:tc>
              </a:tr>
            </a:tbl>
          </a:graphicData>
        </a:graphic>
      </p:graphicFrame>
      <p:sp>
        <p:nvSpPr>
          <p:cNvPr id="5" name="Shape 2"/>
          <p:cNvSpPr/>
          <p:nvPr/>
        </p:nvSpPr>
        <p:spPr>
          <a:xfrm>
            <a:off x="502920" y="5303520"/>
            <a:ext cx="11183112" cy="0"/>
          </a:xfrm>
          <a:prstGeom prst="line">
            <a:avLst/>
          </a:prstGeom>
          <a:noFill/>
          <a:ln w="12700">
            <a:solidFill>
              <a:srgbClr val="D9D2CB"/>
            </a:solidFill>
            <a:prstDash val="solid"/>
          </a:ln>
        </p:spPr>
      </p:sp>
      <p:sp>
        <p:nvSpPr>
          <p:cNvPr id="6" name="Text 3"/>
          <p:cNvSpPr txBox="1"/>
          <p:nvPr/>
        </p:nvSpPr>
        <p:spPr>
          <a:xfrm>
            <a:off x="502920" y="5413248"/>
            <a:ext cx="11155680" cy="868680"/>
          </a:xfrm>
          <a:prstGeom prst="rect">
            <a:avLst/>
          </a:prstGeom>
          <a:noFill/>
          <a:ln/>
        </p:spPr>
        <p:txBody>
          <a:bodyPr wrap="square" lIns="0" tIns="0" rIns="0" bIns="0" rtlCol="0" anchor="t"/>
          <a:lstStyle/>
          <a:p>
            <a:pPr indent="0" marL="0">
              <a:spcAft>
                <a:spcPts val="600"/>
              </a:spcAft>
              <a:buNone/>
            </a:pPr>
            <a:r>
              <a:rPr lang="en-US" sz="1500" b="1" dirty="0">
                <a:solidFill>
                  <a:srgbClr val="7A1220"/>
                </a:solidFill>
                <a:latin typeface="Arial" pitchFamily="34" charset="0"/>
                <a:ea typeface="Arial" pitchFamily="34" charset="-122"/>
                <a:cs typeface="Arial" pitchFamily="34" charset="-120"/>
              </a:rPr>
              <a:t>Jawaban pertanyaan sampul: </a:t>
            </a:r>
            <a:pPr indent="0" marL="0">
              <a:spcAft>
                <a:spcPts val="600"/>
              </a:spcAft>
              <a:buNone/>
            </a:pPr>
            <a:r>
              <a:rPr lang="en-US" sz="1500" dirty="0">
                <a:solidFill>
                  <a:srgbClr val="2B2B2B"/>
                </a:solidFill>
                <a:latin typeface="Arial" pitchFamily="34" charset="0"/>
                <a:ea typeface="Arial" pitchFamily="34" charset="-122"/>
                <a:cs typeface="Arial" pitchFamily="34" charset="-120"/>
              </a:rPr>
              <a:t>Indonesia bisa memakai Pasal 4 huruf c karena akibatnya terjadi di Semarang; kalau pelakunya WNI, Pasal 8 juga bisa. Menangkapnya tetap butuh kerja sama: ekstradisi dan bantuan hukum timbal balik.</a:t>
            </a:r>
            <a:endParaRPr lang="en-US" sz="1500" dirty="0"/>
          </a:p>
        </p:txBody>
      </p:sp>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896112"/>
            <a:ext cx="11155680" cy="274320"/>
          </a:xfrm>
          <a:prstGeom prst="rect">
            <a:avLst/>
          </a:prstGeom>
          <a:noFill/>
          <a:ln/>
        </p:spPr>
        <p:txBody>
          <a:bodyPr wrap="square" lIns="0" tIns="0" rIns="0" bIns="0" rtlCol="0" anchor="t"/>
          <a:lstStyle/>
          <a:p>
            <a:pPr indent="0" marL="0">
              <a:buNone/>
            </a:pPr>
            <a:r>
              <a:rPr lang="en-US" sz="1200" b="1" spc="200" kern="0" dirty="0">
                <a:solidFill>
                  <a:srgbClr val="7A1220"/>
                </a:solidFill>
                <a:latin typeface="Arial" pitchFamily="34" charset="0"/>
                <a:ea typeface="Arial" pitchFamily="34" charset="-122"/>
                <a:cs typeface="Arial" pitchFamily="34" charset="-120"/>
              </a:rPr>
              <a:t>KASUS KLASIK</a:t>
            </a:r>
            <a:endParaRPr lang="en-US" sz="1200" dirty="0"/>
          </a:p>
        </p:txBody>
      </p:sp>
      <p:sp>
        <p:nvSpPr>
          <p:cNvPr id="3" name="Text 1"/>
          <p:cNvSpPr txBox="1"/>
          <p:nvPr/>
        </p:nvSpPr>
        <p:spPr>
          <a:xfrm>
            <a:off x="502920" y="1152144"/>
            <a:ext cx="11183112" cy="640080"/>
          </a:xfrm>
          <a:prstGeom prst="rect">
            <a:avLst/>
          </a:prstGeom>
          <a:noFill/>
          <a:ln/>
        </p:spPr>
        <p:txBody>
          <a:bodyPr wrap="square" lIns="0" tIns="0" rIns="0" bIns="0" rtlCol="0" anchor="ctr"/>
          <a:lstStyle/>
          <a:p>
            <a:pPr indent="0" marL="0">
              <a:buNone/>
            </a:pPr>
            <a:r>
              <a:rPr lang="en-US" sz="2800" b="1" dirty="0">
                <a:solidFill>
                  <a:srgbClr val="7A1220"/>
                </a:solidFill>
                <a:latin typeface="Georgia" pitchFamily="34" charset="0"/>
                <a:ea typeface="Georgia" pitchFamily="34" charset="-122"/>
                <a:cs typeface="Georgia" pitchFamily="34" charset="-120"/>
              </a:rPr>
              <a:t>Kasus Lotus: Tabrakan di Laut Lepas</a:t>
            </a:r>
            <a:endParaRPr lang="en-US" sz="2800" dirty="0"/>
          </a:p>
        </p:txBody>
      </p:sp>
      <p:sp>
        <p:nvSpPr>
          <p:cNvPr id="4" name="Text 2"/>
          <p:cNvSpPr txBox="1"/>
          <p:nvPr/>
        </p:nvSpPr>
        <p:spPr>
          <a:xfrm>
            <a:off x="502920" y="1965960"/>
            <a:ext cx="1463040" cy="274320"/>
          </a:xfrm>
          <a:prstGeom prst="rect">
            <a:avLst/>
          </a:prstGeom>
          <a:noFill/>
          <a:ln/>
        </p:spPr>
        <p:txBody>
          <a:bodyPr wrap="square" lIns="0" tIns="0" rIns="0" bIns="0" rtlCol="0" anchor="t"/>
          <a:lstStyle/>
          <a:p>
            <a:pPr indent="0" marL="0">
              <a:spcAft>
                <a:spcPts val="600"/>
              </a:spcAft>
              <a:buNone/>
            </a:pPr>
            <a:r>
              <a:rPr lang="en-US" sz="1200" b="1" spc="200" kern="0" dirty="0">
                <a:solidFill>
                  <a:srgbClr val="5F5F5F"/>
                </a:solidFill>
                <a:latin typeface="Arial" pitchFamily="34" charset="0"/>
                <a:ea typeface="Arial" pitchFamily="34" charset="-122"/>
                <a:cs typeface="Arial" pitchFamily="34" charset="-120"/>
              </a:rPr>
              <a:t>BABAK 1</a:t>
            </a:r>
            <a:endParaRPr lang="en-US" sz="1200" dirty="0"/>
          </a:p>
        </p:txBody>
      </p:sp>
      <p:sp>
        <p:nvSpPr>
          <p:cNvPr id="5" name="Text 3"/>
          <p:cNvSpPr txBox="1"/>
          <p:nvPr/>
        </p:nvSpPr>
        <p:spPr>
          <a:xfrm>
            <a:off x="502920" y="2258568"/>
            <a:ext cx="1600200" cy="685800"/>
          </a:xfrm>
          <a:prstGeom prst="rect">
            <a:avLst/>
          </a:prstGeom>
          <a:noFill/>
          <a:ln/>
        </p:spPr>
        <p:txBody>
          <a:bodyPr wrap="square" lIns="0" tIns="0" rIns="0" bIns="0" rtlCol="0" anchor="t"/>
          <a:lstStyle/>
          <a:p>
            <a:pPr indent="0" marL="0">
              <a:spcAft>
                <a:spcPts val="600"/>
              </a:spcAft>
              <a:buNone/>
            </a:pPr>
            <a:r>
              <a:rPr lang="en-US" sz="1600" b="1" dirty="0">
                <a:solidFill>
                  <a:srgbClr val="7A1220"/>
                </a:solidFill>
                <a:latin typeface="Georgia" pitchFamily="34" charset="0"/>
                <a:ea typeface="Georgia" pitchFamily="34" charset="-122"/>
                <a:cs typeface="Georgia" pitchFamily="34" charset="-120"/>
              </a:rPr>
              <a:t>2 Agustus 1926</a:t>
            </a:r>
            <a:endParaRPr lang="en-US" sz="1600" dirty="0"/>
          </a:p>
        </p:txBody>
      </p:sp>
      <p:sp>
        <p:nvSpPr>
          <p:cNvPr id="6" name="Text 4"/>
          <p:cNvSpPr txBox="1"/>
          <p:nvPr/>
        </p:nvSpPr>
        <p:spPr>
          <a:xfrm>
            <a:off x="2240280" y="1965960"/>
            <a:ext cx="4617720" cy="1188720"/>
          </a:xfrm>
          <a:prstGeom prst="rect">
            <a:avLst/>
          </a:prstGeom>
          <a:noFill/>
          <a:ln/>
        </p:spPr>
        <p:txBody>
          <a:bodyPr wrap="square" lIns="0" tIns="0" rIns="0" bIns="0" rtlCol="0" anchor="t"/>
          <a:lstStyle/>
          <a:p>
            <a:pPr indent="0" marL="0">
              <a:spcAft>
                <a:spcPts val="600"/>
              </a:spcAft>
              <a:buNone/>
            </a:pPr>
            <a:r>
              <a:rPr lang="en-US" sz="1500" dirty="0">
                <a:solidFill>
                  <a:srgbClr val="2B2B2B"/>
                </a:solidFill>
                <a:latin typeface="Arial" pitchFamily="34" charset="0"/>
                <a:ea typeface="Arial" pitchFamily="34" charset="-122"/>
                <a:cs typeface="Arial" pitchFamily="34" charset="-120"/>
              </a:rPr>
              <a:t>Kapal Prancis Lotus menabrak kapal Turki Boz-Kourt di laut lepas. Delapan warga Turki tewas.</a:t>
            </a:r>
            <a:endParaRPr lang="en-US" sz="1500" dirty="0"/>
          </a:p>
        </p:txBody>
      </p:sp>
      <p:sp>
        <p:nvSpPr>
          <p:cNvPr id="7" name="Shape 5"/>
          <p:cNvSpPr/>
          <p:nvPr/>
        </p:nvSpPr>
        <p:spPr>
          <a:xfrm>
            <a:off x="502920" y="3227832"/>
            <a:ext cx="6355080" cy="0"/>
          </a:xfrm>
          <a:prstGeom prst="line">
            <a:avLst/>
          </a:prstGeom>
          <a:noFill/>
          <a:ln w="12700">
            <a:solidFill>
              <a:srgbClr val="D9D2CB"/>
            </a:solidFill>
            <a:prstDash val="solid"/>
          </a:ln>
        </p:spPr>
      </p:sp>
      <p:sp>
        <p:nvSpPr>
          <p:cNvPr id="8" name="Text 6"/>
          <p:cNvSpPr txBox="1"/>
          <p:nvPr/>
        </p:nvSpPr>
        <p:spPr>
          <a:xfrm>
            <a:off x="502920" y="3337560"/>
            <a:ext cx="1463040" cy="274320"/>
          </a:xfrm>
          <a:prstGeom prst="rect">
            <a:avLst/>
          </a:prstGeom>
          <a:noFill/>
          <a:ln/>
        </p:spPr>
        <p:txBody>
          <a:bodyPr wrap="square" lIns="0" tIns="0" rIns="0" bIns="0" rtlCol="0" anchor="t"/>
          <a:lstStyle/>
          <a:p>
            <a:pPr indent="0" marL="0">
              <a:spcAft>
                <a:spcPts val="600"/>
              </a:spcAft>
              <a:buNone/>
            </a:pPr>
            <a:r>
              <a:rPr lang="en-US" sz="1200" b="1" spc="200" kern="0" dirty="0">
                <a:solidFill>
                  <a:srgbClr val="5F5F5F"/>
                </a:solidFill>
                <a:latin typeface="Arial" pitchFamily="34" charset="0"/>
                <a:ea typeface="Arial" pitchFamily="34" charset="-122"/>
                <a:cs typeface="Arial" pitchFamily="34" charset="-120"/>
              </a:rPr>
              <a:t>BABAK 2</a:t>
            </a:r>
            <a:endParaRPr lang="en-US" sz="1200" dirty="0"/>
          </a:p>
        </p:txBody>
      </p:sp>
      <p:sp>
        <p:nvSpPr>
          <p:cNvPr id="9" name="Text 7"/>
          <p:cNvSpPr txBox="1"/>
          <p:nvPr/>
        </p:nvSpPr>
        <p:spPr>
          <a:xfrm>
            <a:off x="502920" y="3630168"/>
            <a:ext cx="1600200" cy="685800"/>
          </a:xfrm>
          <a:prstGeom prst="rect">
            <a:avLst/>
          </a:prstGeom>
          <a:noFill/>
          <a:ln/>
        </p:spPr>
        <p:txBody>
          <a:bodyPr wrap="square" lIns="0" tIns="0" rIns="0" bIns="0" rtlCol="0" anchor="t"/>
          <a:lstStyle/>
          <a:p>
            <a:pPr indent="0" marL="0">
              <a:spcAft>
                <a:spcPts val="600"/>
              </a:spcAft>
              <a:buNone/>
            </a:pPr>
            <a:r>
              <a:rPr lang="en-US" sz="1600" b="1" dirty="0">
                <a:solidFill>
                  <a:srgbClr val="7A1220"/>
                </a:solidFill>
                <a:latin typeface="Georgia" pitchFamily="34" charset="0"/>
                <a:ea typeface="Georgia" pitchFamily="34" charset="-122"/>
                <a:cs typeface="Georgia" pitchFamily="34" charset="-120"/>
              </a:rPr>
              <a:t>Tiba di Istanbul</a:t>
            </a:r>
            <a:endParaRPr lang="en-US" sz="1600" dirty="0"/>
          </a:p>
        </p:txBody>
      </p:sp>
      <p:sp>
        <p:nvSpPr>
          <p:cNvPr id="10" name="Text 8"/>
          <p:cNvSpPr txBox="1"/>
          <p:nvPr/>
        </p:nvSpPr>
        <p:spPr>
          <a:xfrm>
            <a:off x="2240280" y="3337560"/>
            <a:ext cx="4617720" cy="1188720"/>
          </a:xfrm>
          <a:prstGeom prst="rect">
            <a:avLst/>
          </a:prstGeom>
          <a:noFill/>
          <a:ln/>
        </p:spPr>
        <p:txBody>
          <a:bodyPr wrap="square" lIns="0" tIns="0" rIns="0" bIns="0" rtlCol="0" anchor="t"/>
          <a:lstStyle/>
          <a:p>
            <a:pPr indent="0" marL="0">
              <a:spcAft>
                <a:spcPts val="600"/>
              </a:spcAft>
              <a:buNone/>
            </a:pPr>
            <a:r>
              <a:rPr lang="en-US" sz="1500" dirty="0">
                <a:solidFill>
                  <a:srgbClr val="2B2B2B"/>
                </a:solidFill>
                <a:latin typeface="Arial" pitchFamily="34" charset="0"/>
                <a:ea typeface="Arial" pitchFamily="34" charset="-122"/>
                <a:cs typeface="Arial" pitchFamily="34" charset="-120"/>
              </a:rPr>
              <a:t>Turki menangkap dan mengadili Letnan Demons, perwira jaga Lotus. Prancis protes: hanya negara bendera yang berwenang.</a:t>
            </a:r>
            <a:endParaRPr lang="en-US" sz="1500" dirty="0"/>
          </a:p>
        </p:txBody>
      </p:sp>
      <p:sp>
        <p:nvSpPr>
          <p:cNvPr id="11" name="Shape 9"/>
          <p:cNvSpPr/>
          <p:nvPr/>
        </p:nvSpPr>
        <p:spPr>
          <a:xfrm>
            <a:off x="502920" y="4599432"/>
            <a:ext cx="6355080" cy="0"/>
          </a:xfrm>
          <a:prstGeom prst="line">
            <a:avLst/>
          </a:prstGeom>
          <a:noFill/>
          <a:ln w="12700">
            <a:solidFill>
              <a:srgbClr val="D9D2CB"/>
            </a:solidFill>
            <a:prstDash val="solid"/>
          </a:ln>
        </p:spPr>
      </p:sp>
      <p:sp>
        <p:nvSpPr>
          <p:cNvPr id="12" name="Text 10"/>
          <p:cNvSpPr txBox="1"/>
          <p:nvPr/>
        </p:nvSpPr>
        <p:spPr>
          <a:xfrm>
            <a:off x="502920" y="4709160"/>
            <a:ext cx="1463040" cy="274320"/>
          </a:xfrm>
          <a:prstGeom prst="rect">
            <a:avLst/>
          </a:prstGeom>
          <a:noFill/>
          <a:ln/>
        </p:spPr>
        <p:txBody>
          <a:bodyPr wrap="square" lIns="0" tIns="0" rIns="0" bIns="0" rtlCol="0" anchor="t"/>
          <a:lstStyle/>
          <a:p>
            <a:pPr indent="0" marL="0">
              <a:spcAft>
                <a:spcPts val="600"/>
              </a:spcAft>
              <a:buNone/>
            </a:pPr>
            <a:r>
              <a:rPr lang="en-US" sz="1200" b="1" spc="200" kern="0" dirty="0">
                <a:solidFill>
                  <a:srgbClr val="5F5F5F"/>
                </a:solidFill>
                <a:latin typeface="Arial" pitchFamily="34" charset="0"/>
                <a:ea typeface="Arial" pitchFamily="34" charset="-122"/>
                <a:cs typeface="Arial" pitchFamily="34" charset="-120"/>
              </a:rPr>
              <a:t>BABAK 3</a:t>
            </a:r>
            <a:endParaRPr lang="en-US" sz="1200" dirty="0"/>
          </a:p>
        </p:txBody>
      </p:sp>
      <p:sp>
        <p:nvSpPr>
          <p:cNvPr id="13" name="Text 11"/>
          <p:cNvSpPr txBox="1"/>
          <p:nvPr/>
        </p:nvSpPr>
        <p:spPr>
          <a:xfrm>
            <a:off x="502920" y="5001768"/>
            <a:ext cx="1600200" cy="685800"/>
          </a:xfrm>
          <a:prstGeom prst="rect">
            <a:avLst/>
          </a:prstGeom>
          <a:noFill/>
          <a:ln/>
        </p:spPr>
        <p:txBody>
          <a:bodyPr wrap="square" lIns="0" tIns="0" rIns="0" bIns="0" rtlCol="0" anchor="t"/>
          <a:lstStyle/>
          <a:p>
            <a:pPr indent="0" marL="0">
              <a:spcAft>
                <a:spcPts val="600"/>
              </a:spcAft>
              <a:buNone/>
            </a:pPr>
            <a:r>
              <a:rPr lang="en-US" sz="1600" b="1" dirty="0">
                <a:solidFill>
                  <a:srgbClr val="7A1220"/>
                </a:solidFill>
                <a:latin typeface="Georgia" pitchFamily="34" charset="0"/>
                <a:ea typeface="Georgia" pitchFamily="34" charset="-122"/>
                <a:cs typeface="Georgia" pitchFamily="34" charset="-120"/>
              </a:rPr>
              <a:t>7 September 1927</a:t>
            </a:r>
            <a:endParaRPr lang="en-US" sz="1600" dirty="0"/>
          </a:p>
        </p:txBody>
      </p:sp>
      <p:sp>
        <p:nvSpPr>
          <p:cNvPr id="14" name="Text 12"/>
          <p:cNvSpPr txBox="1"/>
          <p:nvPr/>
        </p:nvSpPr>
        <p:spPr>
          <a:xfrm>
            <a:off x="2240280" y="4709160"/>
            <a:ext cx="4617720" cy="1188720"/>
          </a:xfrm>
          <a:prstGeom prst="rect">
            <a:avLst/>
          </a:prstGeom>
          <a:noFill/>
          <a:ln/>
        </p:spPr>
        <p:txBody>
          <a:bodyPr wrap="square" lIns="0" tIns="0" rIns="0" bIns="0" rtlCol="0" anchor="t"/>
          <a:lstStyle/>
          <a:p>
            <a:pPr indent="0" marL="0">
              <a:spcAft>
                <a:spcPts val="600"/>
              </a:spcAft>
              <a:buNone/>
            </a:pPr>
            <a:r>
              <a:rPr lang="en-US" sz="1500" dirty="0">
                <a:solidFill>
                  <a:srgbClr val="2B2B2B"/>
                </a:solidFill>
                <a:latin typeface="Arial" pitchFamily="34" charset="0"/>
                <a:ea typeface="Arial" pitchFamily="34" charset="-122"/>
                <a:cs typeface="Arial" pitchFamily="34" charset="-120"/>
              </a:rPr>
              <a:t>PCIJ memutus Turki tidak melanggar hukum internasional. Suara hakim terbelah sama kuat; perkara diputus dengan suara Ketua.</a:t>
            </a:r>
            <a:endParaRPr lang="en-US" sz="1500" dirty="0"/>
          </a:p>
        </p:txBody>
      </p:sp>
      <p:sp>
        <p:nvSpPr>
          <p:cNvPr id="15" name="Shape 13"/>
          <p:cNvSpPr/>
          <p:nvPr/>
        </p:nvSpPr>
        <p:spPr>
          <a:xfrm>
            <a:off x="7223760" y="1965960"/>
            <a:ext cx="0" cy="4251960"/>
          </a:xfrm>
          <a:prstGeom prst="line">
            <a:avLst/>
          </a:prstGeom>
          <a:noFill/>
          <a:ln w="12700">
            <a:solidFill>
              <a:srgbClr val="D9D2CB"/>
            </a:solidFill>
            <a:prstDash val="solid"/>
          </a:ln>
        </p:spPr>
      </p:sp>
      <p:sp>
        <p:nvSpPr>
          <p:cNvPr id="16" name="Text 14"/>
          <p:cNvSpPr txBox="1"/>
          <p:nvPr/>
        </p:nvSpPr>
        <p:spPr>
          <a:xfrm>
            <a:off x="7543800" y="1920240"/>
            <a:ext cx="4114800" cy="1417320"/>
          </a:xfrm>
          <a:prstGeom prst="rect">
            <a:avLst/>
          </a:prstGeom>
          <a:noFill/>
          <a:ln/>
        </p:spPr>
        <p:txBody>
          <a:bodyPr wrap="square" lIns="0" tIns="0" rIns="0" bIns="0" rtlCol="0" anchor="t"/>
          <a:lstStyle/>
          <a:p>
            <a:pPr indent="0" marL="0">
              <a:spcAft>
                <a:spcPts val="600"/>
              </a:spcAft>
              <a:buNone/>
            </a:pPr>
            <a:r>
              <a:rPr lang="en-US" sz="2000" i="1" dirty="0">
                <a:solidFill>
                  <a:srgbClr val="7A1220"/>
                </a:solidFill>
                <a:latin typeface="Georgia" pitchFamily="34" charset="0"/>
                <a:ea typeface="Georgia" pitchFamily="34" charset="-122"/>
                <a:cs typeface="Georgia" pitchFamily="34" charset="-120"/>
              </a:rPr>
              <a:t>“Pembatasan terhadap kemerdekaan negara tidak dapat dianggap ada begitu saja.”</a:t>
            </a:r>
            <a:endParaRPr lang="en-US" sz="2000" dirty="0"/>
          </a:p>
        </p:txBody>
      </p:sp>
      <p:sp>
        <p:nvSpPr>
          <p:cNvPr id="17" name="Text 15"/>
          <p:cNvSpPr txBox="1"/>
          <p:nvPr/>
        </p:nvSpPr>
        <p:spPr>
          <a:xfrm>
            <a:off x="7543800" y="3337560"/>
            <a:ext cx="4114800" cy="320040"/>
          </a:xfrm>
          <a:prstGeom prst="rect">
            <a:avLst/>
          </a:prstGeom>
          <a:noFill/>
          <a:ln/>
        </p:spPr>
        <p:txBody>
          <a:bodyPr wrap="square" lIns="0" tIns="0" rIns="0" bIns="0" rtlCol="0" anchor="t"/>
          <a:lstStyle/>
          <a:p>
            <a:pPr indent="0" marL="0">
              <a:spcAft>
                <a:spcPts val="600"/>
              </a:spcAft>
              <a:buNone/>
            </a:pPr>
            <a:r>
              <a:rPr lang="en-US" sz="1300" dirty="0">
                <a:solidFill>
                  <a:srgbClr val="5F5F5F"/>
                </a:solidFill>
                <a:latin typeface="Arial" pitchFamily="34" charset="0"/>
                <a:ea typeface="Arial" pitchFamily="34" charset="-122"/>
                <a:cs typeface="Arial" pitchFamily="34" charset="-120"/>
              </a:rPr>
              <a:t>Prinsip Lotus, putusan PCIJ 1927</a:t>
            </a:r>
            <a:endParaRPr lang="en-US" sz="1300" dirty="0"/>
          </a:p>
        </p:txBody>
      </p:sp>
      <p:sp>
        <p:nvSpPr>
          <p:cNvPr id="18" name="Shape 16"/>
          <p:cNvSpPr/>
          <p:nvPr/>
        </p:nvSpPr>
        <p:spPr>
          <a:xfrm>
            <a:off x="7543800" y="3931920"/>
            <a:ext cx="4114800" cy="2194560"/>
          </a:xfrm>
          <a:prstGeom prst="rect">
            <a:avLst/>
          </a:prstGeom>
          <a:ln w="12700">
            <a:solidFill>
              <a:srgbClr val="7A1220"/>
            </a:solidFill>
            <a:prstDash val="solid"/>
          </a:ln>
        </p:spPr>
      </p:sp>
      <p:sp>
        <p:nvSpPr>
          <p:cNvPr id="19" name="Text 17"/>
          <p:cNvSpPr txBox="1"/>
          <p:nvPr/>
        </p:nvSpPr>
        <p:spPr>
          <a:xfrm>
            <a:off x="7726680" y="4069080"/>
            <a:ext cx="3749040" cy="1965960"/>
          </a:xfrm>
          <a:prstGeom prst="rect">
            <a:avLst/>
          </a:prstGeom>
          <a:noFill/>
          <a:ln/>
        </p:spPr>
        <p:txBody>
          <a:bodyPr wrap="square" lIns="0" tIns="0" rIns="0" bIns="0" rtlCol="0" anchor="t"/>
          <a:lstStyle/>
          <a:p>
            <a:pPr indent="0" marL="0">
              <a:spcAft>
                <a:spcPts val="600"/>
              </a:spcAft>
              <a:buNone/>
            </a:pPr>
            <a:r>
              <a:rPr lang="en-US" sz="1200" b="1" spc="200" kern="0" dirty="0">
                <a:solidFill>
                  <a:srgbClr val="7A1220"/>
                </a:solidFill>
                <a:latin typeface="Arial" pitchFamily="34" charset="0"/>
                <a:ea typeface="Arial" pitchFamily="34" charset="-122"/>
                <a:cs typeface="Arial" pitchFamily="34" charset="-120"/>
              </a:rPr>
              <a:t>PLOT TWIST</a:t>
            </a:r>
            <a:endParaRPr lang="en-US" sz="1400" dirty="0"/>
          </a:p>
          <a:p>
            <a:pPr indent="0" marL="0">
              <a:spcAft>
                <a:spcPts val="600"/>
              </a:spcAft>
              <a:buNone/>
            </a:pPr>
            <a:r>
              <a:rPr lang="en-US" sz="1400" dirty="0">
                <a:solidFill>
                  <a:srgbClr val="2B2B2B"/>
                </a:solidFill>
                <a:latin typeface="Arial" pitchFamily="34" charset="0"/>
                <a:ea typeface="Arial" pitchFamily="34" charset="-122"/>
                <a:cs typeface="Arial" pitchFamily="34" charset="-120"/>
              </a:rPr>
              <a:t>Untuk tabrakan kapal, aturannya kemudian diubah. Konvensi Jenewa 1958 tentang Laut Lepas (Pasal 11) dan UNCLOS (Pasal 97): hanya negara bendera atau negara kewarganegaraan pelaku yang boleh mengadili.</a:t>
            </a:r>
            <a:endParaRPr lang="en-US" sz="1400" dirty="0"/>
          </a:p>
        </p:txBody>
      </p:sp>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02920" y="896112"/>
            <a:ext cx="11155680" cy="274320"/>
          </a:xfrm>
          <a:prstGeom prst="rect">
            <a:avLst/>
          </a:prstGeom>
          <a:noFill/>
          <a:ln/>
        </p:spPr>
        <p:txBody>
          <a:bodyPr wrap="square" lIns="0" tIns="0" rIns="0" bIns="0" rtlCol="0" anchor="t"/>
          <a:lstStyle/>
          <a:p>
            <a:pPr indent="0" marL="0">
              <a:buNone/>
            </a:pPr>
            <a:r>
              <a:rPr lang="en-US" sz="1200" b="1" spc="200" kern="0" dirty="0">
                <a:solidFill>
                  <a:srgbClr val="7A1220"/>
                </a:solidFill>
                <a:latin typeface="Arial" pitchFamily="34" charset="0"/>
                <a:ea typeface="Arial" pitchFamily="34" charset="-122"/>
                <a:cs typeface="Arial" pitchFamily="34" charset="-120"/>
              </a:rPr>
              <a:t>YURISDIKSI UNIVERSAL DAN IMUNITAS</a:t>
            </a:r>
            <a:endParaRPr lang="en-US" sz="1200" dirty="0"/>
          </a:p>
        </p:txBody>
      </p:sp>
      <p:sp>
        <p:nvSpPr>
          <p:cNvPr id="3" name="Text 1"/>
          <p:cNvSpPr txBox="1"/>
          <p:nvPr/>
        </p:nvSpPr>
        <p:spPr>
          <a:xfrm>
            <a:off x="502920" y="1152144"/>
            <a:ext cx="11183112" cy="640080"/>
          </a:xfrm>
          <a:prstGeom prst="rect">
            <a:avLst/>
          </a:prstGeom>
          <a:noFill/>
          <a:ln/>
        </p:spPr>
        <p:txBody>
          <a:bodyPr wrap="square" lIns="0" tIns="0" rIns="0" bIns="0" rtlCol="0" anchor="ctr"/>
          <a:lstStyle/>
          <a:p>
            <a:pPr indent="0" marL="0">
              <a:buNone/>
            </a:pPr>
            <a:r>
              <a:rPr lang="en-US" sz="2800" b="1" dirty="0">
                <a:solidFill>
                  <a:srgbClr val="7A1220"/>
                </a:solidFill>
                <a:latin typeface="Georgia" pitchFamily="34" charset="0"/>
                <a:ea typeface="Georgia" pitchFamily="34" charset="-122"/>
                <a:cs typeface="Georgia" pitchFamily="34" charset="-120"/>
              </a:rPr>
              <a:t>Bisakah Pejabat Negara Lain Ditangkap?</a:t>
            </a:r>
            <a:endParaRPr lang="en-US" sz="2800" dirty="0"/>
          </a:p>
        </p:txBody>
      </p:sp>
      <p:sp>
        <p:nvSpPr>
          <p:cNvPr id="4" name="Text 2"/>
          <p:cNvSpPr txBox="1"/>
          <p:nvPr/>
        </p:nvSpPr>
        <p:spPr>
          <a:xfrm>
            <a:off x="502920" y="1874520"/>
            <a:ext cx="5349240" cy="731520"/>
          </a:xfrm>
          <a:prstGeom prst="rect">
            <a:avLst/>
          </a:prstGeom>
          <a:noFill/>
          <a:ln/>
        </p:spPr>
        <p:txBody>
          <a:bodyPr wrap="square" lIns="0" tIns="0" rIns="0" bIns="0" rtlCol="0" anchor="t"/>
          <a:lstStyle/>
          <a:p>
            <a:pPr indent="0" marL="0">
              <a:spcAft>
                <a:spcPts val="600"/>
              </a:spcAft>
              <a:buNone/>
            </a:pPr>
            <a:r>
              <a:rPr lang="en-US" sz="4000" b="1" dirty="0">
                <a:solidFill>
                  <a:srgbClr val="7A1220"/>
                </a:solidFill>
                <a:latin typeface="Georgia" pitchFamily="34" charset="0"/>
                <a:ea typeface="Georgia" pitchFamily="34" charset="-122"/>
                <a:cs typeface="Georgia" pitchFamily="34" charset="-120"/>
              </a:rPr>
              <a:t>Bisa</a:t>
            </a:r>
            <a:endParaRPr lang="en-US" sz="4000" dirty="0"/>
          </a:p>
        </p:txBody>
      </p:sp>
      <p:sp>
        <p:nvSpPr>
          <p:cNvPr id="5" name="Text 3"/>
          <p:cNvSpPr txBox="1"/>
          <p:nvPr/>
        </p:nvSpPr>
        <p:spPr>
          <a:xfrm>
            <a:off x="502920" y="2651760"/>
            <a:ext cx="5349240" cy="274320"/>
          </a:xfrm>
          <a:prstGeom prst="rect">
            <a:avLst/>
          </a:prstGeom>
          <a:noFill/>
          <a:ln/>
        </p:spPr>
        <p:txBody>
          <a:bodyPr wrap="square" lIns="0" tIns="0" rIns="0" bIns="0" rtlCol="0" anchor="t"/>
          <a:lstStyle/>
          <a:p>
            <a:pPr indent="0" marL="0">
              <a:spcAft>
                <a:spcPts val="600"/>
              </a:spcAft>
              <a:buNone/>
            </a:pPr>
            <a:r>
              <a:rPr lang="en-US" sz="1200" b="1" spc="200" kern="0" dirty="0">
                <a:solidFill>
                  <a:srgbClr val="5F5F5F"/>
                </a:solidFill>
                <a:latin typeface="Arial" pitchFamily="34" charset="0"/>
                <a:ea typeface="Arial" pitchFamily="34" charset="-122"/>
                <a:cs typeface="Arial" pitchFamily="34" charset="-120"/>
              </a:rPr>
              <a:t>MANTAN KEPALA NEGARA</a:t>
            </a:r>
            <a:endParaRPr lang="en-US" sz="1200" dirty="0"/>
          </a:p>
        </p:txBody>
      </p:sp>
      <p:sp>
        <p:nvSpPr>
          <p:cNvPr id="6" name="Text 4"/>
          <p:cNvSpPr txBox="1"/>
          <p:nvPr/>
        </p:nvSpPr>
        <p:spPr>
          <a:xfrm>
            <a:off x="502920" y="2971800"/>
            <a:ext cx="5349240" cy="365760"/>
          </a:xfrm>
          <a:prstGeom prst="rect">
            <a:avLst/>
          </a:prstGeom>
          <a:noFill/>
          <a:ln/>
        </p:spPr>
        <p:txBody>
          <a:bodyPr wrap="square" lIns="0" tIns="0" rIns="0" bIns="0" rtlCol="0" anchor="t"/>
          <a:lstStyle/>
          <a:p>
            <a:pPr indent="0" marL="0">
              <a:spcAft>
                <a:spcPts val="600"/>
              </a:spcAft>
              <a:buNone/>
            </a:pPr>
            <a:r>
              <a:rPr lang="en-US" sz="1700" b="1" dirty="0">
                <a:solidFill>
                  <a:srgbClr val="2B2B2B"/>
                </a:solidFill>
                <a:latin typeface="Arial" pitchFamily="34" charset="0"/>
                <a:ea typeface="Arial" pitchFamily="34" charset="-122"/>
                <a:cs typeface="Arial" pitchFamily="34" charset="-120"/>
              </a:rPr>
              <a:t>Augusto Pinochet, mantan Presiden Chile</a:t>
            </a:r>
            <a:endParaRPr lang="en-US" sz="1700" dirty="0"/>
          </a:p>
        </p:txBody>
      </p:sp>
      <p:sp>
        <p:nvSpPr>
          <p:cNvPr id="7" name="Text 5"/>
          <p:cNvSpPr txBox="1"/>
          <p:nvPr/>
        </p:nvSpPr>
        <p:spPr>
          <a:xfrm>
            <a:off x="502920" y="3429000"/>
            <a:ext cx="5349240" cy="658368"/>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Okt 1998  </a:t>
            </a:r>
            <a:pPr indent="0" marL="0">
              <a:spcAft>
                <a:spcPts val="600"/>
              </a:spcAft>
              <a:buNone/>
            </a:pPr>
            <a:r>
              <a:rPr lang="en-US" sz="1400" dirty="0">
                <a:solidFill>
                  <a:srgbClr val="2B2B2B"/>
                </a:solidFill>
                <a:latin typeface="Arial" pitchFamily="34" charset="0"/>
                <a:ea typeface="Arial" pitchFamily="34" charset="-122"/>
                <a:cs typeface="Arial" pitchFamily="34" charset="-120"/>
              </a:rPr>
              <a:t>Ditangkap di London atas permintaan ekstradisi Spanyol.</a:t>
            </a:r>
            <a:endParaRPr lang="en-US" sz="1400" dirty="0"/>
          </a:p>
        </p:txBody>
      </p:sp>
      <p:sp>
        <p:nvSpPr>
          <p:cNvPr id="8" name="Text 6"/>
          <p:cNvSpPr txBox="1"/>
          <p:nvPr/>
        </p:nvSpPr>
        <p:spPr>
          <a:xfrm>
            <a:off x="502920" y="4114800"/>
            <a:ext cx="5349240" cy="658368"/>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24 Mar 1999  </a:t>
            </a:r>
            <a:pPr indent="0" marL="0">
              <a:spcAft>
                <a:spcPts val="600"/>
              </a:spcAft>
              <a:buNone/>
            </a:pPr>
            <a:r>
              <a:rPr lang="en-US" sz="1400" dirty="0">
                <a:solidFill>
                  <a:srgbClr val="2B2B2B"/>
                </a:solidFill>
                <a:latin typeface="Arial" pitchFamily="34" charset="0"/>
                <a:ea typeface="Arial" pitchFamily="34" charset="-122"/>
                <a:cs typeface="Arial" pitchFamily="34" charset="-120"/>
              </a:rPr>
              <a:t>House of Lords: tidak ada imunitas untuk penyiksaan setelah Konvensi Anti Penyiksaan 1984 berlaku bagi Inggris.</a:t>
            </a:r>
            <a:endParaRPr lang="en-US" sz="1400" dirty="0"/>
          </a:p>
        </p:txBody>
      </p:sp>
      <p:sp>
        <p:nvSpPr>
          <p:cNvPr id="9" name="Text 7"/>
          <p:cNvSpPr txBox="1"/>
          <p:nvPr/>
        </p:nvSpPr>
        <p:spPr>
          <a:xfrm>
            <a:off x="502920" y="4800600"/>
            <a:ext cx="5349240" cy="658368"/>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Mar 2000  </a:t>
            </a:r>
            <a:pPr indent="0" marL="0">
              <a:spcAft>
                <a:spcPts val="600"/>
              </a:spcAft>
              <a:buNone/>
            </a:pPr>
            <a:r>
              <a:rPr lang="en-US" sz="1400" dirty="0">
                <a:solidFill>
                  <a:srgbClr val="2B2B2B"/>
                </a:solidFill>
                <a:latin typeface="Arial" pitchFamily="34" charset="0"/>
                <a:ea typeface="Arial" pitchFamily="34" charset="-122"/>
                <a:cs typeface="Arial" pitchFamily="34" charset="-120"/>
              </a:rPr>
              <a:t>Dipulangkan ke Chile dengan alasan kesehatan.</a:t>
            </a:r>
            <a:endParaRPr lang="en-US" sz="1400" dirty="0"/>
          </a:p>
        </p:txBody>
      </p:sp>
      <p:sp>
        <p:nvSpPr>
          <p:cNvPr id="10" name="Shape 8"/>
          <p:cNvSpPr/>
          <p:nvPr/>
        </p:nvSpPr>
        <p:spPr>
          <a:xfrm>
            <a:off x="6080760" y="1965960"/>
            <a:ext cx="0" cy="3520440"/>
          </a:xfrm>
          <a:prstGeom prst="line">
            <a:avLst/>
          </a:prstGeom>
          <a:noFill/>
          <a:ln w="12700">
            <a:solidFill>
              <a:srgbClr val="D9D2CB"/>
            </a:solidFill>
            <a:prstDash val="solid"/>
          </a:ln>
        </p:spPr>
      </p:sp>
      <p:sp>
        <p:nvSpPr>
          <p:cNvPr id="11" name="Text 9"/>
          <p:cNvSpPr txBox="1"/>
          <p:nvPr/>
        </p:nvSpPr>
        <p:spPr>
          <a:xfrm>
            <a:off x="6355080" y="1874520"/>
            <a:ext cx="5349240" cy="731520"/>
          </a:xfrm>
          <a:prstGeom prst="rect">
            <a:avLst/>
          </a:prstGeom>
          <a:noFill/>
          <a:ln/>
        </p:spPr>
        <p:txBody>
          <a:bodyPr wrap="square" lIns="0" tIns="0" rIns="0" bIns="0" rtlCol="0" anchor="t"/>
          <a:lstStyle/>
          <a:p>
            <a:pPr indent="0" marL="0">
              <a:spcAft>
                <a:spcPts val="600"/>
              </a:spcAft>
              <a:buNone/>
            </a:pPr>
            <a:r>
              <a:rPr lang="en-US" sz="4000" b="1" dirty="0">
                <a:solidFill>
                  <a:srgbClr val="5F5F5F"/>
                </a:solidFill>
                <a:latin typeface="Georgia" pitchFamily="34" charset="0"/>
                <a:ea typeface="Georgia" pitchFamily="34" charset="-122"/>
                <a:cs typeface="Georgia" pitchFamily="34" charset="-120"/>
              </a:rPr>
              <a:t>Tidak bisa</a:t>
            </a:r>
            <a:endParaRPr lang="en-US" sz="4000" dirty="0"/>
          </a:p>
        </p:txBody>
      </p:sp>
      <p:sp>
        <p:nvSpPr>
          <p:cNvPr id="12" name="Text 10"/>
          <p:cNvSpPr txBox="1"/>
          <p:nvPr/>
        </p:nvSpPr>
        <p:spPr>
          <a:xfrm>
            <a:off x="6355080" y="2651760"/>
            <a:ext cx="5349240" cy="274320"/>
          </a:xfrm>
          <a:prstGeom prst="rect">
            <a:avLst/>
          </a:prstGeom>
          <a:noFill/>
          <a:ln/>
        </p:spPr>
        <p:txBody>
          <a:bodyPr wrap="square" lIns="0" tIns="0" rIns="0" bIns="0" rtlCol="0" anchor="t"/>
          <a:lstStyle/>
          <a:p>
            <a:pPr indent="0" marL="0">
              <a:spcAft>
                <a:spcPts val="600"/>
              </a:spcAft>
              <a:buNone/>
            </a:pPr>
            <a:r>
              <a:rPr lang="en-US" sz="1200" b="1" spc="200" kern="0" dirty="0">
                <a:solidFill>
                  <a:srgbClr val="5F5F5F"/>
                </a:solidFill>
                <a:latin typeface="Arial" pitchFamily="34" charset="0"/>
                <a:ea typeface="Arial" pitchFamily="34" charset="-122"/>
                <a:cs typeface="Arial" pitchFamily="34" charset="-120"/>
              </a:rPr>
              <a:t>PEJABAT YANG MASIH MENJABAT</a:t>
            </a:r>
            <a:endParaRPr lang="en-US" sz="1200" dirty="0"/>
          </a:p>
        </p:txBody>
      </p:sp>
      <p:sp>
        <p:nvSpPr>
          <p:cNvPr id="13" name="Text 11"/>
          <p:cNvSpPr txBox="1"/>
          <p:nvPr/>
        </p:nvSpPr>
        <p:spPr>
          <a:xfrm>
            <a:off x="6355080" y="2971800"/>
            <a:ext cx="5349240" cy="365760"/>
          </a:xfrm>
          <a:prstGeom prst="rect">
            <a:avLst/>
          </a:prstGeom>
          <a:noFill/>
          <a:ln/>
        </p:spPr>
        <p:txBody>
          <a:bodyPr wrap="square" lIns="0" tIns="0" rIns="0" bIns="0" rtlCol="0" anchor="t"/>
          <a:lstStyle/>
          <a:p>
            <a:pPr indent="0" marL="0">
              <a:spcAft>
                <a:spcPts val="600"/>
              </a:spcAft>
              <a:buNone/>
            </a:pPr>
            <a:r>
              <a:rPr lang="en-US" sz="1700" b="1" dirty="0">
                <a:solidFill>
                  <a:srgbClr val="2B2B2B"/>
                </a:solidFill>
                <a:latin typeface="Arial" pitchFamily="34" charset="0"/>
                <a:ea typeface="Arial" pitchFamily="34" charset="-122"/>
                <a:cs typeface="Arial" pitchFamily="34" charset="-120"/>
              </a:rPr>
              <a:t>Yerodia Ndombasi, Menteri Luar Negeri Kongo</a:t>
            </a:r>
            <a:endParaRPr lang="en-US" sz="1700" dirty="0"/>
          </a:p>
        </p:txBody>
      </p:sp>
      <p:sp>
        <p:nvSpPr>
          <p:cNvPr id="14" name="Text 12"/>
          <p:cNvSpPr txBox="1"/>
          <p:nvPr/>
        </p:nvSpPr>
        <p:spPr>
          <a:xfrm>
            <a:off x="6355080" y="3429000"/>
            <a:ext cx="5349240" cy="658368"/>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Apr 2000  </a:t>
            </a:r>
            <a:pPr indent="0" marL="0">
              <a:spcAft>
                <a:spcPts val="600"/>
              </a:spcAft>
              <a:buNone/>
            </a:pPr>
            <a:r>
              <a:rPr lang="en-US" sz="1400" dirty="0">
                <a:solidFill>
                  <a:srgbClr val="2B2B2B"/>
                </a:solidFill>
                <a:latin typeface="Arial" pitchFamily="34" charset="0"/>
                <a:ea typeface="Arial" pitchFamily="34" charset="-122"/>
                <a:cs typeface="Arial" pitchFamily="34" charset="-120"/>
              </a:rPr>
              <a:t>Hakim Belgia menerbitkan surat penangkapan internasional berdasarkan yurisdiksi universal.</a:t>
            </a:r>
            <a:endParaRPr lang="en-US" sz="1400" dirty="0"/>
          </a:p>
        </p:txBody>
      </p:sp>
      <p:sp>
        <p:nvSpPr>
          <p:cNvPr id="15" name="Text 13"/>
          <p:cNvSpPr txBox="1"/>
          <p:nvPr/>
        </p:nvSpPr>
        <p:spPr>
          <a:xfrm>
            <a:off x="6355080" y="4114800"/>
            <a:ext cx="5349240" cy="658368"/>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14 Feb 2002  </a:t>
            </a:r>
            <a:pPr indent="0" marL="0">
              <a:spcAft>
                <a:spcPts val="600"/>
              </a:spcAft>
              <a:buNone/>
            </a:pPr>
            <a:r>
              <a:rPr lang="en-US" sz="1400" dirty="0">
                <a:solidFill>
                  <a:srgbClr val="2B2B2B"/>
                </a:solidFill>
                <a:latin typeface="Arial" pitchFamily="34" charset="0"/>
                <a:ea typeface="Arial" pitchFamily="34" charset="-122"/>
                <a:cs typeface="Arial" pitchFamily="34" charset="-120"/>
              </a:rPr>
              <a:t>MI: menteri luar negeri yang sedang menjabat kebal penuh dari yurisdiksi pidana negara lain.</a:t>
            </a:r>
            <a:endParaRPr lang="en-US" sz="1400" dirty="0"/>
          </a:p>
        </p:txBody>
      </p:sp>
      <p:sp>
        <p:nvSpPr>
          <p:cNvPr id="16" name="Text 14"/>
          <p:cNvSpPr txBox="1"/>
          <p:nvPr/>
        </p:nvSpPr>
        <p:spPr>
          <a:xfrm>
            <a:off x="6355080" y="4800600"/>
            <a:ext cx="5349240" cy="658368"/>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Akibatnya  </a:t>
            </a:r>
            <a:pPr indent="0" marL="0">
              <a:spcAft>
                <a:spcPts val="600"/>
              </a:spcAft>
              <a:buNone/>
            </a:pPr>
            <a:r>
              <a:rPr lang="en-US" sz="1400" dirty="0">
                <a:solidFill>
                  <a:srgbClr val="2B2B2B"/>
                </a:solidFill>
                <a:latin typeface="Arial" pitchFamily="34" charset="0"/>
                <a:ea typeface="Arial" pitchFamily="34" charset="-122"/>
                <a:cs typeface="Arial" pitchFamily="34" charset="-120"/>
              </a:rPr>
              <a:t>Belgia wajib membatalkan surat penangkapan itu.</a:t>
            </a:r>
            <a:endParaRPr lang="en-US" sz="1400" dirty="0"/>
          </a:p>
        </p:txBody>
      </p:sp>
      <p:sp>
        <p:nvSpPr>
          <p:cNvPr id="17" name="Shape 15"/>
          <p:cNvSpPr/>
          <p:nvPr/>
        </p:nvSpPr>
        <p:spPr>
          <a:xfrm>
            <a:off x="502920" y="5596128"/>
            <a:ext cx="11183112" cy="0"/>
          </a:xfrm>
          <a:prstGeom prst="line">
            <a:avLst/>
          </a:prstGeom>
          <a:noFill/>
          <a:ln w="12700">
            <a:solidFill>
              <a:srgbClr val="D9D2CB"/>
            </a:solidFill>
            <a:prstDash val="solid"/>
          </a:ln>
        </p:spPr>
      </p:sp>
      <p:sp>
        <p:nvSpPr>
          <p:cNvPr id="18" name="Text 16"/>
          <p:cNvSpPr txBox="1"/>
          <p:nvPr/>
        </p:nvSpPr>
        <p:spPr>
          <a:xfrm>
            <a:off x="502920" y="5687568"/>
            <a:ext cx="11155680" cy="548640"/>
          </a:xfrm>
          <a:prstGeom prst="rect">
            <a:avLst/>
          </a:prstGeom>
          <a:noFill/>
          <a:ln/>
        </p:spPr>
        <p:txBody>
          <a:bodyPr wrap="square" lIns="0" tIns="0" rIns="0" bIns="0" rtlCol="0" anchor="t"/>
          <a:lstStyle/>
          <a:p>
            <a:pPr indent="0" marL="0">
              <a:spcAft>
                <a:spcPts val="600"/>
              </a:spcAft>
              <a:buNone/>
            </a:pPr>
            <a:r>
              <a:rPr lang="en-US" sz="1700" i="1" dirty="0">
                <a:solidFill>
                  <a:srgbClr val="7A1220"/>
                </a:solidFill>
                <a:latin typeface="Georgia" pitchFamily="34" charset="0"/>
                <a:ea typeface="Georgia" pitchFamily="34" charset="-122"/>
                <a:cs typeface="Georgia" pitchFamily="34" charset="-120"/>
              </a:rPr>
              <a:t>Yurisdiksi universal itu nyata, tetapi bisa tertahan oleh imunitas pejabat yang masih menjabat.</a:t>
            </a:r>
            <a:endParaRPr lang="en-US" sz="1700" dirty="0"/>
          </a:p>
        </p:txBody>
      </p:sp>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02920" y="896112"/>
            <a:ext cx="11155680" cy="274320"/>
          </a:xfrm>
          <a:prstGeom prst="rect">
            <a:avLst/>
          </a:prstGeom>
          <a:noFill/>
          <a:ln/>
        </p:spPr>
        <p:txBody>
          <a:bodyPr wrap="square" lIns="0" tIns="0" rIns="0" bIns="0" rtlCol="0" anchor="t"/>
          <a:lstStyle/>
          <a:p>
            <a:pPr indent="0" marL="0">
              <a:buNone/>
            </a:pPr>
            <a:r>
              <a:rPr lang="en-US" sz="1200" b="1" spc="200" kern="0" dirty="0">
                <a:solidFill>
                  <a:srgbClr val="7A1220"/>
                </a:solidFill>
                <a:latin typeface="Arial" pitchFamily="34" charset="0"/>
                <a:ea typeface="Arial" pitchFamily="34" charset="-122"/>
                <a:cs typeface="Arial" pitchFamily="34" charset="-120"/>
              </a:rPr>
              <a:t>PENGAKUAN NEGARA</a:t>
            </a:r>
            <a:endParaRPr lang="en-US" sz="1200" dirty="0"/>
          </a:p>
        </p:txBody>
      </p:sp>
      <p:sp>
        <p:nvSpPr>
          <p:cNvPr id="3" name="Text 1"/>
          <p:cNvSpPr txBox="1"/>
          <p:nvPr/>
        </p:nvSpPr>
        <p:spPr>
          <a:xfrm>
            <a:off x="502920" y="1152144"/>
            <a:ext cx="11183112" cy="640080"/>
          </a:xfrm>
          <a:prstGeom prst="rect">
            <a:avLst/>
          </a:prstGeom>
          <a:noFill/>
          <a:ln/>
        </p:spPr>
        <p:txBody>
          <a:bodyPr wrap="square" lIns="0" tIns="0" rIns="0" bIns="0" rtlCol="0" anchor="ctr"/>
          <a:lstStyle/>
          <a:p>
            <a:pPr indent="0" marL="0">
              <a:buNone/>
            </a:pPr>
            <a:r>
              <a:rPr lang="en-US" sz="2800" b="1" dirty="0">
                <a:solidFill>
                  <a:srgbClr val="7A1220"/>
                </a:solidFill>
                <a:latin typeface="Georgia" pitchFamily="34" charset="0"/>
                <a:ea typeface="Georgia" pitchFamily="34" charset="-122"/>
                <a:cs typeface="Georgia" pitchFamily="34" charset="-120"/>
              </a:rPr>
              <a:t>Belum Diakui, Apakah Tetap Negara?</a:t>
            </a:r>
            <a:endParaRPr lang="en-US" sz="2800" dirty="0"/>
          </a:p>
        </p:txBody>
      </p:sp>
      <p:sp>
        <p:nvSpPr>
          <p:cNvPr id="4" name="Shape 2"/>
          <p:cNvSpPr/>
          <p:nvPr/>
        </p:nvSpPr>
        <p:spPr>
          <a:xfrm>
            <a:off x="777240" y="2331720"/>
            <a:ext cx="10607040" cy="0"/>
          </a:xfrm>
          <a:prstGeom prst="line">
            <a:avLst/>
          </a:prstGeom>
          <a:noFill/>
          <a:ln w="19050">
            <a:solidFill>
              <a:srgbClr val="5F5F5F"/>
            </a:solidFill>
            <a:prstDash val="solid"/>
          </a:ln>
        </p:spPr>
      </p:sp>
      <p:sp>
        <p:nvSpPr>
          <p:cNvPr id="5" name="Shape 3"/>
          <p:cNvSpPr/>
          <p:nvPr/>
        </p:nvSpPr>
        <p:spPr>
          <a:xfrm>
            <a:off x="685800" y="2240280"/>
            <a:ext cx="182880" cy="182880"/>
          </a:xfrm>
          <a:prstGeom prst="ellipse">
            <a:avLst/>
          </a:prstGeom>
          <a:solidFill>
            <a:srgbClr val="5F5F5F"/>
          </a:solidFill>
          <a:ln w="12700">
            <a:solidFill>
              <a:srgbClr val="5F5F5F"/>
            </a:solidFill>
            <a:prstDash val="solid"/>
          </a:ln>
        </p:spPr>
      </p:sp>
      <p:sp>
        <p:nvSpPr>
          <p:cNvPr id="6" name="Shape 4"/>
          <p:cNvSpPr/>
          <p:nvPr/>
        </p:nvSpPr>
        <p:spPr>
          <a:xfrm>
            <a:off x="11292840" y="2240280"/>
            <a:ext cx="182880" cy="182880"/>
          </a:xfrm>
          <a:prstGeom prst="ellipse">
            <a:avLst/>
          </a:prstGeom>
          <a:solidFill>
            <a:srgbClr val="5F5F5F"/>
          </a:solidFill>
          <a:ln w="12700">
            <a:solidFill>
              <a:srgbClr val="5F5F5F"/>
            </a:solidFill>
            <a:prstDash val="solid"/>
          </a:ln>
        </p:spPr>
      </p:sp>
      <p:sp>
        <p:nvSpPr>
          <p:cNvPr id="7" name="Text 5"/>
          <p:cNvSpPr txBox="1"/>
          <p:nvPr/>
        </p:nvSpPr>
        <p:spPr>
          <a:xfrm>
            <a:off x="502920" y="2514600"/>
            <a:ext cx="3931920" cy="914400"/>
          </a:xfrm>
          <a:prstGeom prst="rect">
            <a:avLst/>
          </a:prstGeom>
          <a:noFill/>
          <a:ln/>
        </p:spPr>
        <p:txBody>
          <a:bodyPr wrap="square" lIns="0" tIns="0" rIns="0" bIns="0" rtlCol="0" anchor="t"/>
          <a:lstStyle/>
          <a:p>
            <a:pPr indent="0" marL="0">
              <a:spcAft>
                <a:spcPts val="600"/>
              </a:spcAft>
              <a:buNone/>
            </a:pPr>
            <a:r>
              <a:rPr lang="en-US" sz="1400" b="1" dirty="0">
                <a:solidFill>
                  <a:srgbClr val="5F5F5F"/>
                </a:solidFill>
                <a:latin typeface="Arial" pitchFamily="34" charset="0"/>
                <a:ea typeface="Arial" pitchFamily="34" charset="-122"/>
                <a:cs typeface="Arial" pitchFamily="34" charset="-120"/>
              </a:rPr>
              <a:t>Teori konstitutif</a:t>
            </a:r>
            <a:endParaRPr lang="en-US" sz="1400" dirty="0"/>
          </a:p>
          <a:p>
            <a:pPr indent="0" marL="0">
              <a:spcAft>
                <a:spcPts val="600"/>
              </a:spcAft>
              <a:buNone/>
            </a:pPr>
            <a:r>
              <a:rPr lang="en-US" sz="1400" dirty="0">
                <a:solidFill>
                  <a:srgbClr val="2B2B2B"/>
                </a:solidFill>
                <a:latin typeface="Arial" pitchFamily="34" charset="0"/>
                <a:ea typeface="Arial" pitchFamily="34" charset="-122"/>
                <a:cs typeface="Arial" pitchFamily="34" charset="-120"/>
              </a:rPr>
              <a:t>Negara baru menjadi subjek hukum internasional setelah diakui negara lain.</a:t>
            </a:r>
            <a:endParaRPr lang="en-US" sz="1400" dirty="0"/>
          </a:p>
        </p:txBody>
      </p:sp>
      <p:sp>
        <p:nvSpPr>
          <p:cNvPr id="8" name="Text 6"/>
          <p:cNvSpPr txBox="1"/>
          <p:nvPr/>
        </p:nvSpPr>
        <p:spPr>
          <a:xfrm>
            <a:off x="7726680" y="2514600"/>
            <a:ext cx="3931920" cy="914400"/>
          </a:xfrm>
          <a:prstGeom prst="rect">
            <a:avLst/>
          </a:prstGeom>
          <a:noFill/>
          <a:ln/>
        </p:spPr>
        <p:txBody>
          <a:bodyPr wrap="square" lIns="0" tIns="0" rIns="0" bIns="0" rtlCol="0" anchor="t"/>
          <a:lstStyle/>
          <a:p>
            <a:pPr algn="r" indent="0" marL="0">
              <a:spcAft>
                <a:spcPts val="600"/>
              </a:spcAft>
              <a:buNone/>
            </a:pPr>
            <a:r>
              <a:rPr lang="en-US" sz="1400" b="1" dirty="0">
                <a:solidFill>
                  <a:srgbClr val="7A1220"/>
                </a:solidFill>
                <a:latin typeface="Arial" pitchFamily="34" charset="0"/>
                <a:ea typeface="Arial" pitchFamily="34" charset="-122"/>
                <a:cs typeface="Arial" pitchFamily="34" charset="-120"/>
              </a:rPr>
              <a:t>Teori deklaratif</a:t>
            </a:r>
            <a:endParaRPr lang="en-US" sz="1400" dirty="0"/>
          </a:p>
          <a:p>
            <a:pPr algn="r" indent="0" marL="0">
              <a:spcAft>
                <a:spcPts val="600"/>
              </a:spcAft>
              <a:buNone/>
            </a:pPr>
            <a:r>
              <a:rPr lang="en-US" sz="1400" dirty="0">
                <a:solidFill>
                  <a:srgbClr val="2B2B2B"/>
                </a:solidFill>
                <a:latin typeface="Arial" pitchFamily="34" charset="0"/>
                <a:ea typeface="Arial" pitchFamily="34" charset="-122"/>
                <a:cs typeface="Arial" pitchFamily="34" charset="-120"/>
              </a:rPr>
              <a:t>Negara ada begitu unsurnya terpenuhi; pengakuan hanya menegaskan.</a:t>
            </a:r>
            <a:endParaRPr lang="en-US" sz="1400" dirty="0"/>
          </a:p>
        </p:txBody>
      </p:sp>
      <p:sp>
        <p:nvSpPr>
          <p:cNvPr id="9" name="Shape 7"/>
          <p:cNvSpPr/>
          <p:nvPr/>
        </p:nvSpPr>
        <p:spPr>
          <a:xfrm>
            <a:off x="9601200" y="2212848"/>
            <a:ext cx="237744" cy="237744"/>
          </a:xfrm>
          <a:prstGeom prst="ellipse">
            <a:avLst/>
          </a:prstGeom>
          <a:solidFill>
            <a:srgbClr val="7A1220"/>
          </a:solidFill>
          <a:ln w="12700">
            <a:solidFill>
              <a:srgbClr val="7A1220"/>
            </a:solidFill>
            <a:prstDash val="solid"/>
          </a:ln>
        </p:spPr>
      </p:sp>
      <p:sp>
        <p:nvSpPr>
          <p:cNvPr id="10" name="Text 8"/>
          <p:cNvSpPr txBox="1"/>
          <p:nvPr/>
        </p:nvSpPr>
        <p:spPr>
          <a:xfrm>
            <a:off x="6583680" y="1874520"/>
            <a:ext cx="5120640" cy="274320"/>
          </a:xfrm>
          <a:prstGeom prst="rect">
            <a:avLst/>
          </a:prstGeom>
          <a:noFill/>
          <a:ln/>
        </p:spPr>
        <p:txBody>
          <a:bodyPr wrap="square" lIns="0" tIns="0" rIns="0" bIns="0" rtlCol="0" anchor="t"/>
          <a:lstStyle/>
          <a:p>
            <a:pPr algn="r" indent="0" marL="0">
              <a:spcAft>
                <a:spcPts val="600"/>
              </a:spcAft>
              <a:buNone/>
            </a:pPr>
            <a:r>
              <a:rPr lang="en-US" sz="1200" i="1" dirty="0">
                <a:solidFill>
                  <a:srgbClr val="7A1220"/>
                </a:solidFill>
                <a:latin typeface="Arial" pitchFamily="34" charset="0"/>
                <a:ea typeface="Arial" pitchFamily="34" charset="-122"/>
                <a:cs typeface="Arial" pitchFamily="34" charset="-120"/>
              </a:rPr>
              <a:t>Pasal 3 Konvensi Montevideo 1933 berpihak ke sini</a:t>
            </a:r>
            <a:endParaRPr lang="en-US" sz="1200" dirty="0"/>
          </a:p>
        </p:txBody>
      </p:sp>
      <p:sp>
        <p:nvSpPr>
          <p:cNvPr id="11" name="Shape 9"/>
          <p:cNvSpPr/>
          <p:nvPr/>
        </p:nvSpPr>
        <p:spPr>
          <a:xfrm>
            <a:off x="502920" y="3611880"/>
            <a:ext cx="11183112" cy="0"/>
          </a:xfrm>
          <a:prstGeom prst="line">
            <a:avLst/>
          </a:prstGeom>
          <a:noFill/>
          <a:ln w="12700">
            <a:solidFill>
              <a:srgbClr val="D9D2CB"/>
            </a:solidFill>
            <a:prstDash val="solid"/>
          </a:ln>
        </p:spPr>
      </p:sp>
      <p:sp>
        <p:nvSpPr>
          <p:cNvPr id="12" name="Text 10"/>
          <p:cNvSpPr txBox="1"/>
          <p:nvPr/>
        </p:nvSpPr>
        <p:spPr>
          <a:xfrm>
            <a:off x="502920" y="3749040"/>
            <a:ext cx="3520440" cy="411480"/>
          </a:xfrm>
          <a:prstGeom prst="rect">
            <a:avLst/>
          </a:prstGeom>
          <a:noFill/>
          <a:ln/>
        </p:spPr>
        <p:txBody>
          <a:bodyPr wrap="square" lIns="0" tIns="0" rIns="0" bIns="0" rtlCol="0" anchor="t"/>
          <a:lstStyle/>
          <a:p>
            <a:pPr indent="0" marL="0">
              <a:spcAft>
                <a:spcPts val="600"/>
              </a:spcAft>
              <a:buNone/>
            </a:pPr>
            <a:r>
              <a:rPr lang="en-US" sz="1900" b="1" dirty="0">
                <a:solidFill>
                  <a:srgbClr val="7A1220"/>
                </a:solidFill>
                <a:latin typeface="Georgia" pitchFamily="34" charset="0"/>
                <a:ea typeface="Georgia" pitchFamily="34" charset="-122"/>
                <a:cs typeface="Georgia" pitchFamily="34" charset="-120"/>
              </a:rPr>
              <a:t>Palestina</a:t>
            </a:r>
            <a:endParaRPr lang="en-US" sz="1900" dirty="0"/>
          </a:p>
        </p:txBody>
      </p:sp>
      <p:sp>
        <p:nvSpPr>
          <p:cNvPr id="13" name="Text 11"/>
          <p:cNvSpPr txBox="1"/>
          <p:nvPr/>
        </p:nvSpPr>
        <p:spPr>
          <a:xfrm>
            <a:off x="502920" y="4206240"/>
            <a:ext cx="3520440" cy="201168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Indonesia mengakui sejak 16 November 1988. Pada September 2025, Inggris, Kanada, Australia, Prancis, dan beberapa negara lain ikut mengakui; jumlahnya menjadi 157 dari 193 anggota PBB.</a:t>
            </a:r>
            <a:endParaRPr lang="en-US" sz="1400" dirty="0"/>
          </a:p>
        </p:txBody>
      </p:sp>
      <p:sp>
        <p:nvSpPr>
          <p:cNvPr id="14" name="Shape 12"/>
          <p:cNvSpPr/>
          <p:nvPr/>
        </p:nvSpPr>
        <p:spPr>
          <a:xfrm>
            <a:off x="4114800" y="3794760"/>
            <a:ext cx="0" cy="2423160"/>
          </a:xfrm>
          <a:prstGeom prst="line">
            <a:avLst/>
          </a:prstGeom>
          <a:noFill/>
          <a:ln w="12700">
            <a:solidFill>
              <a:srgbClr val="D9D2CB"/>
            </a:solidFill>
            <a:prstDash val="solid"/>
          </a:ln>
        </p:spPr>
      </p:sp>
      <p:sp>
        <p:nvSpPr>
          <p:cNvPr id="15" name="Text 13"/>
          <p:cNvSpPr txBox="1"/>
          <p:nvPr/>
        </p:nvSpPr>
        <p:spPr>
          <a:xfrm>
            <a:off x="4297680" y="3749040"/>
            <a:ext cx="3520440" cy="411480"/>
          </a:xfrm>
          <a:prstGeom prst="rect">
            <a:avLst/>
          </a:prstGeom>
          <a:noFill/>
          <a:ln/>
        </p:spPr>
        <p:txBody>
          <a:bodyPr wrap="square" lIns="0" tIns="0" rIns="0" bIns="0" rtlCol="0" anchor="t"/>
          <a:lstStyle/>
          <a:p>
            <a:pPr indent="0" marL="0">
              <a:spcAft>
                <a:spcPts val="600"/>
              </a:spcAft>
              <a:buNone/>
            </a:pPr>
            <a:r>
              <a:rPr lang="en-US" sz="1900" b="1" dirty="0">
                <a:solidFill>
                  <a:srgbClr val="7A1220"/>
                </a:solidFill>
                <a:latin typeface="Georgia" pitchFamily="34" charset="0"/>
                <a:ea typeface="Georgia" pitchFamily="34" charset="-122"/>
                <a:cs typeface="Georgia" pitchFamily="34" charset="-120"/>
              </a:rPr>
              <a:t>Kosovo</a:t>
            </a:r>
            <a:endParaRPr lang="en-US" sz="1900" dirty="0"/>
          </a:p>
        </p:txBody>
      </p:sp>
      <p:sp>
        <p:nvSpPr>
          <p:cNvPr id="16" name="Text 14"/>
          <p:cNvSpPr txBox="1"/>
          <p:nvPr/>
        </p:nvSpPr>
        <p:spPr>
          <a:xfrm>
            <a:off x="4297680" y="4206240"/>
            <a:ext cx="3520440" cy="201168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Menyatakan merdeka 17 Februari 2008. MI (22 Juli 2010): deklarasi itu tidak melanggar hukum internasional. Indonesia belum mengakui.</a:t>
            </a:r>
            <a:endParaRPr lang="en-US" sz="1400" dirty="0"/>
          </a:p>
        </p:txBody>
      </p:sp>
      <p:sp>
        <p:nvSpPr>
          <p:cNvPr id="17" name="Shape 15"/>
          <p:cNvSpPr/>
          <p:nvPr/>
        </p:nvSpPr>
        <p:spPr>
          <a:xfrm>
            <a:off x="7909560" y="3794760"/>
            <a:ext cx="0" cy="2423160"/>
          </a:xfrm>
          <a:prstGeom prst="line">
            <a:avLst/>
          </a:prstGeom>
          <a:noFill/>
          <a:ln w="12700">
            <a:solidFill>
              <a:srgbClr val="D9D2CB"/>
            </a:solidFill>
            <a:prstDash val="solid"/>
          </a:ln>
        </p:spPr>
      </p:sp>
      <p:sp>
        <p:nvSpPr>
          <p:cNvPr id="18" name="Text 16"/>
          <p:cNvSpPr txBox="1"/>
          <p:nvPr/>
        </p:nvSpPr>
        <p:spPr>
          <a:xfrm>
            <a:off x="8092440" y="3749040"/>
            <a:ext cx="3520440" cy="411480"/>
          </a:xfrm>
          <a:prstGeom prst="rect">
            <a:avLst/>
          </a:prstGeom>
          <a:noFill/>
          <a:ln/>
        </p:spPr>
        <p:txBody>
          <a:bodyPr wrap="square" lIns="0" tIns="0" rIns="0" bIns="0" rtlCol="0" anchor="t"/>
          <a:lstStyle/>
          <a:p>
            <a:pPr indent="0" marL="0">
              <a:spcAft>
                <a:spcPts val="600"/>
              </a:spcAft>
              <a:buNone/>
            </a:pPr>
            <a:r>
              <a:rPr lang="en-US" sz="1900" b="1" dirty="0">
                <a:solidFill>
                  <a:srgbClr val="7A1220"/>
                </a:solidFill>
                <a:latin typeface="Georgia" pitchFamily="34" charset="0"/>
                <a:ea typeface="Georgia" pitchFamily="34" charset="-122"/>
                <a:cs typeface="Georgia" pitchFamily="34" charset="-120"/>
              </a:rPr>
              <a:t>Afghanistan</a:t>
            </a:r>
            <a:endParaRPr lang="en-US" sz="1900" dirty="0"/>
          </a:p>
        </p:txBody>
      </p:sp>
      <p:sp>
        <p:nvSpPr>
          <p:cNvPr id="19" name="Text 17"/>
          <p:cNvSpPr txBox="1"/>
          <p:nvPr/>
        </p:nvSpPr>
        <p:spPr>
          <a:xfrm>
            <a:off x="8092440" y="4206240"/>
            <a:ext cx="3520440" cy="201168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Ini pengakuan pemerintah, bukan negara. Taliban berkuasa sejak Agustus 2021; Rusia menjadi negara pertama yang mengakuinya (3 Juli 2025).</a:t>
            </a:r>
            <a:endParaRPr lang="en-US" sz="1400" dirty="0"/>
          </a:p>
        </p:txBody>
      </p:sp>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02920" y="896112"/>
            <a:ext cx="11155680" cy="274320"/>
          </a:xfrm>
          <a:prstGeom prst="rect">
            <a:avLst/>
          </a:prstGeom>
          <a:noFill/>
          <a:ln/>
        </p:spPr>
        <p:txBody>
          <a:bodyPr wrap="square" lIns="0" tIns="0" rIns="0" bIns="0" rtlCol="0" anchor="t"/>
          <a:lstStyle/>
          <a:p>
            <a:pPr indent="0" marL="0">
              <a:buNone/>
            </a:pPr>
            <a:r>
              <a:rPr lang="en-US" sz="1200" b="1" spc="200" kern="0" dirty="0">
                <a:solidFill>
                  <a:srgbClr val="7A1220"/>
                </a:solidFill>
                <a:latin typeface="Arial" pitchFamily="34" charset="0"/>
                <a:ea typeface="Arial" pitchFamily="34" charset="-122"/>
                <a:cs typeface="Arial" pitchFamily="34" charset="-120"/>
              </a:rPr>
              <a:t>SYARAT DAN AKIBAT</a:t>
            </a:r>
            <a:endParaRPr lang="en-US" sz="1200" dirty="0"/>
          </a:p>
        </p:txBody>
      </p:sp>
      <p:sp>
        <p:nvSpPr>
          <p:cNvPr id="3" name="Text 1"/>
          <p:cNvSpPr txBox="1"/>
          <p:nvPr/>
        </p:nvSpPr>
        <p:spPr>
          <a:xfrm>
            <a:off x="502920" y="1152144"/>
            <a:ext cx="11183112" cy="640080"/>
          </a:xfrm>
          <a:prstGeom prst="rect">
            <a:avLst/>
          </a:prstGeom>
          <a:noFill/>
          <a:ln/>
        </p:spPr>
        <p:txBody>
          <a:bodyPr wrap="square" lIns="0" tIns="0" rIns="0" bIns="0" rtlCol="0" anchor="ctr"/>
          <a:lstStyle/>
          <a:p>
            <a:pPr indent="0" marL="0">
              <a:buNone/>
            </a:pPr>
            <a:r>
              <a:rPr lang="en-US" sz="2800" b="1" dirty="0">
                <a:solidFill>
                  <a:srgbClr val="7A1220"/>
                </a:solidFill>
                <a:latin typeface="Georgia" pitchFamily="34" charset="0"/>
                <a:ea typeface="Georgia" pitchFamily="34" charset="-122"/>
                <a:cs typeface="Georgia" pitchFamily="34" charset="-120"/>
              </a:rPr>
              <a:t>Bentuk dan Akibat Hukum Pengakuan</a:t>
            </a:r>
            <a:endParaRPr lang="en-US" sz="2800" dirty="0"/>
          </a:p>
        </p:txBody>
      </p:sp>
      <p:sp>
        <p:nvSpPr>
          <p:cNvPr id="4" name="Text 2"/>
          <p:cNvSpPr txBox="1"/>
          <p:nvPr/>
        </p:nvSpPr>
        <p:spPr>
          <a:xfrm>
            <a:off x="502920" y="1920240"/>
            <a:ext cx="5486400" cy="274320"/>
          </a:xfrm>
          <a:prstGeom prst="rect">
            <a:avLst/>
          </a:prstGeom>
          <a:noFill/>
          <a:ln/>
        </p:spPr>
        <p:txBody>
          <a:bodyPr wrap="square" lIns="0" tIns="0" rIns="0" bIns="0" rtlCol="0" anchor="t"/>
          <a:lstStyle/>
          <a:p>
            <a:pPr indent="0" marL="0">
              <a:spcAft>
                <a:spcPts val="600"/>
              </a:spcAft>
              <a:buNone/>
            </a:pPr>
            <a:r>
              <a:rPr lang="en-US" sz="1200" b="1" spc="200" kern="0" dirty="0">
                <a:solidFill>
                  <a:srgbClr val="5F5F5F"/>
                </a:solidFill>
                <a:latin typeface="Arial" pitchFamily="34" charset="0"/>
                <a:ea typeface="Arial" pitchFamily="34" charset="-122"/>
                <a:cs typeface="Arial" pitchFamily="34" charset="-120"/>
              </a:rPr>
              <a:t>BENTUKNYA</a:t>
            </a:r>
            <a:endParaRPr lang="en-US" sz="1200" dirty="0"/>
          </a:p>
        </p:txBody>
      </p:sp>
      <p:sp>
        <p:nvSpPr>
          <p:cNvPr id="5" name="Shape 3"/>
          <p:cNvSpPr/>
          <p:nvPr/>
        </p:nvSpPr>
        <p:spPr>
          <a:xfrm>
            <a:off x="3291840" y="2286000"/>
            <a:ext cx="0" cy="3566160"/>
          </a:xfrm>
          <a:prstGeom prst="line">
            <a:avLst/>
          </a:prstGeom>
          <a:noFill/>
          <a:ln w="12700">
            <a:solidFill>
              <a:srgbClr val="D9D2CB"/>
            </a:solidFill>
            <a:prstDash val="solid"/>
          </a:ln>
        </p:spPr>
      </p:sp>
      <p:sp>
        <p:nvSpPr>
          <p:cNvPr id="6" name="Shape 4"/>
          <p:cNvSpPr/>
          <p:nvPr/>
        </p:nvSpPr>
        <p:spPr>
          <a:xfrm>
            <a:off x="502920" y="4069080"/>
            <a:ext cx="5577840" cy="0"/>
          </a:xfrm>
          <a:prstGeom prst="line">
            <a:avLst/>
          </a:prstGeom>
          <a:noFill/>
          <a:ln w="12700">
            <a:solidFill>
              <a:srgbClr val="D9D2CB"/>
            </a:solidFill>
            <a:prstDash val="solid"/>
          </a:ln>
        </p:spPr>
      </p:sp>
      <p:sp>
        <p:nvSpPr>
          <p:cNvPr id="7" name="Text 5"/>
          <p:cNvSpPr txBox="1"/>
          <p:nvPr/>
        </p:nvSpPr>
        <p:spPr>
          <a:xfrm>
            <a:off x="502920" y="2286000"/>
            <a:ext cx="2560320" cy="457200"/>
          </a:xfrm>
          <a:prstGeom prst="rect">
            <a:avLst/>
          </a:prstGeom>
          <a:noFill/>
          <a:ln/>
        </p:spPr>
        <p:txBody>
          <a:bodyPr wrap="square" lIns="0" tIns="0" rIns="0" bIns="0" rtlCol="0" anchor="t"/>
          <a:lstStyle/>
          <a:p>
            <a:pPr indent="0" marL="0">
              <a:spcAft>
                <a:spcPts val="600"/>
              </a:spcAft>
              <a:buNone/>
            </a:pPr>
            <a:r>
              <a:rPr lang="en-US" sz="2100" b="1" dirty="0">
                <a:solidFill>
                  <a:srgbClr val="7A1220"/>
                </a:solidFill>
                <a:latin typeface="Georgia" pitchFamily="34" charset="0"/>
                <a:ea typeface="Georgia" pitchFamily="34" charset="-122"/>
                <a:cs typeface="Georgia" pitchFamily="34" charset="-120"/>
              </a:rPr>
              <a:t>De jure</a:t>
            </a:r>
            <a:endParaRPr lang="en-US" sz="2100" dirty="0"/>
          </a:p>
        </p:txBody>
      </p:sp>
      <p:sp>
        <p:nvSpPr>
          <p:cNvPr id="8" name="Text 6"/>
          <p:cNvSpPr txBox="1"/>
          <p:nvPr/>
        </p:nvSpPr>
        <p:spPr>
          <a:xfrm>
            <a:off x="502920" y="2788920"/>
            <a:ext cx="2560320" cy="114300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Pengakuan penuh dan permanen.</a:t>
            </a:r>
            <a:endParaRPr lang="en-US" sz="1400" dirty="0"/>
          </a:p>
        </p:txBody>
      </p:sp>
      <p:sp>
        <p:nvSpPr>
          <p:cNvPr id="9" name="Text 7"/>
          <p:cNvSpPr txBox="1"/>
          <p:nvPr/>
        </p:nvSpPr>
        <p:spPr>
          <a:xfrm>
            <a:off x="3520440" y="2286000"/>
            <a:ext cx="2560320" cy="457200"/>
          </a:xfrm>
          <a:prstGeom prst="rect">
            <a:avLst/>
          </a:prstGeom>
          <a:noFill/>
          <a:ln/>
        </p:spPr>
        <p:txBody>
          <a:bodyPr wrap="square" lIns="0" tIns="0" rIns="0" bIns="0" rtlCol="0" anchor="t"/>
          <a:lstStyle/>
          <a:p>
            <a:pPr indent="0" marL="0">
              <a:spcAft>
                <a:spcPts val="600"/>
              </a:spcAft>
              <a:buNone/>
            </a:pPr>
            <a:r>
              <a:rPr lang="en-US" sz="2100" b="1" dirty="0">
                <a:solidFill>
                  <a:srgbClr val="7A1220"/>
                </a:solidFill>
                <a:latin typeface="Georgia" pitchFamily="34" charset="0"/>
                <a:ea typeface="Georgia" pitchFamily="34" charset="-122"/>
                <a:cs typeface="Georgia" pitchFamily="34" charset="-120"/>
              </a:rPr>
              <a:t>De facto</a:t>
            </a:r>
            <a:endParaRPr lang="en-US" sz="2100" dirty="0"/>
          </a:p>
        </p:txBody>
      </p:sp>
      <p:sp>
        <p:nvSpPr>
          <p:cNvPr id="10" name="Text 8"/>
          <p:cNvSpPr txBox="1"/>
          <p:nvPr/>
        </p:nvSpPr>
        <p:spPr>
          <a:xfrm>
            <a:off x="3520440" y="2788920"/>
            <a:ext cx="2560320" cy="114300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Sementara dan hati-hati, misalnya karena pemerintahan belum stabil.</a:t>
            </a:r>
            <a:endParaRPr lang="en-US" sz="1400" dirty="0"/>
          </a:p>
        </p:txBody>
      </p:sp>
      <p:sp>
        <p:nvSpPr>
          <p:cNvPr id="11" name="Text 9"/>
          <p:cNvSpPr txBox="1"/>
          <p:nvPr/>
        </p:nvSpPr>
        <p:spPr>
          <a:xfrm>
            <a:off x="502920" y="4206240"/>
            <a:ext cx="2560320" cy="457200"/>
          </a:xfrm>
          <a:prstGeom prst="rect">
            <a:avLst/>
          </a:prstGeom>
          <a:noFill/>
          <a:ln/>
        </p:spPr>
        <p:txBody>
          <a:bodyPr wrap="square" lIns="0" tIns="0" rIns="0" bIns="0" rtlCol="0" anchor="t"/>
          <a:lstStyle/>
          <a:p>
            <a:pPr indent="0" marL="0">
              <a:spcAft>
                <a:spcPts val="600"/>
              </a:spcAft>
              <a:buNone/>
            </a:pPr>
            <a:r>
              <a:rPr lang="en-US" sz="2100" b="1" dirty="0">
                <a:solidFill>
                  <a:srgbClr val="7A1220"/>
                </a:solidFill>
                <a:latin typeface="Georgia" pitchFamily="34" charset="0"/>
                <a:ea typeface="Georgia" pitchFamily="34" charset="-122"/>
                <a:cs typeface="Georgia" pitchFamily="34" charset="-120"/>
              </a:rPr>
              <a:t>Tegas</a:t>
            </a:r>
            <a:endParaRPr lang="en-US" sz="2100" dirty="0"/>
          </a:p>
        </p:txBody>
      </p:sp>
      <p:sp>
        <p:nvSpPr>
          <p:cNvPr id="12" name="Text 10"/>
          <p:cNvSpPr txBox="1"/>
          <p:nvPr/>
        </p:nvSpPr>
        <p:spPr>
          <a:xfrm>
            <a:off x="502920" y="4709160"/>
            <a:ext cx="2560320" cy="114300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Lewat pernyataan resmi atau nota diplomatik.</a:t>
            </a:r>
            <a:endParaRPr lang="en-US" sz="1400" dirty="0"/>
          </a:p>
        </p:txBody>
      </p:sp>
      <p:sp>
        <p:nvSpPr>
          <p:cNvPr id="13" name="Text 11"/>
          <p:cNvSpPr txBox="1"/>
          <p:nvPr/>
        </p:nvSpPr>
        <p:spPr>
          <a:xfrm>
            <a:off x="3520440" y="4206240"/>
            <a:ext cx="2560320" cy="457200"/>
          </a:xfrm>
          <a:prstGeom prst="rect">
            <a:avLst/>
          </a:prstGeom>
          <a:noFill/>
          <a:ln/>
        </p:spPr>
        <p:txBody>
          <a:bodyPr wrap="square" lIns="0" tIns="0" rIns="0" bIns="0" rtlCol="0" anchor="t"/>
          <a:lstStyle/>
          <a:p>
            <a:pPr indent="0" marL="0">
              <a:spcAft>
                <a:spcPts val="600"/>
              </a:spcAft>
              <a:buNone/>
            </a:pPr>
            <a:r>
              <a:rPr lang="en-US" sz="2100" b="1" dirty="0">
                <a:solidFill>
                  <a:srgbClr val="7A1220"/>
                </a:solidFill>
                <a:latin typeface="Georgia" pitchFamily="34" charset="0"/>
                <a:ea typeface="Georgia" pitchFamily="34" charset="-122"/>
                <a:cs typeface="Georgia" pitchFamily="34" charset="-120"/>
              </a:rPr>
              <a:t>Diam-diam</a:t>
            </a:r>
            <a:endParaRPr lang="en-US" sz="2100" dirty="0"/>
          </a:p>
        </p:txBody>
      </p:sp>
      <p:sp>
        <p:nvSpPr>
          <p:cNvPr id="14" name="Text 12"/>
          <p:cNvSpPr txBox="1"/>
          <p:nvPr/>
        </p:nvSpPr>
        <p:spPr>
          <a:xfrm>
            <a:off x="3520440" y="4709160"/>
            <a:ext cx="2560320" cy="114300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Tersirat dari tindakan, misalnya membuka hubungan diplomatik.</a:t>
            </a:r>
            <a:endParaRPr lang="en-US" sz="1400" dirty="0"/>
          </a:p>
        </p:txBody>
      </p:sp>
      <p:sp>
        <p:nvSpPr>
          <p:cNvPr id="15" name="Shape 13"/>
          <p:cNvSpPr/>
          <p:nvPr/>
        </p:nvSpPr>
        <p:spPr>
          <a:xfrm>
            <a:off x="6400800" y="1965960"/>
            <a:ext cx="0" cy="4251960"/>
          </a:xfrm>
          <a:prstGeom prst="line">
            <a:avLst/>
          </a:prstGeom>
          <a:noFill/>
          <a:ln w="12700">
            <a:solidFill>
              <a:srgbClr val="D9D2CB"/>
            </a:solidFill>
            <a:prstDash val="solid"/>
          </a:ln>
        </p:spPr>
      </p:sp>
      <p:sp>
        <p:nvSpPr>
          <p:cNvPr id="16" name="Text 14"/>
          <p:cNvSpPr txBox="1"/>
          <p:nvPr/>
        </p:nvSpPr>
        <p:spPr>
          <a:xfrm>
            <a:off x="6675120" y="1920240"/>
            <a:ext cx="4937760" cy="274320"/>
          </a:xfrm>
          <a:prstGeom prst="rect">
            <a:avLst/>
          </a:prstGeom>
          <a:noFill/>
          <a:ln/>
        </p:spPr>
        <p:txBody>
          <a:bodyPr wrap="square" lIns="0" tIns="0" rIns="0" bIns="0" rtlCol="0" anchor="t"/>
          <a:lstStyle/>
          <a:p>
            <a:pPr indent="0" marL="0">
              <a:spcAft>
                <a:spcPts val="600"/>
              </a:spcAft>
              <a:buNone/>
            </a:pPr>
            <a:r>
              <a:rPr lang="en-US" sz="1200" b="1" spc="200" kern="0" dirty="0">
                <a:solidFill>
                  <a:srgbClr val="5F5F5F"/>
                </a:solidFill>
                <a:latin typeface="Arial" pitchFamily="34" charset="0"/>
                <a:ea typeface="Arial" pitchFamily="34" charset="-122"/>
                <a:cs typeface="Arial" pitchFamily="34" charset="-120"/>
              </a:rPr>
              <a:t>AKIBAT HUKUMNYA</a:t>
            </a:r>
            <a:endParaRPr lang="en-US" sz="1200" dirty="0"/>
          </a:p>
        </p:txBody>
      </p:sp>
      <p:sp>
        <p:nvSpPr>
          <p:cNvPr id="17" name="Text 15"/>
          <p:cNvSpPr txBox="1"/>
          <p:nvPr/>
        </p:nvSpPr>
        <p:spPr>
          <a:xfrm>
            <a:off x="6675120" y="2286000"/>
            <a:ext cx="411480" cy="457200"/>
          </a:xfrm>
          <a:prstGeom prst="rect">
            <a:avLst/>
          </a:prstGeom>
          <a:noFill/>
          <a:ln/>
        </p:spPr>
        <p:txBody>
          <a:bodyPr wrap="square" lIns="0" tIns="0" rIns="0" bIns="0" rtlCol="0" anchor="t"/>
          <a:lstStyle/>
          <a:p>
            <a:pPr indent="0" marL="0">
              <a:spcAft>
                <a:spcPts val="600"/>
              </a:spcAft>
              <a:buNone/>
            </a:pPr>
            <a:r>
              <a:rPr lang="en-US" sz="2200" b="1" dirty="0">
                <a:solidFill>
                  <a:srgbClr val="7A1220"/>
                </a:solidFill>
                <a:latin typeface="Georgia" pitchFamily="34" charset="0"/>
                <a:ea typeface="Georgia" pitchFamily="34" charset="-122"/>
                <a:cs typeface="Georgia" pitchFamily="34" charset="-120"/>
              </a:rPr>
              <a:t>1</a:t>
            </a:r>
            <a:endParaRPr lang="en-US" sz="2200" dirty="0"/>
          </a:p>
        </p:txBody>
      </p:sp>
      <p:sp>
        <p:nvSpPr>
          <p:cNvPr id="18" name="Text 16"/>
          <p:cNvSpPr txBox="1"/>
          <p:nvPr/>
        </p:nvSpPr>
        <p:spPr>
          <a:xfrm>
            <a:off x="7132320" y="2331720"/>
            <a:ext cx="4526280" cy="91440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Hubungan diplomatik dapat dibuka dan perjanjian bilateral dapat dibuat.</a:t>
            </a:r>
            <a:endParaRPr lang="en-US" sz="1400" dirty="0"/>
          </a:p>
        </p:txBody>
      </p:sp>
      <p:sp>
        <p:nvSpPr>
          <p:cNvPr id="19" name="Text 17"/>
          <p:cNvSpPr txBox="1"/>
          <p:nvPr/>
        </p:nvSpPr>
        <p:spPr>
          <a:xfrm>
            <a:off x="6675120" y="3273552"/>
            <a:ext cx="411480" cy="457200"/>
          </a:xfrm>
          <a:prstGeom prst="rect">
            <a:avLst/>
          </a:prstGeom>
          <a:noFill/>
          <a:ln/>
        </p:spPr>
        <p:txBody>
          <a:bodyPr wrap="square" lIns="0" tIns="0" rIns="0" bIns="0" rtlCol="0" anchor="t"/>
          <a:lstStyle/>
          <a:p>
            <a:pPr indent="0" marL="0">
              <a:spcAft>
                <a:spcPts val="600"/>
              </a:spcAft>
              <a:buNone/>
            </a:pPr>
            <a:r>
              <a:rPr lang="en-US" sz="2200" b="1" dirty="0">
                <a:solidFill>
                  <a:srgbClr val="7A1220"/>
                </a:solidFill>
                <a:latin typeface="Georgia" pitchFamily="34" charset="0"/>
                <a:ea typeface="Georgia" pitchFamily="34" charset="-122"/>
                <a:cs typeface="Georgia" pitchFamily="34" charset="-120"/>
              </a:rPr>
              <a:t>2</a:t>
            </a:r>
            <a:endParaRPr lang="en-US" sz="2200" dirty="0"/>
          </a:p>
        </p:txBody>
      </p:sp>
      <p:sp>
        <p:nvSpPr>
          <p:cNvPr id="20" name="Text 18"/>
          <p:cNvSpPr txBox="1"/>
          <p:nvPr/>
        </p:nvSpPr>
        <p:spPr>
          <a:xfrm>
            <a:off x="7132320" y="3319272"/>
            <a:ext cx="4526280" cy="91440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Negara yang diakui dapat berperkara dan menikmati imunitas di pengadilan negara yang mengakui.</a:t>
            </a:r>
            <a:endParaRPr lang="en-US" sz="1400" dirty="0"/>
          </a:p>
        </p:txBody>
      </p:sp>
      <p:sp>
        <p:nvSpPr>
          <p:cNvPr id="21" name="Text 19"/>
          <p:cNvSpPr txBox="1"/>
          <p:nvPr/>
        </p:nvSpPr>
        <p:spPr>
          <a:xfrm>
            <a:off x="6675120" y="4261104"/>
            <a:ext cx="411480" cy="457200"/>
          </a:xfrm>
          <a:prstGeom prst="rect">
            <a:avLst/>
          </a:prstGeom>
          <a:noFill/>
          <a:ln/>
        </p:spPr>
        <p:txBody>
          <a:bodyPr wrap="square" lIns="0" tIns="0" rIns="0" bIns="0" rtlCol="0" anchor="t"/>
          <a:lstStyle/>
          <a:p>
            <a:pPr indent="0" marL="0">
              <a:spcAft>
                <a:spcPts val="600"/>
              </a:spcAft>
              <a:buNone/>
            </a:pPr>
            <a:r>
              <a:rPr lang="en-US" sz="2200" b="1" dirty="0">
                <a:solidFill>
                  <a:srgbClr val="7A1220"/>
                </a:solidFill>
                <a:latin typeface="Georgia" pitchFamily="34" charset="0"/>
                <a:ea typeface="Georgia" pitchFamily="34" charset="-122"/>
                <a:cs typeface="Georgia" pitchFamily="34" charset="-120"/>
              </a:rPr>
              <a:t>3</a:t>
            </a:r>
            <a:endParaRPr lang="en-US" sz="2200" dirty="0"/>
          </a:p>
        </p:txBody>
      </p:sp>
      <p:sp>
        <p:nvSpPr>
          <p:cNvPr id="22" name="Text 20"/>
          <p:cNvSpPr txBox="1"/>
          <p:nvPr/>
        </p:nvSpPr>
        <p:spPr>
          <a:xfrm>
            <a:off x="7132320" y="4306824"/>
            <a:ext cx="4526280" cy="91440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Undang-undang dan tindakan hukumnya dihormati. Luther v. Sagor (Inggris, 1921): setelah Inggris mengakui pemerintah Soviet, nasionalisasi oleh Soviet diakui sah.</a:t>
            </a:r>
            <a:endParaRPr lang="en-US" sz="1400" dirty="0"/>
          </a:p>
        </p:txBody>
      </p:sp>
      <p:sp>
        <p:nvSpPr>
          <p:cNvPr id="23" name="Text 21"/>
          <p:cNvSpPr txBox="1"/>
          <p:nvPr/>
        </p:nvSpPr>
        <p:spPr>
          <a:xfrm>
            <a:off x="6675120" y="5248656"/>
            <a:ext cx="411480" cy="457200"/>
          </a:xfrm>
          <a:prstGeom prst="rect">
            <a:avLst/>
          </a:prstGeom>
          <a:noFill/>
          <a:ln/>
        </p:spPr>
        <p:txBody>
          <a:bodyPr wrap="square" lIns="0" tIns="0" rIns="0" bIns="0" rtlCol="0" anchor="t"/>
          <a:lstStyle/>
          <a:p>
            <a:pPr indent="0" marL="0">
              <a:spcAft>
                <a:spcPts val="600"/>
              </a:spcAft>
              <a:buNone/>
            </a:pPr>
            <a:r>
              <a:rPr lang="en-US" sz="2200" b="1" dirty="0">
                <a:solidFill>
                  <a:srgbClr val="7A1220"/>
                </a:solidFill>
                <a:latin typeface="Georgia" pitchFamily="34" charset="0"/>
                <a:ea typeface="Georgia" pitchFamily="34" charset="-122"/>
                <a:cs typeface="Georgia" pitchFamily="34" charset="-120"/>
              </a:rPr>
              <a:t>4</a:t>
            </a:r>
            <a:endParaRPr lang="en-US" sz="2200" dirty="0"/>
          </a:p>
        </p:txBody>
      </p:sp>
      <p:sp>
        <p:nvSpPr>
          <p:cNvPr id="24" name="Text 22"/>
          <p:cNvSpPr txBox="1"/>
          <p:nvPr/>
        </p:nvSpPr>
        <p:spPr>
          <a:xfrm>
            <a:off x="7132320" y="5294376"/>
            <a:ext cx="4526280" cy="91440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Pasal 6 Konvensi Montevideo: pengakuan tidak bersyarat dan tidak dapat ditarik kembali.</a:t>
            </a:r>
            <a:endParaRPr lang="en-US" sz="1400" dirty="0"/>
          </a:p>
        </p:txBody>
      </p:sp>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02920" y="896112"/>
            <a:ext cx="11155680" cy="274320"/>
          </a:xfrm>
          <a:prstGeom prst="rect">
            <a:avLst/>
          </a:prstGeom>
          <a:noFill/>
          <a:ln/>
        </p:spPr>
        <p:txBody>
          <a:bodyPr wrap="square" lIns="0" tIns="0" rIns="0" bIns="0" rtlCol="0" anchor="t"/>
          <a:lstStyle/>
          <a:p>
            <a:pPr indent="0" marL="0">
              <a:buNone/>
            </a:pPr>
            <a:r>
              <a:rPr lang="en-US" sz="1200" b="1" spc="200" kern="0" dirty="0">
                <a:solidFill>
                  <a:srgbClr val="7A1220"/>
                </a:solidFill>
                <a:latin typeface="Arial" pitchFamily="34" charset="0"/>
                <a:ea typeface="Arial" pitchFamily="34" charset="-122"/>
                <a:cs typeface="Arial" pitchFamily="34" charset="-120"/>
              </a:rPr>
              <a:t>SEBELUM PULANG</a:t>
            </a:r>
            <a:endParaRPr lang="en-US" sz="1200" dirty="0"/>
          </a:p>
        </p:txBody>
      </p:sp>
      <p:sp>
        <p:nvSpPr>
          <p:cNvPr id="3" name="Text 1"/>
          <p:cNvSpPr txBox="1"/>
          <p:nvPr/>
        </p:nvSpPr>
        <p:spPr>
          <a:xfrm>
            <a:off x="502920" y="1152144"/>
            <a:ext cx="11183112" cy="640080"/>
          </a:xfrm>
          <a:prstGeom prst="rect">
            <a:avLst/>
          </a:prstGeom>
          <a:noFill/>
          <a:ln/>
        </p:spPr>
        <p:txBody>
          <a:bodyPr wrap="square" lIns="0" tIns="0" rIns="0" bIns="0" rtlCol="0" anchor="ctr"/>
          <a:lstStyle/>
          <a:p>
            <a:pPr indent="0" marL="0">
              <a:buNone/>
            </a:pPr>
            <a:r>
              <a:rPr lang="en-US" sz="2800" b="1" dirty="0">
                <a:solidFill>
                  <a:srgbClr val="7A1220"/>
                </a:solidFill>
                <a:latin typeface="Georgia" pitchFamily="34" charset="0"/>
                <a:ea typeface="Georgia" pitchFamily="34" charset="-122"/>
                <a:cs typeface="Georgia" pitchFamily="34" charset="-120"/>
              </a:rPr>
              <a:t>Cek Pemahaman</a:t>
            </a:r>
            <a:endParaRPr lang="en-US" sz="2800" dirty="0"/>
          </a:p>
        </p:txBody>
      </p:sp>
      <p:sp>
        <p:nvSpPr>
          <p:cNvPr id="4" name="Text 2"/>
          <p:cNvSpPr txBox="1"/>
          <p:nvPr/>
        </p:nvSpPr>
        <p:spPr>
          <a:xfrm>
            <a:off x="502920" y="1965960"/>
            <a:ext cx="457200" cy="548640"/>
          </a:xfrm>
          <a:prstGeom prst="rect">
            <a:avLst/>
          </a:prstGeom>
          <a:noFill/>
          <a:ln/>
        </p:spPr>
        <p:txBody>
          <a:bodyPr wrap="square" lIns="0" tIns="0" rIns="0" bIns="0" rtlCol="0" anchor="t"/>
          <a:lstStyle/>
          <a:p>
            <a:pPr indent="0" marL="0">
              <a:spcAft>
                <a:spcPts val="600"/>
              </a:spcAft>
              <a:buNone/>
            </a:pPr>
            <a:r>
              <a:rPr lang="en-US" sz="3000" b="1" dirty="0">
                <a:solidFill>
                  <a:srgbClr val="7A1220"/>
                </a:solidFill>
                <a:latin typeface="Georgia" pitchFamily="34" charset="0"/>
                <a:ea typeface="Georgia" pitchFamily="34" charset="-122"/>
                <a:cs typeface="Georgia" pitchFamily="34" charset="-120"/>
              </a:rPr>
              <a:t>1</a:t>
            </a:r>
            <a:endParaRPr lang="en-US" sz="3000" dirty="0"/>
          </a:p>
        </p:txBody>
      </p:sp>
      <p:sp>
        <p:nvSpPr>
          <p:cNvPr id="5" name="Text 3"/>
          <p:cNvSpPr txBox="1"/>
          <p:nvPr/>
        </p:nvSpPr>
        <p:spPr>
          <a:xfrm>
            <a:off x="1051560" y="2011680"/>
            <a:ext cx="6172200" cy="1234440"/>
          </a:xfrm>
          <a:prstGeom prst="rect">
            <a:avLst/>
          </a:prstGeom>
          <a:noFill/>
          <a:ln/>
        </p:spPr>
        <p:txBody>
          <a:bodyPr wrap="square" lIns="0" tIns="0" rIns="0" bIns="0" rtlCol="0" anchor="t"/>
          <a:lstStyle/>
          <a:p>
            <a:pPr indent="0" marL="0">
              <a:spcAft>
                <a:spcPts val="600"/>
              </a:spcAft>
              <a:buNone/>
            </a:pPr>
            <a:r>
              <a:rPr lang="en-US" sz="1600" dirty="0">
                <a:solidFill>
                  <a:srgbClr val="2B2B2B"/>
                </a:solidFill>
                <a:latin typeface="Arial" pitchFamily="34" charset="0"/>
                <a:ea typeface="Arial" pitchFamily="34" charset="-122"/>
                <a:cs typeface="Arial" pitchFamily="34" charset="-120"/>
              </a:rPr>
              <a:t>Kapal berbendera Indonesia diserang di laut lepas. Asas dan pasal apa yang membuat Indonesia berwenang mengadili?</a:t>
            </a:r>
            <a:endParaRPr lang="en-US" sz="1600" dirty="0"/>
          </a:p>
        </p:txBody>
      </p:sp>
      <p:sp>
        <p:nvSpPr>
          <p:cNvPr id="6" name="Text 4"/>
          <p:cNvSpPr txBox="1"/>
          <p:nvPr/>
        </p:nvSpPr>
        <p:spPr>
          <a:xfrm>
            <a:off x="502920" y="3337560"/>
            <a:ext cx="457200" cy="548640"/>
          </a:xfrm>
          <a:prstGeom prst="rect">
            <a:avLst/>
          </a:prstGeom>
          <a:noFill/>
          <a:ln/>
        </p:spPr>
        <p:txBody>
          <a:bodyPr wrap="square" lIns="0" tIns="0" rIns="0" bIns="0" rtlCol="0" anchor="t"/>
          <a:lstStyle/>
          <a:p>
            <a:pPr indent="0" marL="0">
              <a:spcAft>
                <a:spcPts val="600"/>
              </a:spcAft>
              <a:buNone/>
            </a:pPr>
            <a:r>
              <a:rPr lang="en-US" sz="3000" b="1" dirty="0">
                <a:solidFill>
                  <a:srgbClr val="7A1220"/>
                </a:solidFill>
                <a:latin typeface="Georgia" pitchFamily="34" charset="0"/>
                <a:ea typeface="Georgia" pitchFamily="34" charset="-122"/>
                <a:cs typeface="Georgia" pitchFamily="34" charset="-120"/>
              </a:rPr>
              <a:t>2</a:t>
            </a:r>
            <a:endParaRPr lang="en-US" sz="3000" dirty="0"/>
          </a:p>
        </p:txBody>
      </p:sp>
      <p:sp>
        <p:nvSpPr>
          <p:cNvPr id="7" name="Text 5"/>
          <p:cNvSpPr txBox="1"/>
          <p:nvPr/>
        </p:nvSpPr>
        <p:spPr>
          <a:xfrm>
            <a:off x="1051560" y="3383280"/>
            <a:ext cx="6172200" cy="1234440"/>
          </a:xfrm>
          <a:prstGeom prst="rect">
            <a:avLst/>
          </a:prstGeom>
          <a:noFill/>
          <a:ln/>
        </p:spPr>
        <p:txBody>
          <a:bodyPr wrap="square" lIns="0" tIns="0" rIns="0" bIns="0" rtlCol="0" anchor="t"/>
          <a:lstStyle/>
          <a:p>
            <a:pPr indent="0" marL="0">
              <a:spcAft>
                <a:spcPts val="600"/>
              </a:spcAft>
              <a:buNone/>
            </a:pPr>
            <a:r>
              <a:rPr lang="en-US" sz="1600" dirty="0">
                <a:solidFill>
                  <a:srgbClr val="2B2B2B"/>
                </a:solidFill>
                <a:latin typeface="Arial" pitchFamily="34" charset="0"/>
                <a:ea typeface="Arial" pitchFamily="34" charset="-122"/>
                <a:cs typeface="Arial" pitchFamily="34" charset="-120"/>
              </a:rPr>
              <a:t>Mengapa Belgia kalah dalam perkara Arrest Warrant (2002)?</a:t>
            </a:r>
            <a:endParaRPr lang="en-US" sz="1600" dirty="0"/>
          </a:p>
        </p:txBody>
      </p:sp>
      <p:sp>
        <p:nvSpPr>
          <p:cNvPr id="8" name="Text 6"/>
          <p:cNvSpPr txBox="1"/>
          <p:nvPr/>
        </p:nvSpPr>
        <p:spPr>
          <a:xfrm>
            <a:off x="502920" y="4709160"/>
            <a:ext cx="457200" cy="548640"/>
          </a:xfrm>
          <a:prstGeom prst="rect">
            <a:avLst/>
          </a:prstGeom>
          <a:noFill/>
          <a:ln/>
        </p:spPr>
        <p:txBody>
          <a:bodyPr wrap="square" lIns="0" tIns="0" rIns="0" bIns="0" rtlCol="0" anchor="t"/>
          <a:lstStyle/>
          <a:p>
            <a:pPr indent="0" marL="0">
              <a:spcAft>
                <a:spcPts val="600"/>
              </a:spcAft>
              <a:buNone/>
            </a:pPr>
            <a:r>
              <a:rPr lang="en-US" sz="3000" b="1" dirty="0">
                <a:solidFill>
                  <a:srgbClr val="7A1220"/>
                </a:solidFill>
                <a:latin typeface="Georgia" pitchFamily="34" charset="0"/>
                <a:ea typeface="Georgia" pitchFamily="34" charset="-122"/>
                <a:cs typeface="Georgia" pitchFamily="34" charset="-120"/>
              </a:rPr>
              <a:t>3</a:t>
            </a:r>
            <a:endParaRPr lang="en-US" sz="3000" dirty="0"/>
          </a:p>
        </p:txBody>
      </p:sp>
      <p:sp>
        <p:nvSpPr>
          <p:cNvPr id="9" name="Text 7"/>
          <p:cNvSpPr txBox="1"/>
          <p:nvPr/>
        </p:nvSpPr>
        <p:spPr>
          <a:xfrm>
            <a:off x="1051560" y="4754880"/>
            <a:ext cx="6172200" cy="1234440"/>
          </a:xfrm>
          <a:prstGeom prst="rect">
            <a:avLst/>
          </a:prstGeom>
          <a:noFill/>
          <a:ln/>
        </p:spPr>
        <p:txBody>
          <a:bodyPr wrap="square" lIns="0" tIns="0" rIns="0" bIns="0" rtlCol="0" anchor="t"/>
          <a:lstStyle/>
          <a:p>
            <a:pPr indent="0" marL="0">
              <a:spcAft>
                <a:spcPts val="600"/>
              </a:spcAft>
              <a:buNone/>
            </a:pPr>
            <a:r>
              <a:rPr lang="en-US" sz="1600" dirty="0">
                <a:solidFill>
                  <a:srgbClr val="2B2B2B"/>
                </a:solidFill>
                <a:latin typeface="Arial" pitchFamily="34" charset="0"/>
                <a:ea typeface="Arial" pitchFamily="34" charset="-122"/>
                <a:cs typeface="Arial" pitchFamily="34" charset="-120"/>
              </a:rPr>
              <a:t>Kosovo belum diakui Indonesia. Menurut teori deklaratif, apakah Kosovo tetap sebuah negara?</a:t>
            </a:r>
            <a:endParaRPr lang="en-US" sz="1600" dirty="0"/>
          </a:p>
        </p:txBody>
      </p:sp>
      <p:sp>
        <p:nvSpPr>
          <p:cNvPr id="10" name="Shape 8"/>
          <p:cNvSpPr/>
          <p:nvPr/>
        </p:nvSpPr>
        <p:spPr>
          <a:xfrm>
            <a:off x="7589520" y="2011680"/>
            <a:ext cx="0" cy="4160520"/>
          </a:xfrm>
          <a:prstGeom prst="line">
            <a:avLst/>
          </a:prstGeom>
          <a:noFill/>
          <a:ln w="12700">
            <a:solidFill>
              <a:srgbClr val="D9D2CB"/>
            </a:solidFill>
            <a:prstDash val="solid"/>
          </a:ln>
        </p:spPr>
      </p:sp>
      <p:sp>
        <p:nvSpPr>
          <p:cNvPr id="11" name="Text 9"/>
          <p:cNvSpPr txBox="1"/>
          <p:nvPr/>
        </p:nvSpPr>
        <p:spPr>
          <a:xfrm>
            <a:off x="7863840" y="2011680"/>
            <a:ext cx="3822192" cy="2286000"/>
          </a:xfrm>
          <a:prstGeom prst="rect">
            <a:avLst/>
          </a:prstGeom>
          <a:noFill/>
          <a:ln/>
        </p:spPr>
        <p:txBody>
          <a:bodyPr wrap="square" lIns="0" tIns="0" rIns="0" bIns="0" rtlCol="0" anchor="t"/>
          <a:lstStyle/>
          <a:p>
            <a:pPr indent="0" marL="0">
              <a:spcAft>
                <a:spcPts val="400"/>
              </a:spcAft>
              <a:buNone/>
            </a:pPr>
            <a:r>
              <a:rPr lang="en-US" sz="1400" b="1" dirty="0">
                <a:solidFill>
                  <a:srgbClr val="7A1220"/>
                </a:solidFill>
                <a:latin typeface="Arial" pitchFamily="34" charset="0"/>
                <a:ea typeface="Arial" pitchFamily="34" charset="-122"/>
                <a:cs typeface="Arial" pitchFamily="34" charset="-120"/>
              </a:rPr>
              <a:t>Bacaan</a:t>
            </a:r>
            <a:endParaRPr lang="en-US" sz="1400" dirty="0"/>
          </a:p>
          <a:p>
            <a:pPr indent="0" marL="0">
              <a:spcAft>
                <a:spcPts val="400"/>
              </a:spcAft>
              <a:buNone/>
            </a:pPr>
            <a:r>
              <a:rPr lang="en-US" sz="1400" dirty="0">
                <a:solidFill>
                  <a:srgbClr val="2B2B2B"/>
                </a:solidFill>
                <a:latin typeface="Arial" pitchFamily="34" charset="0"/>
                <a:ea typeface="Arial" pitchFamily="34" charset="-122"/>
                <a:cs typeface="Arial" pitchFamily="34" charset="-120"/>
              </a:rPr>
              <a:t>Kusumaatmadja (2019), Pengantar Hukum Internasional, Bab 5</a:t>
            </a:r>
            <a:endParaRPr lang="en-US" sz="1400" dirty="0"/>
          </a:p>
          <a:p>
            <a:pPr indent="0" marL="0">
              <a:spcAft>
                <a:spcPts val="400"/>
              </a:spcAft>
              <a:buNone/>
            </a:pPr>
            <a:r>
              <a:rPr lang="en-US" sz="1400" dirty="0">
                <a:solidFill>
                  <a:srgbClr val="2B2B2B"/>
                </a:solidFill>
                <a:latin typeface="Arial" pitchFamily="34" charset="0"/>
                <a:ea typeface="Arial" pitchFamily="34" charset="-122"/>
                <a:cs typeface="Arial" pitchFamily="34" charset="-120"/>
              </a:rPr>
              <a:t>Dixon (2013), Textbook on International Law, Bab 5</a:t>
            </a:r>
            <a:endParaRPr lang="en-US" sz="1400" dirty="0"/>
          </a:p>
          <a:p>
            <a:pPr indent="0" marL="0">
              <a:spcAft>
                <a:spcPts val="400"/>
              </a:spcAft>
              <a:buNone/>
            </a:pPr>
            <a:r>
              <a:rPr lang="en-US" sz="1400" dirty="0">
                <a:solidFill>
                  <a:srgbClr val="2B2B2B"/>
                </a:solidFill>
                <a:latin typeface="Arial" pitchFamily="34" charset="0"/>
                <a:ea typeface="Arial" pitchFamily="34" charset="-122"/>
                <a:cs typeface="Arial" pitchFamily="34" charset="-120"/>
              </a:rPr>
              <a:t>UU No. 1 Tahun 2023 tentang KUHP, Pasal 4 sampai 8</a:t>
            </a:r>
            <a:endParaRPr lang="en-US" sz="1400" dirty="0"/>
          </a:p>
        </p:txBody>
      </p:sp>
      <p:sp>
        <p:nvSpPr>
          <p:cNvPr id="12" name="Text 10"/>
          <p:cNvSpPr txBox="1"/>
          <p:nvPr/>
        </p:nvSpPr>
        <p:spPr>
          <a:xfrm>
            <a:off x="7863840" y="4526280"/>
            <a:ext cx="3822192" cy="1645920"/>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Pertemuan berikutnya</a:t>
            </a:r>
            <a:endParaRPr lang="en-US" sz="1400" dirty="0"/>
          </a:p>
          <a:p>
            <a:pPr indent="0" marL="0">
              <a:spcAft>
                <a:spcPts val="600"/>
              </a:spcAft>
              <a:buNone/>
            </a:pPr>
            <a:r>
              <a:rPr lang="en-US" sz="1400" dirty="0">
                <a:solidFill>
                  <a:srgbClr val="2B2B2B"/>
                </a:solidFill>
                <a:latin typeface="Arial" pitchFamily="34" charset="0"/>
                <a:ea typeface="Arial" pitchFamily="34" charset="-122"/>
                <a:cs typeface="Arial" pitchFamily="34" charset="-120"/>
              </a:rPr>
              <a:t>Hukum perjanjian internasional: bagaimana perjanjian dibuat, berlaku, dan berakhir menurut Konvensi Wina 1969.</a:t>
            </a:r>
            <a:endParaRPr lang="en-US" sz="1400" dirty="0"/>
          </a:p>
        </p:txBody>
      </p:sp>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FH UNISSULA">
  <a:themeElements>
    <a:clrScheme name="FH UNISSULA">
      <a:dk1>
        <a:srgbClr val="2B2B2B"/>
      </a:dk1>
      <a:lt1>
        <a:srgbClr val="FFFFFF"/>
      </a:lt1>
      <a:dk2>
        <a:srgbClr val="7A1220"/>
      </a:dk2>
      <a:lt2>
        <a:srgbClr val="F7F4F0"/>
      </a:lt2>
      <a:accent1>
        <a:srgbClr val="7A1220"/>
      </a:accent1>
      <a:accent2>
        <a:srgbClr val="9C6B4E"/>
      </a:accent2>
      <a:accent3>
        <a:srgbClr val="4F6D7A"/>
      </a:accent3>
      <a:accent4>
        <a:srgbClr val="B08D57"/>
      </a:accent4>
      <a:accent5>
        <a:srgbClr val="6B6B6B"/>
      </a:accent5>
      <a:accent6>
        <a:srgbClr val="3E5641"/>
      </a:accent6>
      <a:hlink>
        <a:srgbClr val="7A1220"/>
      </a:hlink>
      <a:folHlink>
        <a:srgbClr val="5F5F5F"/>
      </a:folHlink>
    </a:clrScheme>
    <a:fontScheme name="FH UNISSULA">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Fakultas Hukum UNISSULA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Yurisdiksi Negara dan Pengakuan Negara</dc:title>
  <dc:subject>Hukum Internasional, Pertemuan 4</dc:subject>
  <dc:creator>Aditya Noviyansyah, S.H., M.H.</dc:creator>
  <cp:lastModifiedBy>Aditya Noviyansyah, S.H., M.H.</cp:lastModifiedBy>
  <cp:revision>1</cp:revision>
  <dcterms:created xsi:type="dcterms:W3CDTF">2026-10-21T16:42:16Z</dcterms:created>
  <dcterms:modified xsi:type="dcterms:W3CDTF">2026-10-21T16:42:16Z</dcterms:modified>
</cp:coreProperties>
</file>