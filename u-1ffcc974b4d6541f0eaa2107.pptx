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dua pertanyaan: bisakah PBB menuntut ganti rugi seperti negara? Bisakah seseorang diadili di Den Haag? Biarkan mahasiswa menjawab dulu, jawabannya dibahas di slide 3.
Tujuan (Sub-CPMK2): mahasiswa mampu mengklasifikasikan subjek hukum internasional dan menganalisis sumber hukum internasional menurut Pasal 38 Statuta MI.
Pembagian waktu kira-kira: subjek 40 menit, kasus 25 menit, Pasal 38 dan putusan 60 menit, penutup dan tugas 25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empat unsur negara dalam Pasal 1 Konvensi Montevideo. Tanyakan: apakah pengakuan negara lain termasuk unsur? (Tidak tercantum, dibahas lagi di Pertemuan 4.)
Subjek selain negara kapasitasnya terbatas. PBB lewat Reparation for Injuries, Takhta Suci lewat Lateran Treaty, ICRC lewat Konvensi Jenewa, individu sejak Nuremberg dan kini Statuta Roma Pasal 25, pemberontak lewat Pasal 3 Konvensi Jenewa.
Diskusi singkat: perusahaan multinasional dan LSM, subjek atau bukan? Minta satu alasan setuju dan satu alasan tidak setuju.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Ceritakan kronologinya. Saat itu belum jelas apakah organisasi internasional boleh menuntut seperti negara. Jawaban MI: boleh, sebatas fungsi yang diberikan Piagam PBB.
Kolom kanan menjawab pertanyaan pembuka kedua: individu bisa diadili di Den Haag. Al Mahdi mengaku bersalah, putusan 27 September 2016.
Diskusi kelompok kecil 5 menit: Indonesia belum menjadi pihak Statuta Roma. Dalam keadaan apa WNI tetap bisa diadili ICC? (petunjuk: tempat kejahatan, rujukan Dewan Keamanan).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Teks di slide adalah terjemahan bebas; minta mahasiswa membuka teks resmi Statuta MI (bagian dari Piagam PBB, Pasal 92 Piagam).
Tidak ada hierarki resmi antara a, b, dan c, walaupun dalam praktik perjanjian yang khusus biasanya diterapkan lebih dulu.
Kebiasaan internasional memerlukan dua unsur: praktik negara dan opinio juris.
Pasal 59: tidak ada asas stare decisis, tetapi MI konsisten merujuk putusannya sendiri. Ex aequo et bono belum pernah dipakai MI.
Pertanyaan: di mana kedudukan resolusi Majelis Umum PBB? Tidak disebut dalam Pasal 38, tetapi dapat menjadi bukti praktik negara dan opinio juris.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 perkara untuk tiap huruf Pasal 38.
North Sea Continental Shelf: prinsip sama jarak dalam Pasal 6 Konvensi Landas Kontinen 1958 tidak mengikat Jerman yang bukan pihak, karena belum menjadi hukum kebiasaan.
Chorzów: MI permanen (PCIJ) menyebut kewajiban ganti rugi sebagai prinsip hukum internasional, kini tercermin dalam Pasal 31 ILC Articles on State Responsibility 2001.
Sipadan dan Ligitan: Konvensi 1891 Inggris-Belanda tidak menentukan pemilik pulau; Malaysia menang karena bukti penguasaan efektif (pengaturan penangkapan penyu, mercusuar). Pelajaran bagi Indonesia soal pulau terluar.
Aktivitas: bagi kelas menjadi 4 bagian, tiap bagian menjelaskan satu perkara dalam satu kalimat.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formal menjawab di mana aturan ditemukan; sumber material menjawab mengapa isi aturannya begitu.
Deklarasi Djuanda 13 Desember 1957 lahir dari kepentingan menyatukan wilayah Indonesia. Melalui perjuangan diplomasi, konsep negara kepulauan diterima dalam UNCLOS 1982 Bab IV, lalu disahkan dengan UU No. 17 Tahun 1985.
Umumkan tugas dan pembagian kelompok di LEXFLIX. Pertemuan 3 membahas hubungan hukum internasional dan hukum nasional (monisme dan dualisme).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p:bgPr>
    </p:bg>
    <p:spTree>
      <p:nvGrpSpPr>
        <p:cNvPr id="1" name=""/>
        <p:cNvGrpSpPr/>
        <p:nvPr/>
      </p:nvGrpSpPr>
      <p:grpSpPr>
        <a:xfrm>
          <a:off x="0" y="0"/>
          <a:ext cx="0" cy="0"/>
          <a:chOff x="0" y="0"/>
          <a:chExt cx="0" cy="0"/>
        </a:xfrm>
      </p:grpSpPr>
      <p:pic>
        <p:nvPicPr>
          <p:cNvPr id="2" name="Image 0" descr="/tmp/claude-0/-home-claude/1d55af17-4c07-5715-bc68-ec714a3707f7/scratchpad/pptx-hi2/logo-kecil.png">    </p:cNvPr>
          <p:cNvPicPr>
            <a:picLocks noChangeAspect="1"/>
          </p:cNvPicPr>
          <p:nvPr/>
        </p:nvPicPr>
        <p:blipFill>
          <a:blip r:embed="rId1"/>
          <a:stretch>
            <a:fillRect/>
          </a:stretch>
        </p:blipFill>
        <p:spPr>
          <a:xfrm>
            <a:off x="502920" y="256032"/>
            <a:ext cx="384048" cy="365760"/>
          </a:xfrm>
          <a:prstGeom prst="rect">
            <a:avLst/>
          </a:prstGeom>
        </p:spPr>
      </p:pic>
      <p:sp>
        <p:nvSpPr>
          <p:cNvPr id="3" name="Text 0"/>
          <p:cNvSpPr/>
          <p:nvPr/>
        </p:nvSpPr>
        <p:spPr>
          <a:xfrm>
            <a:off x="978408" y="274320"/>
            <a:ext cx="5486400" cy="329184"/>
          </a:xfrm>
          <a:prstGeom prst="rect">
            <a:avLst/>
          </a:prstGeom>
          <a:noFill/>
          <a:ln/>
        </p:spPr>
        <p:txBody>
          <a:bodyPr wrap="square" lIns="0" tIns="0" rIns="0" bIns="0" rtlCol="0" anchor="ctr"/>
          <a:lstStyle/>
          <a:p>
            <a:pPr indent="0" marL="0">
              <a:buNone/>
            </a:pPr>
            <a:r>
              <a:rPr lang="en-US" sz="1100" dirty="0">
                <a:solidFill>
                  <a:srgbClr val="5F5F5F"/>
                </a:solidFill>
                <a:latin typeface="Arial" pitchFamily="34" charset="0"/>
                <a:ea typeface="Arial" pitchFamily="34" charset="-122"/>
                <a:cs typeface="Arial" pitchFamily="34" charset="-120"/>
              </a:rPr>
              <a:t>Fakultas Hukum Universitas Islam Sultan Agung</a:t>
            </a:r>
            <a:endParaRPr lang="en-US" sz="1100" dirty="0"/>
          </a:p>
        </p:txBody>
      </p:sp>
      <p:sp>
        <p:nvSpPr>
          <p:cNvPr id="4" name="Text 1"/>
          <p:cNvSpPr/>
          <p:nvPr/>
        </p:nvSpPr>
        <p:spPr>
          <a:xfrm>
            <a:off x="6675120" y="274320"/>
            <a:ext cx="5010912" cy="329184"/>
          </a:xfrm>
          <a:prstGeom prst="rect">
            <a:avLst/>
          </a:prstGeom>
          <a:noFill/>
          <a:ln/>
        </p:spPr>
        <p:txBody>
          <a:bodyPr wrap="square" lIns="0" tIns="0" rIns="0" bIns="0" rtlCol="0" anchor="ctr"/>
          <a:lstStyle/>
          <a:p>
            <a:pPr algn="r" indent="0" marL="0">
              <a:buNone/>
            </a:pPr>
            <a:r>
              <a:rPr lang="en-US" sz="1100" dirty="0">
                <a:solidFill>
                  <a:srgbClr val="5F5F5F"/>
                </a:solidFill>
                <a:latin typeface="Arial" pitchFamily="34" charset="0"/>
                <a:ea typeface="Arial" pitchFamily="34" charset="-122"/>
                <a:cs typeface="Arial" pitchFamily="34" charset="-120"/>
              </a:rPr>
              <a:t>Hukum Internasional | Pertemuan 2</a:t>
            </a:r>
            <a:endParaRPr lang="en-US" sz="1100" dirty="0"/>
          </a:p>
        </p:txBody>
      </p:sp>
      <p:sp>
        <p:nvSpPr>
          <p:cNvPr id="5" name="Shape 2"/>
          <p:cNvSpPr/>
          <p:nvPr/>
        </p:nvSpPr>
        <p:spPr>
          <a:xfrm>
            <a:off x="502920" y="749808"/>
            <a:ext cx="11183112" cy="0"/>
          </a:xfrm>
          <a:prstGeom prst="line">
            <a:avLst/>
          </a:prstGeom>
          <a:noFill/>
          <a:ln w="12700">
            <a:solidFill>
              <a:srgbClr val="D9D2CB"/>
            </a:solidFill>
            <a:prstDash val="solid"/>
          </a:ln>
        </p:spPr>
      </p:sp>
      <p:sp>
        <p:nvSpPr>
          <p:cNvPr id="6" name="Shape 3"/>
          <p:cNvSpPr/>
          <p:nvPr/>
        </p:nvSpPr>
        <p:spPr>
          <a:xfrm>
            <a:off x="502920" y="6400800"/>
            <a:ext cx="11183112" cy="0"/>
          </a:xfrm>
          <a:prstGeom prst="line">
            <a:avLst/>
          </a:prstGeom>
          <a:noFill/>
          <a:ln w="12700">
            <a:solidFill>
              <a:srgbClr val="D9D2CB"/>
            </a:solidFill>
            <a:prstDash val="solid"/>
          </a:ln>
        </p:spPr>
      </p:sp>
      <p:sp>
        <p:nvSpPr>
          <p:cNvPr id="7" name="Text 4"/>
          <p:cNvSpPr/>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F5F5F"/>
                </a:solidFill>
                <a:latin typeface="Arial" pitchFamily="34" charset="0"/>
                <a:ea typeface="Arial" pitchFamily="34" charset="-122"/>
                <a:cs typeface="Arial" pitchFamily="34" charset="-120"/>
              </a:rPr>
              <a:t>Aditya Noviyansyah, S.H., M.H.</a:t>
            </a:r>
            <a:endParaRPr lang="en-US" sz="10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40080"/>
            <a:ext cx="0" cy="5577840"/>
          </a:xfrm>
          <a:prstGeom prst="line">
            <a:avLst/>
          </a:prstGeom>
          <a:noFill/>
          <a:ln w="28575">
            <a:solidFill>
              <a:srgbClr val="7A1220"/>
            </a:solidFill>
            <a:prstDash val="solid"/>
          </a:ln>
        </p:spPr>
      </p:sp>
      <p:pic>
        <p:nvPicPr>
          <p:cNvPr id="3" name="Image 0" descr="/tmp/claude-0/-home-claude/1d55af17-4c07-5715-bc68-ec714a3707f7/scratchpad/pptx-hi2/logo-besar.png">    </p:cNvPr>
          <p:cNvPicPr>
            <a:picLocks noChangeAspect="1"/>
          </p:cNvPicPr>
          <p:nvPr/>
        </p:nvPicPr>
        <p:blipFill>
          <a:blip r:embed="rId1"/>
          <a:stretch>
            <a:fillRect/>
          </a:stretch>
        </p:blipFill>
        <p:spPr>
          <a:xfrm>
            <a:off x="1051560" y="685800"/>
            <a:ext cx="1143000" cy="1097280"/>
          </a:xfrm>
          <a:prstGeom prst="rect">
            <a:avLst/>
          </a:prstGeom>
        </p:spPr>
      </p:pic>
      <p:sp>
        <p:nvSpPr>
          <p:cNvPr id="4" name="Text 1"/>
          <p:cNvSpPr txBox="1"/>
          <p:nvPr/>
        </p:nvSpPr>
        <p:spPr>
          <a:xfrm>
            <a:off x="1051560" y="2148840"/>
            <a:ext cx="8229600" cy="365760"/>
          </a:xfrm>
          <a:prstGeom prst="rect">
            <a:avLst/>
          </a:prstGeom>
          <a:noFill/>
          <a:ln/>
        </p:spPr>
        <p:txBody>
          <a:bodyPr wrap="square" lIns="0" tIns="0" rIns="0" bIns="0" rtlCol="0" anchor="t"/>
          <a:lstStyle/>
          <a:p>
            <a:pPr indent="0" marL="0">
              <a:spcAft>
                <a:spcPts val="600"/>
              </a:spcAft>
              <a:buNone/>
            </a:pPr>
            <a:r>
              <a:rPr lang="en-US" sz="1400" b="1" spc="200" kern="0" dirty="0">
                <a:solidFill>
                  <a:srgbClr val="5F5F5F"/>
                </a:solidFill>
                <a:latin typeface="Arial" pitchFamily="34" charset="0"/>
                <a:ea typeface="Arial" pitchFamily="34" charset="-122"/>
                <a:cs typeface="Arial" pitchFamily="34" charset="-120"/>
              </a:rPr>
              <a:t>MATA KULIAH HUKUM INTERNASIONAL</a:t>
            </a:r>
            <a:endParaRPr lang="en-US" sz="1400" dirty="0"/>
          </a:p>
        </p:txBody>
      </p:sp>
      <p:sp>
        <p:nvSpPr>
          <p:cNvPr id="5" name="Text 2"/>
          <p:cNvSpPr txBox="1"/>
          <p:nvPr/>
        </p:nvSpPr>
        <p:spPr>
          <a:xfrm>
            <a:off x="1051560" y="2560320"/>
            <a:ext cx="9601200" cy="1737360"/>
          </a:xfrm>
          <a:prstGeom prst="rect">
            <a:avLst/>
          </a:prstGeom>
          <a:noFill/>
          <a:ln/>
        </p:spPr>
        <p:txBody>
          <a:bodyPr wrap="square" lIns="0" tIns="0" rIns="0" bIns="0" rtlCol="0" anchor="t"/>
          <a:lstStyle/>
          <a:p>
            <a:pPr indent="0" marL="0">
              <a:lnSpc>
                <a:spcPct val="105000"/>
              </a:lnSpc>
              <a:buNone/>
            </a:pPr>
            <a:r>
              <a:rPr lang="en-US" sz="4400" b="1" dirty="0">
                <a:solidFill>
                  <a:srgbClr val="7A1220"/>
                </a:solidFill>
                <a:latin typeface="Georgia" pitchFamily="34" charset="0"/>
                <a:ea typeface="Georgia" pitchFamily="34" charset="-122"/>
                <a:cs typeface="Georgia" pitchFamily="34" charset="-120"/>
              </a:rPr>
              <a:t>Subjek dan Sumber</a:t>
            </a:r>
            <a:endParaRPr lang="en-US" sz="4400" dirty="0"/>
          </a:p>
          <a:p>
            <a:pPr indent="0" marL="0">
              <a:lnSpc>
                <a:spcPct val="105000"/>
              </a:lnSpc>
              <a:buNone/>
            </a:pPr>
            <a:r>
              <a:rPr lang="en-US" sz="4400" b="1" dirty="0">
                <a:solidFill>
                  <a:srgbClr val="7A1220"/>
                </a:solidFill>
                <a:latin typeface="Georgia" pitchFamily="34" charset="0"/>
                <a:ea typeface="Georgia" pitchFamily="34" charset="-122"/>
                <a:cs typeface="Georgia" pitchFamily="34" charset="-120"/>
              </a:rPr>
              <a:t>Hukum Internasional</a:t>
            </a:r>
            <a:endParaRPr lang="en-US" sz="4400" dirty="0"/>
          </a:p>
        </p:txBody>
      </p:sp>
      <p:sp>
        <p:nvSpPr>
          <p:cNvPr id="6" name="Text 3"/>
          <p:cNvSpPr txBox="1"/>
          <p:nvPr/>
        </p:nvSpPr>
        <p:spPr>
          <a:xfrm>
            <a:off x="1051560" y="4343400"/>
            <a:ext cx="5486400" cy="411480"/>
          </a:xfrm>
          <a:prstGeom prst="rect">
            <a:avLst/>
          </a:prstGeom>
          <a:noFill/>
          <a:ln/>
        </p:spPr>
        <p:txBody>
          <a:bodyPr wrap="square" lIns="0" tIns="0" rIns="0" bIns="0" rtlCol="0" anchor="t"/>
          <a:lstStyle/>
          <a:p>
            <a:pPr indent="0" marL="0">
              <a:spcAft>
                <a:spcPts val="600"/>
              </a:spcAft>
              <a:buNone/>
            </a:pPr>
            <a:r>
              <a:rPr lang="en-US" sz="2000" dirty="0">
                <a:solidFill>
                  <a:srgbClr val="2B2B2B"/>
                </a:solidFill>
                <a:latin typeface="Arial" pitchFamily="34" charset="0"/>
                <a:ea typeface="Arial" pitchFamily="34" charset="-122"/>
                <a:cs typeface="Arial" pitchFamily="34" charset="-120"/>
              </a:rPr>
              <a:t>Pertemuan 2</a:t>
            </a:r>
            <a:endParaRPr lang="en-US" sz="2000" dirty="0"/>
          </a:p>
        </p:txBody>
      </p:sp>
      <p:sp>
        <p:nvSpPr>
          <p:cNvPr id="7" name="Shape 4"/>
          <p:cNvSpPr/>
          <p:nvPr/>
        </p:nvSpPr>
        <p:spPr>
          <a:xfrm>
            <a:off x="1051560" y="4983480"/>
            <a:ext cx="2926080" cy="0"/>
          </a:xfrm>
          <a:prstGeom prst="line">
            <a:avLst/>
          </a:prstGeom>
          <a:noFill/>
          <a:ln w="12700">
            <a:solidFill>
              <a:srgbClr val="D9D2CB"/>
            </a:solidFill>
            <a:prstDash val="solid"/>
          </a:ln>
        </p:spPr>
      </p:sp>
      <p:sp>
        <p:nvSpPr>
          <p:cNvPr id="8" name="Text 5"/>
          <p:cNvSpPr txBox="1"/>
          <p:nvPr/>
        </p:nvSpPr>
        <p:spPr>
          <a:xfrm>
            <a:off x="1051560" y="5120640"/>
            <a:ext cx="7315200" cy="1188720"/>
          </a:xfrm>
          <a:prstGeom prst="rect">
            <a:avLst/>
          </a:prstGeom>
          <a:noFill/>
          <a:ln/>
        </p:spPr>
        <p:txBody>
          <a:bodyPr wrap="square" lIns="0" tIns="0" rIns="0" bIns="0" rtlCol="0" anchor="t"/>
          <a:lstStyle/>
          <a:p>
            <a:pPr indent="0" marL="0">
              <a:spcAft>
                <a:spcPts val="200"/>
              </a:spcAft>
              <a:buNone/>
            </a:pPr>
            <a:r>
              <a:rPr lang="en-US" sz="1400" b="1" dirty="0">
                <a:solidFill>
                  <a:srgbClr val="5F5F5F"/>
                </a:solidFill>
                <a:latin typeface="Arial" pitchFamily="34" charset="0"/>
                <a:ea typeface="Arial" pitchFamily="34" charset="-122"/>
                <a:cs typeface="Arial" pitchFamily="34" charset="-120"/>
              </a:rPr>
              <a:t>Aditya Noviyansyah, S.H., M.H.</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Program Studi S1 Ilmu Hukum, Fakultas Hukum</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Universitas Islam Sultan Agung Semarang</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Semester Gasal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896112"/>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Subjek Hukum Internasional</a:t>
            </a:r>
            <a:endParaRPr lang="en-US" sz="2800" dirty="0"/>
          </a:p>
        </p:txBody>
      </p:sp>
      <p:sp>
        <p:nvSpPr>
          <p:cNvPr id="3" name="Text 1"/>
          <p:cNvSpPr txBox="1"/>
          <p:nvPr/>
        </p:nvSpPr>
        <p:spPr>
          <a:xfrm>
            <a:off x="502920" y="1645920"/>
            <a:ext cx="11155680" cy="68580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Subjek hukum internasional adalah pihak yang memiliki hak dan kewajiban menurut hukum internasional serta mampu mempertahankan haknya di forum internasional.</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2423160"/>
          <a:ext cx="11183112" cy="914400"/>
        </p:xfrm>
        <a:graphic>
          <a:graphicData uri="http://schemas.openxmlformats.org/drawingml/2006/table">
            <a:tbl>
              <a:tblPr/>
              <a:tblGrid>
                <a:gridCol w="548640"/>
                <a:gridCol w="2834640"/>
                <a:gridCol w="6519672"/>
                <a:gridCol w="1280160"/>
              </a:tblGrid>
              <a:tr h="438912">
                <a:tc>
                  <a:txBody>
                    <a:bodyPr/>
                    <a:lstStyle/>
                    <a:p>
                      <a:pPr indent="0" marL="0">
                        <a:buNone/>
                      </a:pPr>
                      <a:r>
                        <a:rPr lang="en-US" sz="1400" b="1" dirty="0">
                          <a:solidFill>
                            <a:srgbClr val="FFFFFF"/>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Subjek</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Dasar hukum</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Kedudukan</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r>
              <a:tr h="438912">
                <a:tc>
                  <a:txBody>
                    <a:bodyPr/>
                    <a:lstStyle/>
                    <a:p>
                      <a:pPr algn="ctr" indent="0" marL="0">
                        <a:buNone/>
                      </a:pPr>
                      <a:r>
                        <a:rPr lang="en-US" sz="1400" dirty="0">
                          <a:solidFill>
                            <a:srgbClr val="2B2B2B"/>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7A1220"/>
                          </a:solidFill>
                          <a:latin typeface="Arial" pitchFamily="34" charset="0"/>
                          <a:ea typeface="Arial" pitchFamily="34" charset="-122"/>
                          <a:cs typeface="Arial" pitchFamily="34" charset="-120"/>
                        </a:rPr>
                        <a:t>Negara</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B2B2B"/>
                          </a:solidFill>
                          <a:latin typeface="Arial" pitchFamily="34" charset="0"/>
                          <a:ea typeface="Arial" pitchFamily="34" charset="-122"/>
                          <a:cs typeface="Arial" pitchFamily="34" charset="-120"/>
                        </a:rPr>
                        <a:t>Konvensi Montevideo 1933 Pasal 1: penduduk tetap, wilayah tertentu, pemerintahan, dan kemampuan mengadakan hubungan dengan negara lain</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B2B2B"/>
                          </a:solidFill>
                          <a:latin typeface="Arial" pitchFamily="34" charset="0"/>
                          <a:ea typeface="Arial" pitchFamily="34" charset="-122"/>
                          <a:cs typeface="Arial" pitchFamily="34" charset="-120"/>
                        </a:rPr>
                        <a:t>Penuh</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r h="438912">
                <a:tc>
                  <a:txBody>
                    <a:bodyPr/>
                    <a:lstStyle/>
                    <a:p>
                      <a:pPr algn="ctr" indent="0" marL="0">
                        <a:buNone/>
                      </a:pPr>
                      <a:r>
                        <a:rPr lang="en-US" sz="1400" dirty="0">
                          <a:solidFill>
                            <a:srgbClr val="2B2B2B"/>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algn="l" indent="0" marL="0">
                        <a:buNone/>
                      </a:pPr>
                      <a:r>
                        <a:rPr lang="en-US" sz="1400" b="1" dirty="0">
                          <a:solidFill>
                            <a:srgbClr val="2B2B2B"/>
                          </a:solidFill>
                          <a:latin typeface="Arial" pitchFamily="34" charset="0"/>
                          <a:ea typeface="Arial" pitchFamily="34" charset="-122"/>
                          <a:cs typeface="Arial" pitchFamily="34" charset="-120"/>
                        </a:rPr>
                        <a:t>Organisasi internasional</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algn="l" indent="0" marL="0">
                        <a:buNone/>
                      </a:pPr>
                      <a:r>
                        <a:rPr lang="en-US" sz="1400" dirty="0">
                          <a:solidFill>
                            <a:srgbClr val="2B2B2B"/>
                          </a:solidFill>
                          <a:latin typeface="Arial" pitchFamily="34" charset="0"/>
                          <a:ea typeface="Arial" pitchFamily="34" charset="-122"/>
                          <a:cs typeface="Arial" pitchFamily="34" charset="-120"/>
                        </a:rPr>
                        <a:t>Advisory Opinion MI, Reparation for Injuries (1949)</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algn="ctr" indent="0" marL="0">
                        <a:buNone/>
                      </a:pPr>
                      <a:r>
                        <a:rPr lang="en-US" sz="1400" dirty="0">
                          <a:solidFill>
                            <a:srgbClr val="2B2B2B"/>
                          </a:solidFill>
                          <a:latin typeface="Arial" pitchFamily="34" charset="0"/>
                          <a:ea typeface="Arial" pitchFamily="34" charset="-122"/>
                          <a:cs typeface="Arial" pitchFamily="34" charset="-120"/>
                        </a:rPr>
                        <a:t>Terbatas</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r>
              <a:tr h="438912">
                <a:tc>
                  <a:txBody>
                    <a:bodyPr/>
                    <a:lstStyle/>
                    <a:p>
                      <a:pPr algn="ctr" indent="0" marL="0">
                        <a:buNone/>
                      </a:pPr>
                      <a:r>
                        <a:rPr lang="en-US" sz="1400" dirty="0">
                          <a:solidFill>
                            <a:srgbClr val="2B2B2B"/>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2B2B2B"/>
                          </a:solidFill>
                          <a:latin typeface="Arial" pitchFamily="34" charset="0"/>
                          <a:ea typeface="Arial" pitchFamily="34" charset="-122"/>
                          <a:cs typeface="Arial" pitchFamily="34" charset="-120"/>
                        </a:rPr>
                        <a:t>Takhta Suci (Vatikan)</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B2B2B"/>
                          </a:solidFill>
                          <a:latin typeface="Arial" pitchFamily="34" charset="0"/>
                          <a:ea typeface="Arial" pitchFamily="34" charset="-122"/>
                          <a:cs typeface="Arial" pitchFamily="34" charset="-120"/>
                        </a:rPr>
                        <a:t>Lateran Treaty 1929</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B2B2B"/>
                          </a:solidFill>
                          <a:latin typeface="Arial" pitchFamily="34" charset="0"/>
                          <a:ea typeface="Arial" pitchFamily="34" charset="-122"/>
                          <a:cs typeface="Arial" pitchFamily="34" charset="-120"/>
                        </a:rPr>
                        <a:t>Terbatas</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r h="438912">
                <a:tc>
                  <a:txBody>
                    <a:bodyPr/>
                    <a:lstStyle/>
                    <a:p>
                      <a:pPr algn="ctr" indent="0" marL="0">
                        <a:buNone/>
                      </a:pPr>
                      <a:r>
                        <a:rPr lang="en-US" sz="1400" dirty="0">
                          <a:solidFill>
                            <a:srgbClr val="2B2B2B"/>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algn="l" indent="0" marL="0">
                        <a:buNone/>
                      </a:pPr>
                      <a:r>
                        <a:rPr lang="en-US" sz="1400" b="1" dirty="0">
                          <a:solidFill>
                            <a:srgbClr val="2B2B2B"/>
                          </a:solidFill>
                          <a:latin typeface="Arial" pitchFamily="34" charset="0"/>
                          <a:ea typeface="Arial" pitchFamily="34" charset="-122"/>
                          <a:cs typeface="Arial" pitchFamily="34" charset="-120"/>
                        </a:rPr>
                        <a:t>Palang Merah Internasional (ICRC)</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algn="l" indent="0" marL="0">
                        <a:buNone/>
                      </a:pPr>
                      <a:r>
                        <a:rPr lang="en-US" sz="1400" dirty="0">
                          <a:solidFill>
                            <a:srgbClr val="2B2B2B"/>
                          </a:solidFill>
                          <a:latin typeface="Arial" pitchFamily="34" charset="0"/>
                          <a:ea typeface="Arial" pitchFamily="34" charset="-122"/>
                          <a:cs typeface="Arial" pitchFamily="34" charset="-120"/>
                        </a:rPr>
                        <a:t>Konvensi Jenewa 1949 dan Protokol Tambahan 1977</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algn="ctr" indent="0" marL="0">
                        <a:buNone/>
                      </a:pPr>
                      <a:r>
                        <a:rPr lang="en-US" sz="1400" dirty="0">
                          <a:solidFill>
                            <a:srgbClr val="2B2B2B"/>
                          </a:solidFill>
                          <a:latin typeface="Arial" pitchFamily="34" charset="0"/>
                          <a:ea typeface="Arial" pitchFamily="34" charset="-122"/>
                          <a:cs typeface="Arial" pitchFamily="34" charset="-120"/>
                        </a:rPr>
                        <a:t>Terbatas</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r>
              <a:tr h="438912">
                <a:tc>
                  <a:txBody>
                    <a:bodyPr/>
                    <a:lstStyle/>
                    <a:p>
                      <a:pPr algn="ctr" indent="0" marL="0">
                        <a:buNone/>
                      </a:pPr>
                      <a:r>
                        <a:rPr lang="en-US" sz="1400" dirty="0">
                          <a:solidFill>
                            <a:srgbClr val="2B2B2B"/>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2B2B2B"/>
                          </a:solidFill>
                          <a:latin typeface="Arial" pitchFamily="34" charset="0"/>
                          <a:ea typeface="Arial" pitchFamily="34" charset="-122"/>
                          <a:cs typeface="Arial" pitchFamily="34" charset="-120"/>
                        </a:rPr>
                        <a:t>Individu</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B2B2B"/>
                          </a:solidFill>
                          <a:latin typeface="Arial" pitchFamily="34" charset="0"/>
                          <a:ea typeface="Arial" pitchFamily="34" charset="-122"/>
                          <a:cs typeface="Arial" pitchFamily="34" charset="-120"/>
                        </a:rPr>
                        <a:t>Piagam Nuremberg 1945; Statuta Roma 1998 Pasal 25</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B2B2B"/>
                          </a:solidFill>
                          <a:latin typeface="Arial" pitchFamily="34" charset="0"/>
                          <a:ea typeface="Arial" pitchFamily="34" charset="-122"/>
                          <a:cs typeface="Arial" pitchFamily="34" charset="-120"/>
                        </a:rPr>
                        <a:t>Terbatas</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r h="438912">
                <a:tc>
                  <a:txBody>
                    <a:bodyPr/>
                    <a:lstStyle/>
                    <a:p>
                      <a:pPr algn="ctr" indent="0" marL="0">
                        <a:buNone/>
                      </a:pPr>
                      <a:r>
                        <a:rPr lang="en-US" sz="1400" dirty="0">
                          <a:solidFill>
                            <a:srgbClr val="2B2B2B"/>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algn="l" indent="0" marL="0">
                        <a:buNone/>
                      </a:pPr>
                      <a:r>
                        <a:rPr lang="en-US" sz="1400" b="1" dirty="0">
                          <a:solidFill>
                            <a:srgbClr val="2B2B2B"/>
                          </a:solidFill>
                          <a:latin typeface="Arial" pitchFamily="34" charset="0"/>
                          <a:ea typeface="Arial" pitchFamily="34" charset="-122"/>
                          <a:cs typeface="Arial" pitchFamily="34" charset="-120"/>
                        </a:rPr>
                        <a:t>Pemberontak (belligerent)</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algn="l" indent="0" marL="0">
                        <a:buNone/>
                      </a:pPr>
                      <a:r>
                        <a:rPr lang="en-US" sz="1400" dirty="0">
                          <a:solidFill>
                            <a:srgbClr val="2B2B2B"/>
                          </a:solidFill>
                          <a:latin typeface="Arial" pitchFamily="34" charset="0"/>
                          <a:ea typeface="Arial" pitchFamily="34" charset="-122"/>
                          <a:cs typeface="Arial" pitchFamily="34" charset="-120"/>
                        </a:rPr>
                        <a:t>Pasal 3 Konvensi Jenewa 1949 (common article 3), pengakuan sebagai pihak berperang</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algn="ctr" indent="0" marL="0">
                        <a:buNone/>
                      </a:pPr>
                      <a:r>
                        <a:rPr lang="en-US" sz="1400" dirty="0">
                          <a:solidFill>
                            <a:srgbClr val="2B2B2B"/>
                          </a:solidFill>
                          <a:latin typeface="Arial" pitchFamily="34" charset="0"/>
                          <a:ea typeface="Arial" pitchFamily="34" charset="-122"/>
                          <a:cs typeface="Arial" pitchFamily="34" charset="-120"/>
                        </a:rPr>
                        <a:t>Terbatas</a:t>
                      </a:r>
                      <a:endParaRPr lang="en-US" sz="1400" dirty="0">
                        <a:latin typeface="Arial" charset="0"/>
                        <a:ea typeface="Arial" charset="0"/>
                        <a:cs typeface="Arial" charset="0"/>
                      </a:endParaRPr>
                    </a:p>
                  </a:txBody>
                  <a:tcPr marL="91440" marR="91440" marT="45720" marB="45720"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r>
            </a:tbl>
          </a:graphicData>
        </a:graphic>
      </p:graphicFrame>
      <p:sp>
        <p:nvSpPr>
          <p:cNvPr id="5" name="Text 2"/>
          <p:cNvSpPr txBox="1"/>
          <p:nvPr/>
        </p:nvSpPr>
        <p:spPr>
          <a:xfrm>
            <a:off x="502920" y="5870448"/>
            <a:ext cx="11155680" cy="411480"/>
          </a:xfrm>
          <a:prstGeom prst="rect">
            <a:avLst/>
          </a:prstGeom>
          <a:noFill/>
          <a:ln/>
        </p:spPr>
        <p:txBody>
          <a:bodyPr wrap="square" lIns="0" tIns="0" rIns="0" bIns="0" rtlCol="0" anchor="t"/>
          <a:lstStyle/>
          <a:p>
            <a:pPr indent="0" marL="0">
              <a:spcAft>
                <a:spcPts val="600"/>
              </a:spcAft>
              <a:buNone/>
            </a:pPr>
            <a:r>
              <a:rPr lang="en-US" sz="1300" i="1" dirty="0">
                <a:solidFill>
                  <a:srgbClr val="5F5F5F"/>
                </a:solidFill>
                <a:latin typeface="Arial" pitchFamily="34" charset="0"/>
                <a:ea typeface="Arial" pitchFamily="34" charset="-122"/>
                <a:cs typeface="Arial" pitchFamily="34" charset="-120"/>
              </a:rPr>
              <a:t>Negara adalah subjek penuh. Subjek lain kedudukannya terbatas pada fungsi, perjanjian, atau pengakuan yang melahirkannya.</a:t>
            </a:r>
            <a:endParaRPr lang="en-US" sz="13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896112"/>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Contoh Kasus: Reparation for Injuries (MI, 1949)</a:t>
            </a:r>
            <a:endParaRPr lang="en-US" sz="2800" dirty="0"/>
          </a:p>
        </p:txBody>
      </p:sp>
      <p:sp>
        <p:nvSpPr>
          <p:cNvPr id="3" name="Shape 1"/>
          <p:cNvSpPr/>
          <p:nvPr/>
        </p:nvSpPr>
        <p:spPr>
          <a:xfrm>
            <a:off x="685800" y="2057400"/>
            <a:ext cx="10789920" cy="0"/>
          </a:xfrm>
          <a:prstGeom prst="line">
            <a:avLst/>
          </a:prstGeom>
          <a:noFill/>
          <a:ln w="19050">
            <a:solidFill>
              <a:srgbClr val="D9D2CB"/>
            </a:solidFill>
            <a:prstDash val="solid"/>
          </a:ln>
        </p:spPr>
      </p:sp>
      <p:sp>
        <p:nvSpPr>
          <p:cNvPr id="4" name="Shape 2"/>
          <p:cNvSpPr/>
          <p:nvPr/>
        </p:nvSpPr>
        <p:spPr>
          <a:xfrm>
            <a:off x="576072" y="1947672"/>
            <a:ext cx="219456" cy="219456"/>
          </a:xfrm>
          <a:prstGeom prst="ellipse">
            <a:avLst/>
          </a:prstGeom>
          <a:solidFill>
            <a:srgbClr val="7A1220"/>
          </a:solidFill>
          <a:ln w="12700">
            <a:solidFill>
              <a:srgbClr val="7A1220"/>
            </a:solidFill>
            <a:prstDash val="solid"/>
          </a:ln>
        </p:spPr>
      </p:sp>
      <p:sp>
        <p:nvSpPr>
          <p:cNvPr id="5" name="Text 3"/>
          <p:cNvSpPr txBox="1"/>
          <p:nvPr/>
        </p:nvSpPr>
        <p:spPr>
          <a:xfrm>
            <a:off x="502920" y="2286000"/>
            <a:ext cx="3566160" cy="36576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17 September 1948</a:t>
            </a:r>
            <a:endParaRPr lang="en-US" sz="1800" dirty="0"/>
          </a:p>
        </p:txBody>
      </p:sp>
      <p:sp>
        <p:nvSpPr>
          <p:cNvPr id="6" name="Text 4"/>
          <p:cNvSpPr txBox="1"/>
          <p:nvPr/>
        </p:nvSpPr>
        <p:spPr>
          <a:xfrm>
            <a:off x="502920" y="2697480"/>
            <a:ext cx="3520440" cy="118872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Count Folke Bernadotte, mediator PBB di Palestina, terbunuh di Yerusalem.</a:t>
            </a:r>
            <a:endParaRPr lang="en-US" sz="1500" dirty="0"/>
          </a:p>
        </p:txBody>
      </p:sp>
      <p:sp>
        <p:nvSpPr>
          <p:cNvPr id="7" name="Shape 5"/>
          <p:cNvSpPr/>
          <p:nvPr/>
        </p:nvSpPr>
        <p:spPr>
          <a:xfrm>
            <a:off x="4370832" y="1947672"/>
            <a:ext cx="219456" cy="219456"/>
          </a:xfrm>
          <a:prstGeom prst="ellipse">
            <a:avLst/>
          </a:prstGeom>
          <a:solidFill>
            <a:srgbClr val="7A1220"/>
          </a:solidFill>
          <a:ln w="12700">
            <a:solidFill>
              <a:srgbClr val="7A1220"/>
            </a:solidFill>
            <a:prstDash val="solid"/>
          </a:ln>
        </p:spPr>
      </p:sp>
      <p:sp>
        <p:nvSpPr>
          <p:cNvPr id="8" name="Text 6"/>
          <p:cNvSpPr txBox="1"/>
          <p:nvPr/>
        </p:nvSpPr>
        <p:spPr>
          <a:xfrm>
            <a:off x="4297680" y="2286000"/>
            <a:ext cx="3566160" cy="36576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3 Desember 1948</a:t>
            </a:r>
            <a:endParaRPr lang="en-US" sz="1800" dirty="0"/>
          </a:p>
        </p:txBody>
      </p:sp>
      <p:sp>
        <p:nvSpPr>
          <p:cNvPr id="9" name="Text 7"/>
          <p:cNvSpPr txBox="1"/>
          <p:nvPr/>
        </p:nvSpPr>
        <p:spPr>
          <a:xfrm>
            <a:off x="4297680" y="2697480"/>
            <a:ext cx="3520440" cy="118872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Majelis Umum PBB melalui Resolusi 258 (III) meminta advisory opinion kepada MI.</a:t>
            </a:r>
            <a:endParaRPr lang="en-US" sz="1500" dirty="0"/>
          </a:p>
        </p:txBody>
      </p:sp>
      <p:sp>
        <p:nvSpPr>
          <p:cNvPr id="10" name="Shape 8"/>
          <p:cNvSpPr/>
          <p:nvPr/>
        </p:nvSpPr>
        <p:spPr>
          <a:xfrm>
            <a:off x="8165592" y="1947672"/>
            <a:ext cx="219456" cy="219456"/>
          </a:xfrm>
          <a:prstGeom prst="ellipse">
            <a:avLst/>
          </a:prstGeom>
          <a:solidFill>
            <a:srgbClr val="7A1220"/>
          </a:solidFill>
          <a:ln w="12700">
            <a:solidFill>
              <a:srgbClr val="7A1220"/>
            </a:solidFill>
            <a:prstDash val="solid"/>
          </a:ln>
        </p:spPr>
      </p:sp>
      <p:sp>
        <p:nvSpPr>
          <p:cNvPr id="11" name="Text 9"/>
          <p:cNvSpPr txBox="1"/>
          <p:nvPr/>
        </p:nvSpPr>
        <p:spPr>
          <a:xfrm>
            <a:off x="8092440" y="2286000"/>
            <a:ext cx="3566160" cy="36576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11 April 1949</a:t>
            </a:r>
            <a:endParaRPr lang="en-US" sz="1800" dirty="0"/>
          </a:p>
        </p:txBody>
      </p:sp>
      <p:sp>
        <p:nvSpPr>
          <p:cNvPr id="12" name="Text 10"/>
          <p:cNvSpPr txBox="1"/>
          <p:nvPr/>
        </p:nvSpPr>
        <p:spPr>
          <a:xfrm>
            <a:off x="8092440" y="2697480"/>
            <a:ext cx="3520440" cy="118872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MI berpendapat PBB memiliki personalitas hukum internasional dan dapat mengajukan klaim ganti rugi.</a:t>
            </a:r>
            <a:endParaRPr lang="en-US" sz="1500" dirty="0"/>
          </a:p>
        </p:txBody>
      </p:sp>
      <p:sp>
        <p:nvSpPr>
          <p:cNvPr id="13" name="Shape 11"/>
          <p:cNvSpPr/>
          <p:nvPr/>
        </p:nvSpPr>
        <p:spPr>
          <a:xfrm>
            <a:off x="502920" y="4069080"/>
            <a:ext cx="11183112" cy="0"/>
          </a:xfrm>
          <a:prstGeom prst="line">
            <a:avLst/>
          </a:prstGeom>
          <a:noFill/>
          <a:ln w="12700">
            <a:solidFill>
              <a:srgbClr val="D9D2CB"/>
            </a:solidFill>
            <a:prstDash val="solid"/>
          </a:ln>
        </p:spPr>
      </p:sp>
      <p:sp>
        <p:nvSpPr>
          <p:cNvPr id="14" name="Text 12"/>
          <p:cNvSpPr txBox="1"/>
          <p:nvPr/>
        </p:nvSpPr>
        <p:spPr>
          <a:xfrm>
            <a:off x="502920" y="4251960"/>
            <a:ext cx="5394960" cy="201168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Inti pendapat MI</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PBB bukan negara, tetapi diberi kemampuan oleh negara-negara anggotanya untuk bertindak di tingkat internasional. Personalitasnya bersifat objektif, sehingga klaim PBB dapat diajukan juga terhadap negara bukan anggota.</a:t>
            </a:r>
            <a:endParaRPr lang="en-US" sz="1500" dirty="0"/>
          </a:p>
        </p:txBody>
      </p:sp>
      <p:sp>
        <p:nvSpPr>
          <p:cNvPr id="15" name="Shape 13"/>
          <p:cNvSpPr/>
          <p:nvPr/>
        </p:nvSpPr>
        <p:spPr>
          <a:xfrm>
            <a:off x="6172200" y="4251960"/>
            <a:ext cx="0" cy="1920240"/>
          </a:xfrm>
          <a:prstGeom prst="line">
            <a:avLst/>
          </a:prstGeom>
          <a:noFill/>
          <a:ln w="12700">
            <a:solidFill>
              <a:srgbClr val="D9D2CB"/>
            </a:solidFill>
            <a:prstDash val="solid"/>
          </a:ln>
        </p:spPr>
      </p:sp>
      <p:sp>
        <p:nvSpPr>
          <p:cNvPr id="16" name="Text 14"/>
          <p:cNvSpPr txBox="1"/>
          <p:nvPr/>
        </p:nvSpPr>
        <p:spPr>
          <a:xfrm>
            <a:off x="6446520" y="4251960"/>
            <a:ext cx="5212080" cy="201168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Bandingkan: individu</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Kasus Al Mahdi (ICC, 2016): terdakwa dijatuhi pidana 9 tahun karena menyerang bangunan bersejarah dan keagamaan di Timbuktu, Mali. Dasar: Statuta Roma Pasal 25 dan Pasal 8 ayat (2) huruf e angka iv.</a:t>
            </a:r>
            <a:endParaRPr lang="en-US" sz="15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896112"/>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Sumber Hukum Internasional (Pasal 38 Statuta MI)</a:t>
            </a:r>
            <a:endParaRPr lang="en-US" sz="2800" dirty="0"/>
          </a:p>
        </p:txBody>
      </p:sp>
      <p:sp>
        <p:nvSpPr>
          <p:cNvPr id="3" name="Text 1"/>
          <p:cNvSpPr txBox="1"/>
          <p:nvPr/>
        </p:nvSpPr>
        <p:spPr>
          <a:xfrm>
            <a:off x="502920" y="1783080"/>
            <a:ext cx="548640" cy="548640"/>
          </a:xfrm>
          <a:prstGeom prst="rect">
            <a:avLst/>
          </a:prstGeom>
          <a:noFill/>
          <a:ln/>
        </p:spPr>
        <p:txBody>
          <a:bodyPr wrap="square" lIns="0" tIns="0" rIns="0" bIns="0" rtlCol="0" anchor="t"/>
          <a:lstStyle/>
          <a:p>
            <a:pPr indent="0" marL="0">
              <a:buNone/>
            </a:pPr>
            <a:r>
              <a:rPr lang="en-US" sz="3000" b="1" dirty="0">
                <a:solidFill>
                  <a:srgbClr val="7A1220"/>
                </a:solidFill>
                <a:latin typeface="Georgia" pitchFamily="34" charset="0"/>
                <a:ea typeface="Georgia" pitchFamily="34" charset="-122"/>
                <a:cs typeface="Georgia" pitchFamily="34" charset="-120"/>
              </a:rPr>
              <a:t>a.</a:t>
            </a:r>
            <a:endParaRPr lang="en-US" sz="3000" dirty="0"/>
          </a:p>
        </p:txBody>
      </p:sp>
      <p:sp>
        <p:nvSpPr>
          <p:cNvPr id="4" name="Text 2"/>
          <p:cNvSpPr txBox="1"/>
          <p:nvPr/>
        </p:nvSpPr>
        <p:spPr>
          <a:xfrm>
            <a:off x="1097280" y="1819656"/>
            <a:ext cx="6309360" cy="91440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Perjanjian internasional (international conventions), baik yang umum maupun khusus, yang diakui secara tegas oleh negara yang bersengketa.</a:t>
            </a:r>
            <a:endParaRPr lang="en-US" sz="1600" dirty="0"/>
          </a:p>
        </p:txBody>
      </p:sp>
      <p:sp>
        <p:nvSpPr>
          <p:cNvPr id="5" name="Text 3"/>
          <p:cNvSpPr txBox="1"/>
          <p:nvPr/>
        </p:nvSpPr>
        <p:spPr>
          <a:xfrm>
            <a:off x="502920" y="2807208"/>
            <a:ext cx="548640" cy="548640"/>
          </a:xfrm>
          <a:prstGeom prst="rect">
            <a:avLst/>
          </a:prstGeom>
          <a:noFill/>
          <a:ln/>
        </p:spPr>
        <p:txBody>
          <a:bodyPr wrap="square" lIns="0" tIns="0" rIns="0" bIns="0" rtlCol="0" anchor="t"/>
          <a:lstStyle/>
          <a:p>
            <a:pPr indent="0" marL="0">
              <a:buNone/>
            </a:pPr>
            <a:r>
              <a:rPr lang="en-US" sz="3000" b="1" dirty="0">
                <a:solidFill>
                  <a:srgbClr val="7A1220"/>
                </a:solidFill>
                <a:latin typeface="Georgia" pitchFamily="34" charset="0"/>
                <a:ea typeface="Georgia" pitchFamily="34" charset="-122"/>
                <a:cs typeface="Georgia" pitchFamily="34" charset="-120"/>
              </a:rPr>
              <a:t>b.</a:t>
            </a:r>
            <a:endParaRPr lang="en-US" sz="3000" dirty="0"/>
          </a:p>
        </p:txBody>
      </p:sp>
      <p:sp>
        <p:nvSpPr>
          <p:cNvPr id="6" name="Text 4"/>
          <p:cNvSpPr txBox="1"/>
          <p:nvPr/>
        </p:nvSpPr>
        <p:spPr>
          <a:xfrm>
            <a:off x="1097280" y="2843784"/>
            <a:ext cx="6309360" cy="91440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Kebiasaan internasional (international custom) sebagai bukti praktik umum yang diterima sebagai hukum.</a:t>
            </a:r>
            <a:endParaRPr lang="en-US" sz="1600" dirty="0"/>
          </a:p>
        </p:txBody>
      </p:sp>
      <p:sp>
        <p:nvSpPr>
          <p:cNvPr id="7" name="Text 5"/>
          <p:cNvSpPr txBox="1"/>
          <p:nvPr/>
        </p:nvSpPr>
        <p:spPr>
          <a:xfrm>
            <a:off x="502920" y="3831336"/>
            <a:ext cx="548640" cy="548640"/>
          </a:xfrm>
          <a:prstGeom prst="rect">
            <a:avLst/>
          </a:prstGeom>
          <a:noFill/>
          <a:ln/>
        </p:spPr>
        <p:txBody>
          <a:bodyPr wrap="square" lIns="0" tIns="0" rIns="0" bIns="0" rtlCol="0" anchor="t"/>
          <a:lstStyle/>
          <a:p>
            <a:pPr indent="0" marL="0">
              <a:buNone/>
            </a:pPr>
            <a:r>
              <a:rPr lang="en-US" sz="3000" b="1" dirty="0">
                <a:solidFill>
                  <a:srgbClr val="7A1220"/>
                </a:solidFill>
                <a:latin typeface="Georgia" pitchFamily="34" charset="0"/>
                <a:ea typeface="Georgia" pitchFamily="34" charset="-122"/>
                <a:cs typeface="Georgia" pitchFamily="34" charset="-120"/>
              </a:rPr>
              <a:t>c.</a:t>
            </a:r>
            <a:endParaRPr lang="en-US" sz="3000" dirty="0"/>
          </a:p>
        </p:txBody>
      </p:sp>
      <p:sp>
        <p:nvSpPr>
          <p:cNvPr id="8" name="Text 6"/>
          <p:cNvSpPr txBox="1"/>
          <p:nvPr/>
        </p:nvSpPr>
        <p:spPr>
          <a:xfrm>
            <a:off x="1097280" y="3867912"/>
            <a:ext cx="6309360" cy="91440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Prinsip-prinsip hukum umum (general principles of law) yang diakui oleh bangsa-bangsa beradab.</a:t>
            </a:r>
            <a:endParaRPr lang="en-US" sz="1600" dirty="0"/>
          </a:p>
        </p:txBody>
      </p:sp>
      <p:sp>
        <p:nvSpPr>
          <p:cNvPr id="9" name="Text 7"/>
          <p:cNvSpPr txBox="1"/>
          <p:nvPr/>
        </p:nvSpPr>
        <p:spPr>
          <a:xfrm>
            <a:off x="502920" y="4855464"/>
            <a:ext cx="548640" cy="548640"/>
          </a:xfrm>
          <a:prstGeom prst="rect">
            <a:avLst/>
          </a:prstGeom>
          <a:noFill/>
          <a:ln/>
        </p:spPr>
        <p:txBody>
          <a:bodyPr wrap="square" lIns="0" tIns="0" rIns="0" bIns="0" rtlCol="0" anchor="t"/>
          <a:lstStyle/>
          <a:p>
            <a:pPr indent="0" marL="0">
              <a:buNone/>
            </a:pPr>
            <a:r>
              <a:rPr lang="en-US" sz="3000" b="1" dirty="0">
                <a:solidFill>
                  <a:srgbClr val="5F5F5F"/>
                </a:solidFill>
                <a:latin typeface="Georgia" pitchFamily="34" charset="0"/>
                <a:ea typeface="Georgia" pitchFamily="34" charset="-122"/>
                <a:cs typeface="Georgia" pitchFamily="34" charset="-120"/>
              </a:rPr>
              <a:t>d.</a:t>
            </a:r>
            <a:endParaRPr lang="en-US" sz="3000" dirty="0"/>
          </a:p>
        </p:txBody>
      </p:sp>
      <p:sp>
        <p:nvSpPr>
          <p:cNvPr id="10" name="Text 8"/>
          <p:cNvSpPr txBox="1"/>
          <p:nvPr/>
        </p:nvSpPr>
        <p:spPr>
          <a:xfrm>
            <a:off x="1097280" y="4892040"/>
            <a:ext cx="6309360" cy="91440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Putusan pengadilan dan ajaran para ahli hukum terkemuka (judicial decisions and teachings), dengan memperhatikan Pasal 59, sebagai sumber tambahan.</a:t>
            </a:r>
            <a:endParaRPr lang="en-US" sz="1600" dirty="0"/>
          </a:p>
        </p:txBody>
      </p:sp>
      <p:sp>
        <p:nvSpPr>
          <p:cNvPr id="11" name="Shape 9"/>
          <p:cNvSpPr/>
          <p:nvPr/>
        </p:nvSpPr>
        <p:spPr>
          <a:xfrm>
            <a:off x="7726680" y="1783080"/>
            <a:ext cx="0" cy="4343400"/>
          </a:xfrm>
          <a:prstGeom prst="line">
            <a:avLst/>
          </a:prstGeom>
          <a:noFill/>
          <a:ln w="12700">
            <a:solidFill>
              <a:srgbClr val="D9D2CB"/>
            </a:solidFill>
            <a:prstDash val="solid"/>
          </a:ln>
        </p:spPr>
      </p:sp>
      <p:sp>
        <p:nvSpPr>
          <p:cNvPr id="12" name="Text 10"/>
          <p:cNvSpPr txBox="1"/>
          <p:nvPr/>
        </p:nvSpPr>
        <p:spPr>
          <a:xfrm>
            <a:off x="8001000" y="1783080"/>
            <a:ext cx="3657600" cy="100584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Sumber utama</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Huruf a, b, dan c dapat langsung menjadi dasar putusan.</a:t>
            </a:r>
            <a:endParaRPr lang="en-US" sz="1400" dirty="0"/>
          </a:p>
        </p:txBody>
      </p:sp>
      <p:sp>
        <p:nvSpPr>
          <p:cNvPr id="13" name="Text 11"/>
          <p:cNvSpPr txBox="1"/>
          <p:nvPr/>
        </p:nvSpPr>
        <p:spPr>
          <a:xfrm>
            <a:off x="8001000" y="2880360"/>
            <a:ext cx="3657600" cy="100584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Sumber tambahan</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Huruf d membantu menemukan dan menafsirkan aturan hukum.</a:t>
            </a:r>
            <a:endParaRPr lang="en-US" sz="1400" dirty="0"/>
          </a:p>
        </p:txBody>
      </p:sp>
      <p:sp>
        <p:nvSpPr>
          <p:cNvPr id="14" name="Text 12"/>
          <p:cNvSpPr txBox="1"/>
          <p:nvPr/>
        </p:nvSpPr>
        <p:spPr>
          <a:xfrm>
            <a:off x="8001000" y="3977640"/>
            <a:ext cx="3657600" cy="100584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38 ayat (2)</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MI dapat memutus ex aequo et bono (berdasarkan kepatutan dan keadilan) bila para pihak setuju.</a:t>
            </a:r>
            <a:endParaRPr lang="en-US" sz="1400" dirty="0"/>
          </a:p>
        </p:txBody>
      </p:sp>
      <p:sp>
        <p:nvSpPr>
          <p:cNvPr id="15" name="Text 13"/>
          <p:cNvSpPr txBox="1"/>
          <p:nvPr/>
        </p:nvSpPr>
        <p:spPr>
          <a:xfrm>
            <a:off x="8001000" y="5074920"/>
            <a:ext cx="3657600" cy="100584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59</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Putusan MI hanya mengikat para pihak dan hanya untuk perkara tersebut.</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896112"/>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Penerapan Pasal 38 dalam Perkara</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3112" cy="914400"/>
        </p:xfrm>
        <a:graphic>
          <a:graphicData uri="http://schemas.openxmlformats.org/drawingml/2006/table">
            <a:tbl>
              <a:tblPr/>
              <a:tblGrid>
                <a:gridCol w="2377440"/>
                <a:gridCol w="3840480"/>
                <a:gridCol w="4965192"/>
              </a:tblGrid>
              <a:tr h="438912">
                <a:tc>
                  <a:txBody>
                    <a:bodyPr/>
                    <a:lstStyle/>
                    <a:p>
                      <a:pPr indent="0" marL="0">
                        <a:buNone/>
                      </a:pPr>
                      <a:r>
                        <a:rPr lang="en-US" sz="1400" b="1" dirty="0">
                          <a:solidFill>
                            <a:srgbClr val="FFFFFF"/>
                          </a:solidFill>
                          <a:latin typeface="Arial" pitchFamily="34" charset="0"/>
                          <a:ea typeface="Arial" pitchFamily="34" charset="-122"/>
                          <a:cs typeface="Arial" pitchFamily="34" charset="-120"/>
                        </a:rPr>
                        <a:t>Sumber</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Perkara / instrumen</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Catatan</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r>
              <a:tr h="868680">
                <a:tc>
                  <a:txBody>
                    <a:bodyPr/>
                    <a:lstStyle/>
                    <a:p>
                      <a:pPr indent="0" marL="0">
                        <a:buNone/>
                      </a:pPr>
                      <a:r>
                        <a:rPr lang="en-US" sz="1400" b="1" dirty="0">
                          <a:solidFill>
                            <a:srgbClr val="2B2B2B"/>
                          </a:solidFill>
                          <a:latin typeface="Arial" pitchFamily="34" charset="0"/>
                          <a:ea typeface="Arial" pitchFamily="34" charset="-122"/>
                          <a:cs typeface="Arial" pitchFamily="34" charset="-120"/>
                        </a:rPr>
                        <a:t>Perjanjian internasional</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UNCLOS 1982, disahkan Indonesia dengan UU No. 17 Tahun 1985</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Indonesia terikat sebagai pihak; berlaku asas pacta sunt servanda (Pasal 26 Konvensi Wina 1969)</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2B2B2B"/>
                          </a:solidFill>
                          <a:latin typeface="Arial" pitchFamily="34" charset="0"/>
                          <a:ea typeface="Arial" pitchFamily="34" charset="-122"/>
                          <a:cs typeface="Arial" pitchFamily="34" charset="-120"/>
                        </a:rPr>
                        <a:t>Kebiasaan internasional</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North Sea Continental Shelf (MI, 1969)</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Kebiasaan memerlukan praktik negara yang luas dan seragam serta opinio juris; prinsip sama jarak tidak mengikat Jerman</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r>
              <a:tr h="731520">
                <a:tc>
                  <a:txBody>
                    <a:bodyPr/>
                    <a:lstStyle/>
                    <a:p>
                      <a:pPr indent="0" marL="0">
                        <a:buNone/>
                      </a:pPr>
                      <a:r>
                        <a:rPr lang="en-US" sz="1400" b="1" dirty="0">
                          <a:solidFill>
                            <a:srgbClr val="2B2B2B"/>
                          </a:solidFill>
                          <a:latin typeface="Arial" pitchFamily="34" charset="0"/>
                          <a:ea typeface="Arial" pitchFamily="34" charset="-122"/>
                          <a:cs typeface="Arial" pitchFamily="34" charset="-120"/>
                        </a:rPr>
                        <a:t>Prinsip hukum umum</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Chorzów Factory (PCIJ, 1928)</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Setiap pelanggaran kewajiban internasional menimbulkan kewajiban memberi ganti rugi</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2B2B2B"/>
                          </a:solidFill>
                          <a:latin typeface="Arial" pitchFamily="34" charset="0"/>
                          <a:ea typeface="Arial" pitchFamily="34" charset="-122"/>
                          <a:cs typeface="Arial" pitchFamily="34" charset="-120"/>
                        </a:rPr>
                        <a:t>Putusan pengadilan</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Sipadan dan Ligitan, Indonesia v. Malaysia (MI, 2002)</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Malaysia menang atas dasar effectivités (penguasaan efektif); putusan hanya mengikat para pihak (Pasal 59)</a:t>
                      </a:r>
                      <a:endParaRPr lang="en-US" sz="1400" dirty="0">
                        <a:latin typeface="Arial" charset="0"/>
                        <a:ea typeface="Arial" charset="0"/>
                        <a:cs typeface="Arial" charset="0"/>
                      </a:endParaRPr>
                    </a:p>
                  </a:txBody>
                  <a:tcPr marL="109728" marR="109728" marT="73152" marB="73152"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r>
            </a:tbl>
          </a:graphicData>
        </a:graphic>
      </p:graphicFrame>
      <p:sp>
        <p:nvSpPr>
          <p:cNvPr id="4" name="Text 1"/>
          <p:cNvSpPr txBox="1"/>
          <p:nvPr/>
        </p:nvSpPr>
        <p:spPr>
          <a:xfrm>
            <a:off x="502920" y="5806440"/>
            <a:ext cx="11155680" cy="411480"/>
          </a:xfrm>
          <a:prstGeom prst="rect">
            <a:avLst/>
          </a:prstGeom>
          <a:noFill/>
          <a:ln/>
        </p:spPr>
        <p:txBody>
          <a:bodyPr wrap="square" lIns="0" tIns="0" rIns="0" bIns="0" rtlCol="0" anchor="t"/>
          <a:lstStyle/>
          <a:p>
            <a:pPr indent="0" marL="0">
              <a:spcAft>
                <a:spcPts val="600"/>
              </a:spcAft>
              <a:buNone/>
            </a:pPr>
            <a:r>
              <a:rPr lang="en-US" sz="1300" i="1" dirty="0">
                <a:solidFill>
                  <a:srgbClr val="5F5F5F"/>
                </a:solidFill>
                <a:latin typeface="Arial" pitchFamily="34" charset="0"/>
                <a:ea typeface="Arial" pitchFamily="34" charset="-122"/>
                <a:cs typeface="Arial" pitchFamily="34" charset="-120"/>
              </a:rPr>
              <a:t>Latihan: untuk setiap perkara, tunjukkan bagian putusan yang menyebut sumber hukumnya.</a:t>
            </a:r>
            <a:endParaRPr lang="en-US" sz="13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896112"/>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Sumber Formal dan Sumber Material</a:t>
            </a:r>
            <a:endParaRPr lang="en-US" sz="2800" dirty="0"/>
          </a:p>
        </p:txBody>
      </p:sp>
      <p:sp>
        <p:nvSpPr>
          <p:cNvPr id="3" name="Text 1"/>
          <p:cNvSpPr txBox="1"/>
          <p:nvPr/>
        </p:nvSpPr>
        <p:spPr>
          <a:xfrm>
            <a:off x="502920" y="1691640"/>
            <a:ext cx="5394960" cy="91440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Sumber formal</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Tempat ditemukannya aturan hukum internasional, yaitu yang disebut dalam Pasal 38 Statuta MI.</a:t>
            </a:r>
            <a:endParaRPr lang="en-US" sz="1500" dirty="0"/>
          </a:p>
        </p:txBody>
      </p:sp>
      <p:sp>
        <p:nvSpPr>
          <p:cNvPr id="4" name="Text 2"/>
          <p:cNvSpPr txBox="1"/>
          <p:nvPr/>
        </p:nvSpPr>
        <p:spPr>
          <a:xfrm>
            <a:off x="6263640" y="1691640"/>
            <a:ext cx="5394960" cy="91440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Sumber material</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Faktor yang menentukan isi aturan, misalnya kebutuhan masyarakat internasional, rasa keadilan, dan kepentingan negara.</a:t>
            </a:r>
            <a:endParaRPr lang="en-US" sz="1500" dirty="0"/>
          </a:p>
        </p:txBody>
      </p:sp>
      <p:sp>
        <p:nvSpPr>
          <p:cNvPr id="5" name="Text 3"/>
          <p:cNvSpPr txBox="1"/>
          <p:nvPr/>
        </p:nvSpPr>
        <p:spPr>
          <a:xfrm>
            <a:off x="502920" y="2788920"/>
            <a:ext cx="5486400" cy="320040"/>
          </a:xfrm>
          <a:prstGeom prst="rect">
            <a:avLst/>
          </a:prstGeom>
          <a:noFill/>
          <a:ln/>
        </p:spPr>
        <p:txBody>
          <a:bodyPr wrap="square" lIns="0" tIns="0" rIns="0" bIns="0" rtlCol="0" anchor="t"/>
          <a:lstStyle/>
          <a:p>
            <a:pPr indent="0" marL="0">
              <a:spcAft>
                <a:spcPts val="600"/>
              </a:spcAft>
              <a:buNone/>
            </a:pPr>
            <a:r>
              <a:rPr lang="en-US" sz="1400" b="1" dirty="0">
                <a:solidFill>
                  <a:srgbClr val="5F5F5F"/>
                </a:solidFill>
                <a:latin typeface="Arial" pitchFamily="34" charset="0"/>
                <a:ea typeface="Arial" pitchFamily="34" charset="-122"/>
                <a:cs typeface="Arial" pitchFamily="34" charset="-120"/>
              </a:rPr>
              <a:t>Contoh dari Indonesia:</a:t>
            </a:r>
            <a:endParaRPr lang="en-US" sz="1400" dirty="0"/>
          </a:p>
        </p:txBody>
      </p:sp>
      <p:sp>
        <p:nvSpPr>
          <p:cNvPr id="6" name="Text 4"/>
          <p:cNvSpPr txBox="1"/>
          <p:nvPr/>
        </p:nvSpPr>
        <p:spPr>
          <a:xfrm>
            <a:off x="502920" y="3154680"/>
            <a:ext cx="3200400" cy="411480"/>
          </a:xfrm>
          <a:prstGeom prst="rect">
            <a:avLst/>
          </a:prstGeom>
          <a:noFill/>
          <a:ln/>
        </p:spPr>
        <p:txBody>
          <a:bodyPr wrap="square" lIns="0" tIns="0" rIns="0" bIns="0" rtlCol="0" anchor="t"/>
          <a:lstStyle/>
          <a:p>
            <a:pPr indent="0" marL="0">
              <a:spcAft>
                <a:spcPts val="600"/>
              </a:spcAft>
              <a:buNone/>
            </a:pPr>
            <a:r>
              <a:rPr lang="en-US" sz="2000" b="1" dirty="0">
                <a:solidFill>
                  <a:srgbClr val="7A1220"/>
                </a:solidFill>
                <a:latin typeface="Georgia" pitchFamily="34" charset="0"/>
                <a:ea typeface="Georgia" pitchFamily="34" charset="-122"/>
                <a:cs typeface="Georgia" pitchFamily="34" charset="-120"/>
              </a:rPr>
              <a:t>1957</a:t>
            </a:r>
            <a:endParaRPr lang="en-US" sz="2000" dirty="0"/>
          </a:p>
        </p:txBody>
      </p:sp>
      <p:sp>
        <p:nvSpPr>
          <p:cNvPr id="7" name="Text 5"/>
          <p:cNvSpPr txBox="1"/>
          <p:nvPr/>
        </p:nvSpPr>
        <p:spPr>
          <a:xfrm>
            <a:off x="502920" y="3584448"/>
            <a:ext cx="3200400" cy="8229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Deklarasi Djuanda: laut di antara pulau-pulau diklaim sebagai perairan Indonesia</a:t>
            </a:r>
            <a:endParaRPr lang="en-US" sz="1400" dirty="0"/>
          </a:p>
        </p:txBody>
      </p:sp>
      <p:sp>
        <p:nvSpPr>
          <p:cNvPr id="8" name="Shape 6"/>
          <p:cNvSpPr/>
          <p:nvPr/>
        </p:nvSpPr>
        <p:spPr>
          <a:xfrm>
            <a:off x="3813048" y="3246120"/>
            <a:ext cx="384048" cy="237744"/>
          </a:xfrm>
          <a:prstGeom prst="rightArrow">
            <a:avLst/>
          </a:prstGeom>
          <a:solidFill>
            <a:srgbClr val="D9D2CB"/>
          </a:solidFill>
          <a:ln w="12700">
            <a:solidFill>
              <a:srgbClr val="D9D2CB"/>
            </a:solidFill>
            <a:prstDash val="solid"/>
          </a:ln>
        </p:spPr>
      </p:sp>
      <p:sp>
        <p:nvSpPr>
          <p:cNvPr id="9" name="Text 7"/>
          <p:cNvSpPr txBox="1"/>
          <p:nvPr/>
        </p:nvSpPr>
        <p:spPr>
          <a:xfrm>
            <a:off x="4343400" y="3154680"/>
            <a:ext cx="3200400" cy="411480"/>
          </a:xfrm>
          <a:prstGeom prst="rect">
            <a:avLst/>
          </a:prstGeom>
          <a:noFill/>
          <a:ln/>
        </p:spPr>
        <p:txBody>
          <a:bodyPr wrap="square" lIns="0" tIns="0" rIns="0" bIns="0" rtlCol="0" anchor="t"/>
          <a:lstStyle/>
          <a:p>
            <a:pPr indent="0" marL="0">
              <a:spcAft>
                <a:spcPts val="600"/>
              </a:spcAft>
              <a:buNone/>
            </a:pPr>
            <a:r>
              <a:rPr lang="en-US" sz="2000" b="1" dirty="0">
                <a:solidFill>
                  <a:srgbClr val="7A1220"/>
                </a:solidFill>
                <a:latin typeface="Georgia" pitchFamily="34" charset="0"/>
                <a:ea typeface="Georgia" pitchFamily="34" charset="-122"/>
                <a:cs typeface="Georgia" pitchFamily="34" charset="-120"/>
              </a:rPr>
              <a:t>1982</a:t>
            </a:r>
            <a:endParaRPr lang="en-US" sz="2000" dirty="0"/>
          </a:p>
        </p:txBody>
      </p:sp>
      <p:sp>
        <p:nvSpPr>
          <p:cNvPr id="10" name="Text 8"/>
          <p:cNvSpPr txBox="1"/>
          <p:nvPr/>
        </p:nvSpPr>
        <p:spPr>
          <a:xfrm>
            <a:off x="4343400" y="3584448"/>
            <a:ext cx="3200400" cy="8229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UNCLOS Bab IV mengakui konsep negara kepulauan</a:t>
            </a:r>
            <a:endParaRPr lang="en-US" sz="1400" dirty="0"/>
          </a:p>
        </p:txBody>
      </p:sp>
      <p:sp>
        <p:nvSpPr>
          <p:cNvPr id="11" name="Shape 9"/>
          <p:cNvSpPr/>
          <p:nvPr/>
        </p:nvSpPr>
        <p:spPr>
          <a:xfrm>
            <a:off x="7653528" y="3246120"/>
            <a:ext cx="384048" cy="237744"/>
          </a:xfrm>
          <a:prstGeom prst="rightArrow">
            <a:avLst/>
          </a:prstGeom>
          <a:solidFill>
            <a:srgbClr val="D9D2CB"/>
          </a:solidFill>
          <a:ln w="12700">
            <a:solidFill>
              <a:srgbClr val="D9D2CB"/>
            </a:solidFill>
            <a:prstDash val="solid"/>
          </a:ln>
        </p:spPr>
      </p:sp>
      <p:sp>
        <p:nvSpPr>
          <p:cNvPr id="12" name="Text 10"/>
          <p:cNvSpPr txBox="1"/>
          <p:nvPr/>
        </p:nvSpPr>
        <p:spPr>
          <a:xfrm>
            <a:off x="8183880" y="3154680"/>
            <a:ext cx="3200400" cy="411480"/>
          </a:xfrm>
          <a:prstGeom prst="rect">
            <a:avLst/>
          </a:prstGeom>
          <a:noFill/>
          <a:ln/>
        </p:spPr>
        <p:txBody>
          <a:bodyPr wrap="square" lIns="0" tIns="0" rIns="0" bIns="0" rtlCol="0" anchor="t"/>
          <a:lstStyle/>
          <a:p>
            <a:pPr indent="0" marL="0">
              <a:spcAft>
                <a:spcPts val="600"/>
              </a:spcAft>
              <a:buNone/>
            </a:pPr>
            <a:r>
              <a:rPr lang="en-US" sz="2000" b="1" dirty="0">
                <a:solidFill>
                  <a:srgbClr val="7A1220"/>
                </a:solidFill>
                <a:latin typeface="Georgia" pitchFamily="34" charset="0"/>
                <a:ea typeface="Georgia" pitchFamily="34" charset="-122"/>
                <a:cs typeface="Georgia" pitchFamily="34" charset="-120"/>
              </a:rPr>
              <a:t>1985</a:t>
            </a:r>
            <a:endParaRPr lang="en-US" sz="2000" dirty="0"/>
          </a:p>
        </p:txBody>
      </p:sp>
      <p:sp>
        <p:nvSpPr>
          <p:cNvPr id="13" name="Text 11"/>
          <p:cNvSpPr txBox="1"/>
          <p:nvPr/>
        </p:nvSpPr>
        <p:spPr>
          <a:xfrm>
            <a:off x="8183880" y="3584448"/>
            <a:ext cx="3200400" cy="8229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Indonesia mengesahkan UNCLOS dengan UU No. 17 Tahun 1985</a:t>
            </a:r>
            <a:endParaRPr lang="en-US" sz="1400" dirty="0"/>
          </a:p>
        </p:txBody>
      </p:sp>
      <p:sp>
        <p:nvSpPr>
          <p:cNvPr id="14" name="Shape 12"/>
          <p:cNvSpPr/>
          <p:nvPr/>
        </p:nvSpPr>
        <p:spPr>
          <a:xfrm>
            <a:off x="502920" y="4572000"/>
            <a:ext cx="11183112" cy="0"/>
          </a:xfrm>
          <a:prstGeom prst="line">
            <a:avLst/>
          </a:prstGeom>
          <a:noFill/>
          <a:ln w="12700">
            <a:solidFill>
              <a:srgbClr val="D9D2CB"/>
            </a:solidFill>
            <a:prstDash val="solid"/>
          </a:ln>
        </p:spPr>
      </p:sp>
      <p:sp>
        <p:nvSpPr>
          <p:cNvPr id="15" name="Text 13"/>
          <p:cNvSpPr txBox="1"/>
          <p:nvPr/>
        </p:nvSpPr>
        <p:spPr>
          <a:xfrm>
            <a:off x="502920" y="4709160"/>
            <a:ext cx="5669280" cy="146304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Tugas (lihat menu Tugas di LEXFLIX)</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1. Kelompok: Mahkamah Mini, legal opinion dan presentasi perkara</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2. Individu: Bedah Berita Pasal 38</a:t>
            </a:r>
            <a:endParaRPr lang="en-US" sz="1400" dirty="0"/>
          </a:p>
        </p:txBody>
      </p:sp>
      <p:sp>
        <p:nvSpPr>
          <p:cNvPr id="16" name="Text 14"/>
          <p:cNvSpPr txBox="1"/>
          <p:nvPr/>
        </p:nvSpPr>
        <p:spPr>
          <a:xfrm>
            <a:off x="6263640" y="4709160"/>
            <a:ext cx="5394960" cy="1554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Bacaan</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Dixon (2013), Textbook on International Law, Bab 3 dan 4</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Purnomo (2021), Hukum Internasional: Suatu Pengantar, Bab 2 dan 3</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Kusumaatmadja (2019), Pengantar Hukum Internasional</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FH UNISSULA">
  <a:themeElements>
    <a:clrScheme name="FH UNISSULA">
      <a:dk1>
        <a:srgbClr val="2B2B2B"/>
      </a:dk1>
      <a:lt1>
        <a:srgbClr val="FFFFFF"/>
      </a:lt1>
      <a:dk2>
        <a:srgbClr val="7A1220"/>
      </a:dk2>
      <a:lt2>
        <a:srgbClr val="F7F4F0"/>
      </a:lt2>
      <a:accent1>
        <a:srgbClr val="7A1220"/>
      </a:accent1>
      <a:accent2>
        <a:srgbClr val="9C6B4E"/>
      </a:accent2>
      <a:accent3>
        <a:srgbClr val="4F6D7A"/>
      </a:accent3>
      <a:accent4>
        <a:srgbClr val="B08D57"/>
      </a:accent4>
      <a:accent5>
        <a:srgbClr val="6B6B6B"/>
      </a:accent5>
      <a:accent6>
        <a:srgbClr val="3E5641"/>
      </a:accent6>
      <a:hlink>
        <a:srgbClr val="7A1220"/>
      </a:hlink>
      <a:folHlink>
        <a:srgbClr val="5F5F5F"/>
      </a:folHlink>
    </a:clrScheme>
    <a:fontScheme name="FH UNISSUL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Fakultas Hukum UNISSULA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Subjek dan Sumber Hukum Internasional</dc:title>
  <dc:subject>Hukum Internasional, Pertemuan 2</dc:subject>
  <dc:creator>Aditya Noviyansyah, S.H., M.H.</dc:creator>
  <cp:lastModifiedBy>Aditya Noviyansyah, S.H., M.H.</cp:lastModifiedBy>
  <cp:revision>1</cp:revision>
  <dcterms:created xsi:type="dcterms:W3CDTF">2026-10-21T06:06:33Z</dcterms:created>
  <dcterms:modified xsi:type="dcterms:W3CDTF">2026-10-21T06:06:33Z</dcterms:modified>
</cp:coreProperties>
</file>