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Istilah ghosting sengaja dipakai sebagai pemantik: menghilang tanpa kabar dari komitmen. Tanyakan apakah negara boleh begitu saja berhenti melaksanakan perjanjian. Jawabannya di slide 6.
Tujuan (Sub-CPMK4): mahasiswa mampu menganalisis pembentukan, berlakunya, dan pembatalan perjanjian internasional berdasarkan Konvensi Wina 1969.
Waktu kira-kira: definisi 20 menit, tahapan 30 menit, praktik Indonesia 30 menit, asas dan berakhirnya perjanjian 40 menit, kuis 15 menit.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Bedah definisi satu per satu. Nomor 1 sampai 4 di kalimat atas sama dengan kolom di bawahnya.
Unsur "apa pun namanya" sering mengecoh. Yang menentukan bukan judul dokumen, tetapi apakah para pihak bermaksud menciptakan hak dan kewajiban menurut hukum internasional. Dalam perkara Qatar v. Bahrain (MI, 1994), notulen rapat yang ditandatangani menteri dinilai sebagai perjanjian.
UU 24/2000 Pasal 1 angka 1 menambahkan unsur menimbulkan hak dan kewajiban di bidang hukum publik.
Tanya kelas: apakah MoU kerja sama UNISSULA dengan universitas di Malaysia termasuk perjanjian internasional? (Tidak, karena para pihaknya bukan subjek hukum internasional.)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Tekankan beda tanda tangan dan ratifikasi. Pada perjanjian yang mensyaratkan ratifikasi, tanda tangan belum membuat negara terikat, tetapi Pasal 18 sudah melarang tindakan yang menggagalkan tujuan perjanjian.
Full powers tidak diperlukan untuk kepala negara, kepala pemerintahan, dan menteri luar negeri (Pasal 7 ayat (2)).
Contoh mulai berlaku: BBNJ mensyaratkan 60 ratifikasi dan mulai berlaku 120 hari kemudian, yaitu 17 Januari 2026.
Perjanjian yang tidak didaftarkan tidak dapat dijadikan dasar di hadapan organ PBB (Pasal 102 ayat (2) Piagam).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UU 24/2000 menyebut keputusan presiden; sejak UU 12/2011 bentuknya peraturan presiden.
Pasal 11 UUD 1945 menjadi dasar: perjanjian yang berakibat luas dan mendasar, terkait beban keuangan negara, atau mengharuskan perubahan undang-undang, perlu persetujuan DPR.
Putusan MK 13/PUU-XVI/2018 (22 November 2018), diajukan oleh sejumlah LSM dan petambak garam. MK menyatakan Pasal 10 inkonstitusional bersyarat sepanjang ditafsirkan hanya perjanjian huruf a sampai f yang memerlukan persetujuan DPR.
Kasus BBNJ untuk diskusi studi kasus perjanjian. Tidak ada jawaban tunggal: satu sisi melihatnya sebagai perjanjian lingkungan hidup (huruf d), sisi lain melihatnya sebagai perjanjian pelaksanaan UNCLOS yang sudah disahkan dengan undang-undang. Minta mahasiswa memilih posisi dan memberi dasar hukum.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Pacta sunt servanda adalah asas tertua dan paling penting dalam hukum perjanjian.
Pasal 27 mengulang pelajaran Pertemuan 3: alasan hukum nasional tidak diterima di forum internasional. Pengecualiannya sempit, yaitu Pasal 46.
Pasal 31: latihan singkat. Ambil satu pasal UNCLOS, minta mahasiswa menafsirkannya dengan empat cara di atas.
Pasal 34 (pacta tertiis): contohnya North Sea Continental Shelf, Jerman tidak terikat Konvensi Landas Kontinen 1958 karena bukan pihak.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Jawaban pertanyaan sampul: negara tidak boleh ghosting. Kalau ingin lepas, harus lewat jalan yang disediakan perjanjian atau Konvensi Wina.
Kolom kiri: perjanjian dianggap cacat sejak lahir. Kolom kanan: perjanjiannya sah, tetapi kemudian berakhir atau negara keluar.
Pasal 28 Persetujuan Paris: negara boleh keluar setelah tiga tahun sejak perjanjian berlaku baginya, dan penarikan diri efektif satu tahun setelah notifikasi.
Gabčíkovo-Nagymaros (Hungaria v. Slowakia): MI menegaskan perubahan keadaan hanya bisa dipakai dalam keadaan luar biasa. Perjanjian tetap berlaku dan para pihak diminta berunding.
Jus cogens: misalnya larangan genosida, perbudakan, penyiksaan, dan agresi.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Kunci: (1) tidak otomatis; ukurannya maksud para pihak untuk terikat menurut hukum internasional, bukan judul dokumen; (2) Pasal 18, tidak boleh menggagalkan maksud dan tujuan perjanjian; (3) AS keluar sesuai prosedur Pasal 28 Persetujuan Paris.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KONTEN">
    <p:bg>
      <p:bgPr>
        <a:solidFill>
          <a:srgbClr val="FFFFFF"/>
        </a:solidFill>
      </p:bgPr>
    </p:bg>
    <p:spTree>
      <p:nvGrpSpPr>
        <p:cNvPr id="1" name=""/>
        <p:cNvGrpSpPr/>
        <p:nvPr/>
      </p:nvGrpSpPr>
      <p:grpSpPr>
        <a:xfrm>
          <a:off x="0" y="0"/>
          <a:ext cx="0" cy="0"/>
          <a:chOff x="0" y="0"/>
          <a:chExt cx="0" cy="0"/>
        </a:xfrm>
      </p:grpSpPr>
      <p:pic>
        <p:nvPicPr>
          <p:cNvPr id="2" name="Image 0" descr="/tmp/claude-0/-home-claude/1d55af17-4c07-5715-bc68-ec714a3707f7/scratchpad/pptx-hi/logo-kecil.png">    </p:cNvPr>
          <p:cNvPicPr>
            <a:picLocks noChangeAspect="1"/>
          </p:cNvPicPr>
          <p:nvPr/>
        </p:nvPicPr>
        <p:blipFill>
          <a:blip r:embed="rId1"/>
          <a:stretch>
            <a:fillRect/>
          </a:stretch>
        </p:blipFill>
        <p:spPr>
          <a:xfrm>
            <a:off x="502920" y="256032"/>
            <a:ext cx="384048" cy="365760"/>
          </a:xfrm>
          <a:prstGeom prst="rect">
            <a:avLst/>
          </a:prstGeom>
        </p:spPr>
      </p:pic>
      <p:sp>
        <p:nvSpPr>
          <p:cNvPr id="3" name="Text 0"/>
          <p:cNvSpPr/>
          <p:nvPr/>
        </p:nvSpPr>
        <p:spPr>
          <a:xfrm>
            <a:off x="978408" y="274320"/>
            <a:ext cx="5486400" cy="329184"/>
          </a:xfrm>
          <a:prstGeom prst="rect">
            <a:avLst/>
          </a:prstGeom>
          <a:noFill/>
          <a:ln/>
        </p:spPr>
        <p:txBody>
          <a:bodyPr wrap="square" lIns="0" tIns="0" rIns="0" bIns="0" rtlCol="0" anchor="ctr"/>
          <a:lstStyle/>
          <a:p>
            <a:pPr indent="0" marL="0">
              <a:buNone/>
            </a:pPr>
            <a:r>
              <a:rPr lang="en-US" sz="1100" dirty="0">
                <a:solidFill>
                  <a:srgbClr val="5F5F5F"/>
                </a:solidFill>
                <a:latin typeface="Arial" pitchFamily="34" charset="0"/>
                <a:ea typeface="Arial" pitchFamily="34" charset="-122"/>
                <a:cs typeface="Arial" pitchFamily="34" charset="-120"/>
              </a:rPr>
              <a:t>Fakultas Hukum Universitas Islam Sultan Agung</a:t>
            </a:r>
            <a:endParaRPr lang="en-US" sz="1100" dirty="0"/>
          </a:p>
        </p:txBody>
      </p:sp>
      <p:sp>
        <p:nvSpPr>
          <p:cNvPr id="4" name="Text 1"/>
          <p:cNvSpPr/>
          <p:nvPr/>
        </p:nvSpPr>
        <p:spPr>
          <a:xfrm>
            <a:off x="6675120" y="274320"/>
            <a:ext cx="5010912" cy="329184"/>
          </a:xfrm>
          <a:prstGeom prst="rect">
            <a:avLst/>
          </a:prstGeom>
          <a:noFill/>
          <a:ln/>
        </p:spPr>
        <p:txBody>
          <a:bodyPr wrap="square" lIns="0" tIns="0" rIns="0" bIns="0" rtlCol="0" anchor="ctr"/>
          <a:lstStyle/>
          <a:p>
            <a:pPr algn="r" indent="0" marL="0">
              <a:buNone/>
            </a:pPr>
            <a:r>
              <a:rPr lang="en-US" sz="1100" dirty="0">
                <a:solidFill>
                  <a:srgbClr val="5F5F5F"/>
                </a:solidFill>
                <a:latin typeface="Arial" pitchFamily="34" charset="0"/>
                <a:ea typeface="Arial" pitchFamily="34" charset="-122"/>
                <a:cs typeface="Arial" pitchFamily="34" charset="-120"/>
              </a:rPr>
              <a:t>Hukum Internasional | Pertemuan 5</a:t>
            </a:r>
            <a:endParaRPr lang="en-US" sz="1100" dirty="0"/>
          </a:p>
        </p:txBody>
      </p:sp>
      <p:sp>
        <p:nvSpPr>
          <p:cNvPr id="5" name="Shape 2"/>
          <p:cNvSpPr/>
          <p:nvPr/>
        </p:nvSpPr>
        <p:spPr>
          <a:xfrm>
            <a:off x="502920" y="749808"/>
            <a:ext cx="11183112" cy="0"/>
          </a:xfrm>
          <a:prstGeom prst="line">
            <a:avLst/>
          </a:prstGeom>
          <a:noFill/>
          <a:ln w="12700">
            <a:solidFill>
              <a:srgbClr val="D9D2CB"/>
            </a:solidFill>
            <a:prstDash val="solid"/>
          </a:ln>
        </p:spPr>
      </p:sp>
      <p:sp>
        <p:nvSpPr>
          <p:cNvPr id="6" name="Shape 3"/>
          <p:cNvSpPr/>
          <p:nvPr/>
        </p:nvSpPr>
        <p:spPr>
          <a:xfrm>
            <a:off x="502920" y="6400800"/>
            <a:ext cx="11183112" cy="0"/>
          </a:xfrm>
          <a:prstGeom prst="line">
            <a:avLst/>
          </a:prstGeom>
          <a:noFill/>
          <a:ln w="12700">
            <a:solidFill>
              <a:srgbClr val="D9D2CB"/>
            </a:solidFill>
            <a:prstDash val="solid"/>
          </a:ln>
        </p:spPr>
      </p:sp>
      <p:sp>
        <p:nvSpPr>
          <p:cNvPr id="7" name="Text 4"/>
          <p:cNvSpPr/>
          <p:nvPr/>
        </p:nvSpPr>
        <p:spPr>
          <a:xfrm>
            <a:off x="502920" y="6446520"/>
            <a:ext cx="5486400" cy="274320"/>
          </a:xfrm>
          <a:prstGeom prst="rect">
            <a:avLst/>
          </a:prstGeom>
          <a:noFill/>
          <a:ln/>
        </p:spPr>
        <p:txBody>
          <a:bodyPr wrap="square" lIns="0" tIns="0" rIns="0" bIns="0" rtlCol="0" anchor="ctr"/>
          <a:lstStyle/>
          <a:p>
            <a:pPr indent="0" marL="0">
              <a:buNone/>
            </a:pPr>
            <a:r>
              <a:rPr lang="en-US" sz="1000" dirty="0">
                <a:solidFill>
                  <a:srgbClr val="5F5F5F"/>
                </a:solidFill>
                <a:latin typeface="Arial" pitchFamily="34" charset="0"/>
                <a:ea typeface="Arial" pitchFamily="34" charset="-122"/>
                <a:cs typeface="Arial" pitchFamily="34" charset="-120"/>
              </a:rPr>
              <a:t>Aditya Noviyansyah, S.H., M.H.</a:t>
            </a:r>
            <a:endParaRPr lang="en-US" sz="1000" dirty="0"/>
          </a:p>
        </p:txBody>
      </p:sp>
      <p:sp>
        <p:nvSpPr>
          <p:cNvPr id="25" name="Slide Number Placeholder 0"/>
          <p:cNvSpPr>
            <a:spLocks noGrp="1"/>
          </p:cNvSpPr>
          <p:nvPr>
            <p:ph type="sldNum" sz="quarter" idx="4294967295"/>
          </p:nvPr>
        </p:nvSpPr>
        <p:spPr>
          <a:xfrm>
            <a:off x="11228832"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5F5F"/>
                </a:solidFill>
                <a:latin typeface="Arial"/>
                <a:ea typeface="Arial"/>
                <a:cs typeface="Arial"/>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28832"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5F5F"/>
                </a:solidFill>
                <a:latin typeface="Arial"/>
                <a:ea typeface="Arial"/>
                <a:cs typeface="Aria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31520" y="640080"/>
            <a:ext cx="0" cy="5577840"/>
          </a:xfrm>
          <a:prstGeom prst="line">
            <a:avLst/>
          </a:prstGeom>
          <a:noFill/>
          <a:ln w="28575">
            <a:solidFill>
              <a:srgbClr val="7A1220"/>
            </a:solidFill>
            <a:prstDash val="solid"/>
          </a:ln>
        </p:spPr>
      </p:sp>
      <p:pic>
        <p:nvPicPr>
          <p:cNvPr id="3" name="Image 0" descr="/tmp/claude-0/-home-claude/1d55af17-4c07-5715-bc68-ec714a3707f7/scratchpad/pptx-hi/logo-besar.png">    </p:cNvPr>
          <p:cNvPicPr>
            <a:picLocks noChangeAspect="1"/>
          </p:cNvPicPr>
          <p:nvPr/>
        </p:nvPicPr>
        <p:blipFill>
          <a:blip r:embed="rId1"/>
          <a:stretch>
            <a:fillRect/>
          </a:stretch>
        </p:blipFill>
        <p:spPr>
          <a:xfrm>
            <a:off x="1051560" y="685800"/>
            <a:ext cx="1143000" cy="1097280"/>
          </a:xfrm>
          <a:prstGeom prst="rect">
            <a:avLst/>
          </a:prstGeom>
        </p:spPr>
      </p:pic>
      <p:sp>
        <p:nvSpPr>
          <p:cNvPr id="4" name="Text 1"/>
          <p:cNvSpPr txBox="1"/>
          <p:nvPr/>
        </p:nvSpPr>
        <p:spPr>
          <a:xfrm>
            <a:off x="1051560" y="2011680"/>
            <a:ext cx="8229600" cy="365760"/>
          </a:xfrm>
          <a:prstGeom prst="rect">
            <a:avLst/>
          </a:prstGeom>
          <a:noFill/>
          <a:ln/>
        </p:spPr>
        <p:txBody>
          <a:bodyPr wrap="square" lIns="0" tIns="0" rIns="0" bIns="0" rtlCol="0" anchor="t"/>
          <a:lstStyle/>
          <a:p>
            <a:pPr indent="0" marL="0">
              <a:spcAft>
                <a:spcPts val="600"/>
              </a:spcAft>
              <a:buNone/>
            </a:pPr>
            <a:r>
              <a:rPr lang="en-US" sz="1400" b="1" spc="200" kern="0" dirty="0">
                <a:solidFill>
                  <a:srgbClr val="5F5F5F"/>
                </a:solidFill>
                <a:latin typeface="Arial" pitchFamily="34" charset="0"/>
                <a:ea typeface="Arial" pitchFamily="34" charset="-122"/>
                <a:cs typeface="Arial" pitchFamily="34" charset="-120"/>
              </a:rPr>
              <a:t>MATA KULIAH HUKUM INTERNASIONAL</a:t>
            </a:r>
            <a:endParaRPr lang="en-US" sz="1400" dirty="0"/>
          </a:p>
        </p:txBody>
      </p:sp>
      <p:sp>
        <p:nvSpPr>
          <p:cNvPr id="5" name="Text 2"/>
          <p:cNvSpPr txBox="1"/>
          <p:nvPr/>
        </p:nvSpPr>
        <p:spPr>
          <a:xfrm>
            <a:off x="1051560" y="2395728"/>
            <a:ext cx="10424160" cy="1508760"/>
          </a:xfrm>
          <a:prstGeom prst="rect">
            <a:avLst/>
          </a:prstGeom>
          <a:noFill/>
          <a:ln/>
        </p:spPr>
        <p:txBody>
          <a:bodyPr wrap="square" lIns="0" tIns="0" rIns="0" bIns="0" rtlCol="0" anchor="t"/>
          <a:lstStyle/>
          <a:p>
            <a:pPr indent="0" marL="0">
              <a:lnSpc>
                <a:spcPct val="100000"/>
              </a:lnSpc>
              <a:buNone/>
            </a:pPr>
            <a:r>
              <a:rPr lang="en-US" sz="4400" b="1" dirty="0">
                <a:solidFill>
                  <a:srgbClr val="7A1220"/>
                </a:solidFill>
                <a:latin typeface="Georgia" pitchFamily="34" charset="0"/>
                <a:ea typeface="Georgia" pitchFamily="34" charset="-122"/>
                <a:cs typeface="Georgia" pitchFamily="34" charset="-120"/>
              </a:rPr>
              <a:t>Hukum Perjanjian Internasional</a:t>
            </a:r>
            <a:endParaRPr lang="en-US" sz="4400" dirty="0"/>
          </a:p>
          <a:p>
            <a:pPr indent="0" marL="0">
              <a:lnSpc>
                <a:spcPct val="100000"/>
              </a:lnSpc>
              <a:buNone/>
            </a:pPr>
            <a:r>
              <a:rPr lang="en-US" sz="4400" b="1" dirty="0">
                <a:solidFill>
                  <a:srgbClr val="7A1220"/>
                </a:solidFill>
                <a:latin typeface="Georgia" pitchFamily="34" charset="0"/>
                <a:ea typeface="Georgia" pitchFamily="34" charset="-122"/>
                <a:cs typeface="Georgia" pitchFamily="34" charset="-120"/>
              </a:rPr>
              <a:t>(Konvensi Wina 1969)</a:t>
            </a:r>
            <a:endParaRPr lang="en-US" sz="4400" dirty="0"/>
          </a:p>
        </p:txBody>
      </p:sp>
      <p:sp>
        <p:nvSpPr>
          <p:cNvPr id="6" name="Text 3"/>
          <p:cNvSpPr txBox="1"/>
          <p:nvPr/>
        </p:nvSpPr>
        <p:spPr>
          <a:xfrm>
            <a:off x="1051560" y="4005072"/>
            <a:ext cx="9875520" cy="777240"/>
          </a:xfrm>
          <a:prstGeom prst="rect">
            <a:avLst/>
          </a:prstGeom>
          <a:noFill/>
          <a:ln/>
        </p:spPr>
        <p:txBody>
          <a:bodyPr wrap="square" lIns="0" tIns="0" rIns="0" bIns="0" rtlCol="0" anchor="t"/>
          <a:lstStyle/>
          <a:p>
            <a:pPr indent="0" marL="0">
              <a:spcAft>
                <a:spcPts val="600"/>
              </a:spcAft>
              <a:buNone/>
            </a:pPr>
            <a:r>
              <a:rPr lang="en-US" sz="2000" i="1" dirty="0">
                <a:solidFill>
                  <a:srgbClr val="2B2B2B"/>
                </a:solidFill>
                <a:latin typeface="Georgia" pitchFamily="34" charset="0"/>
                <a:ea typeface="Georgia" pitchFamily="34" charset="-122"/>
                <a:cs typeface="Georgia" pitchFamily="34" charset="-120"/>
              </a:rPr>
              <a:t>Bolehkah negara “ghosting” perjanjian yang sudah ditandatanganinya?</a:t>
            </a:r>
            <a:endParaRPr lang="en-US" sz="2000" dirty="0"/>
          </a:p>
        </p:txBody>
      </p:sp>
      <p:sp>
        <p:nvSpPr>
          <p:cNvPr id="7" name="Shape 4"/>
          <p:cNvSpPr/>
          <p:nvPr/>
        </p:nvSpPr>
        <p:spPr>
          <a:xfrm>
            <a:off x="1051560" y="4937760"/>
            <a:ext cx="2926080" cy="0"/>
          </a:xfrm>
          <a:prstGeom prst="line">
            <a:avLst/>
          </a:prstGeom>
          <a:noFill/>
          <a:ln w="12700">
            <a:solidFill>
              <a:srgbClr val="D9D2CB"/>
            </a:solidFill>
            <a:prstDash val="solid"/>
          </a:ln>
        </p:spPr>
      </p:sp>
      <p:sp>
        <p:nvSpPr>
          <p:cNvPr id="8" name="Text 5"/>
          <p:cNvSpPr txBox="1"/>
          <p:nvPr/>
        </p:nvSpPr>
        <p:spPr>
          <a:xfrm>
            <a:off x="1051560" y="5074920"/>
            <a:ext cx="7315200" cy="1188720"/>
          </a:xfrm>
          <a:prstGeom prst="rect">
            <a:avLst/>
          </a:prstGeom>
          <a:noFill/>
          <a:ln/>
        </p:spPr>
        <p:txBody>
          <a:bodyPr wrap="square" lIns="0" tIns="0" rIns="0" bIns="0" rtlCol="0" anchor="t"/>
          <a:lstStyle/>
          <a:p>
            <a:pPr indent="0" marL="0">
              <a:spcAft>
                <a:spcPts val="200"/>
              </a:spcAft>
              <a:buNone/>
            </a:pPr>
            <a:r>
              <a:rPr lang="en-US" sz="1400" b="1" dirty="0">
                <a:solidFill>
                  <a:srgbClr val="5F5F5F"/>
                </a:solidFill>
                <a:latin typeface="Arial" pitchFamily="34" charset="0"/>
                <a:ea typeface="Arial" pitchFamily="34" charset="-122"/>
                <a:cs typeface="Arial" pitchFamily="34" charset="-120"/>
              </a:rPr>
              <a:t>Aditya Noviyansyah, S.H., M.H.</a:t>
            </a:r>
            <a:endParaRPr lang="en-US" sz="1400" dirty="0"/>
          </a:p>
          <a:p>
            <a:pPr indent="0" marL="0">
              <a:spcAft>
                <a:spcPts val="200"/>
              </a:spcAft>
              <a:buNone/>
            </a:pPr>
            <a:r>
              <a:rPr lang="en-US" sz="1400" dirty="0">
                <a:solidFill>
                  <a:srgbClr val="5F5F5F"/>
                </a:solidFill>
                <a:latin typeface="Arial" pitchFamily="34" charset="0"/>
                <a:ea typeface="Arial" pitchFamily="34" charset="-122"/>
                <a:cs typeface="Arial" pitchFamily="34" charset="-120"/>
              </a:rPr>
              <a:t>Program Studi S1 Ilmu Hukum, Fakultas Hukum</a:t>
            </a:r>
            <a:endParaRPr lang="en-US" sz="1400" dirty="0"/>
          </a:p>
          <a:p>
            <a:pPr indent="0" marL="0">
              <a:spcAft>
                <a:spcPts val="200"/>
              </a:spcAft>
              <a:buNone/>
            </a:pPr>
            <a:r>
              <a:rPr lang="en-US" sz="1400" dirty="0">
                <a:solidFill>
                  <a:srgbClr val="5F5F5F"/>
                </a:solidFill>
                <a:latin typeface="Arial" pitchFamily="34" charset="0"/>
                <a:ea typeface="Arial" pitchFamily="34" charset="-122"/>
                <a:cs typeface="Arial" pitchFamily="34" charset="-120"/>
              </a:rPr>
              <a:t>Universitas Islam Sultan Agung Semarang</a:t>
            </a:r>
            <a:endParaRPr lang="en-US" sz="1400" dirty="0"/>
          </a:p>
          <a:p>
            <a:pPr indent="0" marL="0">
              <a:spcAft>
                <a:spcPts val="200"/>
              </a:spcAft>
              <a:buNone/>
            </a:pPr>
            <a:r>
              <a:rPr lang="en-US" sz="1400" dirty="0">
                <a:solidFill>
                  <a:srgbClr val="5F5F5F"/>
                </a:solidFill>
                <a:latin typeface="Arial" pitchFamily="34" charset="0"/>
                <a:ea typeface="Arial" pitchFamily="34" charset="-122"/>
                <a:cs typeface="Arial" pitchFamily="34" charset="-120"/>
              </a:rPr>
              <a:t>Pertemuan 5 | Semester Gasal 2026/2027</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02920" y="896112"/>
            <a:ext cx="11155680" cy="274320"/>
          </a:xfrm>
          <a:prstGeom prst="rect">
            <a:avLst/>
          </a:prstGeom>
          <a:noFill/>
          <a:ln/>
        </p:spPr>
        <p:txBody>
          <a:bodyPr wrap="square" lIns="0" tIns="0" rIns="0" bIns="0" rtlCol="0" anchor="t"/>
          <a:lstStyle/>
          <a:p>
            <a:pPr indent="0" marL="0">
              <a:buNone/>
            </a:pPr>
            <a:r>
              <a:rPr lang="en-US" sz="1200" b="1" spc="200" kern="0" dirty="0">
                <a:solidFill>
                  <a:srgbClr val="7A1220"/>
                </a:solidFill>
                <a:latin typeface="Arial" pitchFamily="34" charset="0"/>
                <a:ea typeface="Arial" pitchFamily="34" charset="-122"/>
                <a:cs typeface="Arial" pitchFamily="34" charset="-120"/>
              </a:rPr>
              <a:t>DEFINISI</a:t>
            </a:r>
            <a:endParaRPr lang="en-US" sz="1200" dirty="0"/>
          </a:p>
        </p:txBody>
      </p:sp>
      <p:sp>
        <p:nvSpPr>
          <p:cNvPr id="3" name="Text 1"/>
          <p:cNvSpPr txBox="1"/>
          <p:nvPr/>
        </p:nvSpPr>
        <p:spPr>
          <a:xfrm>
            <a:off x="502920" y="1152144"/>
            <a:ext cx="11183112" cy="640080"/>
          </a:xfrm>
          <a:prstGeom prst="rect">
            <a:avLst/>
          </a:prstGeom>
          <a:noFill/>
          <a:ln/>
        </p:spPr>
        <p:txBody>
          <a:bodyPr wrap="square" lIns="0" tIns="0" rIns="0" bIns="0" rtlCol="0" anchor="ctr"/>
          <a:lstStyle/>
          <a:p>
            <a:pPr indent="0" marL="0">
              <a:buNone/>
            </a:pPr>
            <a:r>
              <a:rPr lang="en-US" sz="2800" b="1" dirty="0">
                <a:solidFill>
                  <a:srgbClr val="7A1220"/>
                </a:solidFill>
                <a:latin typeface="Georgia" pitchFamily="34" charset="0"/>
                <a:ea typeface="Georgia" pitchFamily="34" charset="-122"/>
                <a:cs typeface="Georgia" pitchFamily="34" charset="-120"/>
              </a:rPr>
              <a:t>Apa Itu Perjanjian Internasional?</a:t>
            </a:r>
            <a:endParaRPr lang="en-US" sz="2800" dirty="0"/>
          </a:p>
        </p:txBody>
      </p:sp>
      <p:sp>
        <p:nvSpPr>
          <p:cNvPr id="4" name="Text 2"/>
          <p:cNvSpPr txBox="1"/>
          <p:nvPr/>
        </p:nvSpPr>
        <p:spPr>
          <a:xfrm>
            <a:off x="502920" y="1901952"/>
            <a:ext cx="11155680" cy="1143000"/>
          </a:xfrm>
          <a:prstGeom prst="rect">
            <a:avLst/>
          </a:prstGeom>
          <a:noFill/>
          <a:ln/>
        </p:spPr>
        <p:txBody>
          <a:bodyPr wrap="square" lIns="0" tIns="0" rIns="0" bIns="0" rtlCol="0" anchor="t"/>
          <a:lstStyle/>
          <a:p>
            <a:pPr indent="0" marL="0">
              <a:lnSpc>
                <a:spcPct val="108000"/>
              </a:lnSpc>
              <a:spcAft>
                <a:spcPts val="600"/>
              </a:spcAft>
              <a:buNone/>
            </a:pPr>
            <a:r>
              <a:rPr lang="en-US" sz="2000" dirty="0">
                <a:solidFill>
                  <a:srgbClr val="2B2B2B"/>
                </a:solidFill>
                <a:latin typeface="Georgia" pitchFamily="34" charset="0"/>
                <a:ea typeface="Georgia" pitchFamily="34" charset="-122"/>
                <a:cs typeface="Georgia" pitchFamily="34" charset="-120"/>
              </a:rPr>
              <a:t>“Perjanjian” berarti persetujuan internasional yang dibuat </a:t>
            </a:r>
            <a:pPr indent="0" marL="0">
              <a:lnSpc>
                <a:spcPct val="108000"/>
              </a:lnSpc>
              <a:spcAft>
                <a:spcPts val="600"/>
              </a:spcAft>
              <a:buNone/>
            </a:pPr>
            <a:r>
              <a:rPr lang="en-US" sz="2000" b="1" dirty="0">
                <a:solidFill>
                  <a:srgbClr val="7A1220"/>
                </a:solidFill>
                <a:latin typeface="Georgia" pitchFamily="34" charset="0"/>
                <a:ea typeface="Georgia" pitchFamily="34" charset="-122"/>
                <a:cs typeface="Georgia" pitchFamily="34" charset="-120"/>
              </a:rPr>
              <a:t>(1) antarnegara</a:t>
            </a:r>
            <a:pPr indent="0" marL="0">
              <a:lnSpc>
                <a:spcPct val="108000"/>
              </a:lnSpc>
              <a:spcAft>
                <a:spcPts val="600"/>
              </a:spcAft>
              <a:buNone/>
            </a:pPr>
            <a:r>
              <a:rPr lang="en-US" sz="2000" dirty="0">
                <a:solidFill>
                  <a:srgbClr val="2B2B2B"/>
                </a:solidFill>
                <a:latin typeface="Georgia" pitchFamily="34" charset="0"/>
                <a:ea typeface="Georgia" pitchFamily="34" charset="-122"/>
                <a:cs typeface="Georgia" pitchFamily="34" charset="-120"/>
              </a:rPr>
              <a:t> dalam bentuk </a:t>
            </a:r>
            <a:pPr indent="0" marL="0">
              <a:lnSpc>
                <a:spcPct val="108000"/>
              </a:lnSpc>
              <a:spcAft>
                <a:spcPts val="600"/>
              </a:spcAft>
              <a:buNone/>
            </a:pPr>
            <a:r>
              <a:rPr lang="en-US" sz="2000" b="1" dirty="0">
                <a:solidFill>
                  <a:srgbClr val="7A1220"/>
                </a:solidFill>
                <a:latin typeface="Georgia" pitchFamily="34" charset="0"/>
                <a:ea typeface="Georgia" pitchFamily="34" charset="-122"/>
                <a:cs typeface="Georgia" pitchFamily="34" charset="-120"/>
              </a:rPr>
              <a:t>(2) tertulis</a:t>
            </a:r>
            <a:pPr indent="0" marL="0">
              <a:lnSpc>
                <a:spcPct val="108000"/>
              </a:lnSpc>
              <a:spcAft>
                <a:spcPts val="600"/>
              </a:spcAft>
              <a:buNone/>
            </a:pPr>
            <a:r>
              <a:rPr lang="en-US" sz="2000" dirty="0">
                <a:solidFill>
                  <a:srgbClr val="2B2B2B"/>
                </a:solidFill>
                <a:latin typeface="Georgia" pitchFamily="34" charset="0"/>
                <a:ea typeface="Georgia" pitchFamily="34" charset="-122"/>
                <a:cs typeface="Georgia" pitchFamily="34" charset="-120"/>
              </a:rPr>
              <a:t> dan </a:t>
            </a:r>
            <a:pPr indent="0" marL="0">
              <a:lnSpc>
                <a:spcPct val="108000"/>
              </a:lnSpc>
              <a:spcAft>
                <a:spcPts val="600"/>
              </a:spcAft>
              <a:buNone/>
            </a:pPr>
            <a:r>
              <a:rPr lang="en-US" sz="2000" b="1" dirty="0">
                <a:solidFill>
                  <a:srgbClr val="7A1220"/>
                </a:solidFill>
                <a:latin typeface="Georgia" pitchFamily="34" charset="0"/>
                <a:ea typeface="Georgia" pitchFamily="34" charset="-122"/>
                <a:cs typeface="Georgia" pitchFamily="34" charset="-120"/>
              </a:rPr>
              <a:t>(3) diatur oleh hukum internasional</a:t>
            </a:r>
            <a:pPr indent="0" marL="0">
              <a:lnSpc>
                <a:spcPct val="108000"/>
              </a:lnSpc>
              <a:spcAft>
                <a:spcPts val="600"/>
              </a:spcAft>
              <a:buNone/>
            </a:pPr>
            <a:r>
              <a:rPr lang="en-US" sz="2000" dirty="0">
                <a:solidFill>
                  <a:srgbClr val="2B2B2B"/>
                </a:solidFill>
                <a:latin typeface="Georgia" pitchFamily="34" charset="0"/>
                <a:ea typeface="Georgia" pitchFamily="34" charset="-122"/>
                <a:cs typeface="Georgia" pitchFamily="34" charset="-120"/>
              </a:rPr>
              <a:t>, baik dalam satu instrumen maupun lebih, </a:t>
            </a:r>
            <a:pPr indent="0" marL="0">
              <a:lnSpc>
                <a:spcPct val="108000"/>
              </a:lnSpc>
              <a:spcAft>
                <a:spcPts val="600"/>
              </a:spcAft>
              <a:buNone/>
            </a:pPr>
            <a:r>
              <a:rPr lang="en-US" sz="2000" b="1" dirty="0">
                <a:solidFill>
                  <a:srgbClr val="7A1220"/>
                </a:solidFill>
                <a:latin typeface="Georgia" pitchFamily="34" charset="0"/>
                <a:ea typeface="Georgia" pitchFamily="34" charset="-122"/>
                <a:cs typeface="Georgia" pitchFamily="34" charset="-120"/>
              </a:rPr>
              <a:t>(4) apa pun namanya</a:t>
            </a:r>
            <a:pPr indent="0" marL="0">
              <a:lnSpc>
                <a:spcPct val="108000"/>
              </a:lnSpc>
              <a:spcAft>
                <a:spcPts val="600"/>
              </a:spcAft>
              <a:buNone/>
            </a:pPr>
            <a:r>
              <a:rPr lang="en-US" sz="2000" dirty="0">
                <a:solidFill>
                  <a:srgbClr val="2B2B2B"/>
                </a:solidFill>
                <a:latin typeface="Georgia" pitchFamily="34" charset="0"/>
                <a:ea typeface="Georgia" pitchFamily="34" charset="-122"/>
                <a:cs typeface="Georgia" pitchFamily="34" charset="-120"/>
              </a:rPr>
              <a:t>.</a:t>
            </a:r>
            <a:endParaRPr lang="en-US" sz="2000" dirty="0"/>
          </a:p>
        </p:txBody>
      </p:sp>
      <p:sp>
        <p:nvSpPr>
          <p:cNvPr id="5" name="Text 3"/>
          <p:cNvSpPr txBox="1"/>
          <p:nvPr/>
        </p:nvSpPr>
        <p:spPr>
          <a:xfrm>
            <a:off x="502920" y="3108960"/>
            <a:ext cx="11155680" cy="274320"/>
          </a:xfrm>
          <a:prstGeom prst="rect">
            <a:avLst/>
          </a:prstGeom>
          <a:noFill/>
          <a:ln/>
        </p:spPr>
        <p:txBody>
          <a:bodyPr wrap="square" lIns="0" tIns="0" rIns="0" bIns="0" rtlCol="0" anchor="t"/>
          <a:lstStyle/>
          <a:p>
            <a:pPr indent="0" marL="0">
              <a:spcAft>
                <a:spcPts val="600"/>
              </a:spcAft>
              <a:buNone/>
            </a:pPr>
            <a:r>
              <a:rPr lang="en-US" sz="1300" i="1" dirty="0">
                <a:solidFill>
                  <a:srgbClr val="5F5F5F"/>
                </a:solidFill>
                <a:latin typeface="Arial" pitchFamily="34" charset="0"/>
                <a:ea typeface="Arial" pitchFamily="34" charset="-122"/>
                <a:cs typeface="Arial" pitchFamily="34" charset="-120"/>
              </a:rPr>
              <a:t>Pasal 2 ayat (1) huruf a Konvensi Wina 1969, terjemahan bebas</a:t>
            </a:r>
            <a:endParaRPr lang="en-US" sz="1300" dirty="0"/>
          </a:p>
        </p:txBody>
      </p:sp>
      <p:sp>
        <p:nvSpPr>
          <p:cNvPr id="6" name="Text 4"/>
          <p:cNvSpPr txBox="1"/>
          <p:nvPr/>
        </p:nvSpPr>
        <p:spPr>
          <a:xfrm>
            <a:off x="502920" y="3547872"/>
            <a:ext cx="457200" cy="502920"/>
          </a:xfrm>
          <a:prstGeom prst="rect">
            <a:avLst/>
          </a:prstGeom>
          <a:noFill/>
          <a:ln/>
        </p:spPr>
        <p:txBody>
          <a:bodyPr wrap="square" lIns="0" tIns="0" rIns="0" bIns="0" rtlCol="0" anchor="t"/>
          <a:lstStyle/>
          <a:p>
            <a:pPr indent="0" marL="0">
              <a:spcAft>
                <a:spcPts val="600"/>
              </a:spcAft>
              <a:buNone/>
            </a:pPr>
            <a:r>
              <a:rPr lang="en-US" sz="2600" b="1" dirty="0">
                <a:solidFill>
                  <a:srgbClr val="7A1220"/>
                </a:solidFill>
                <a:latin typeface="Georgia" pitchFamily="34" charset="0"/>
                <a:ea typeface="Georgia" pitchFamily="34" charset="-122"/>
                <a:cs typeface="Georgia" pitchFamily="34" charset="-120"/>
              </a:rPr>
              <a:t>1</a:t>
            </a:r>
            <a:endParaRPr lang="en-US" sz="2600" dirty="0"/>
          </a:p>
        </p:txBody>
      </p:sp>
      <p:sp>
        <p:nvSpPr>
          <p:cNvPr id="7" name="Text 5"/>
          <p:cNvSpPr txBox="1"/>
          <p:nvPr/>
        </p:nvSpPr>
        <p:spPr>
          <a:xfrm>
            <a:off x="960120" y="3593592"/>
            <a:ext cx="2103120" cy="457200"/>
          </a:xfrm>
          <a:prstGeom prst="rect">
            <a:avLst/>
          </a:prstGeom>
          <a:noFill/>
          <a:ln/>
        </p:spPr>
        <p:txBody>
          <a:bodyPr wrap="square" lIns="0" tIns="0" rIns="0" bIns="0" rtlCol="0" anchor="t"/>
          <a:lstStyle/>
          <a:p>
            <a:pPr indent="0" marL="0">
              <a:spcAft>
                <a:spcPts val="600"/>
              </a:spcAft>
              <a:buNone/>
            </a:pPr>
            <a:r>
              <a:rPr lang="en-US" sz="1500" b="1" dirty="0">
                <a:solidFill>
                  <a:srgbClr val="2B2B2B"/>
                </a:solidFill>
                <a:latin typeface="Arial" pitchFamily="34" charset="0"/>
                <a:ea typeface="Arial" pitchFamily="34" charset="-122"/>
                <a:cs typeface="Arial" pitchFamily="34" charset="-120"/>
              </a:rPr>
              <a:t>Antarnegara</a:t>
            </a:r>
            <a:endParaRPr lang="en-US" sz="1500" dirty="0"/>
          </a:p>
        </p:txBody>
      </p:sp>
      <p:sp>
        <p:nvSpPr>
          <p:cNvPr id="8" name="Text 6"/>
          <p:cNvSpPr txBox="1"/>
          <p:nvPr/>
        </p:nvSpPr>
        <p:spPr>
          <a:xfrm>
            <a:off x="502920" y="4114800"/>
            <a:ext cx="2578608" cy="1280160"/>
          </a:xfrm>
          <a:prstGeom prst="rect">
            <a:avLst/>
          </a:prstGeom>
          <a:noFill/>
          <a:ln/>
        </p:spPr>
        <p:txBody>
          <a:bodyPr wrap="square" lIns="0" tIns="0" rIns="0" bIns="0" rtlCol="0" anchor="t"/>
          <a:lstStyle/>
          <a:p>
            <a:pPr indent="0" marL="0">
              <a:spcAft>
                <a:spcPts val="600"/>
              </a:spcAft>
              <a:buNone/>
            </a:pPr>
            <a:r>
              <a:rPr lang="en-US" sz="1400" dirty="0">
                <a:solidFill>
                  <a:srgbClr val="2B2B2B"/>
                </a:solidFill>
                <a:latin typeface="Arial" pitchFamily="34" charset="0"/>
                <a:ea typeface="Arial" pitchFamily="34" charset="-122"/>
                <a:cs typeface="Arial" pitchFamily="34" charset="-120"/>
              </a:rPr>
              <a:t>Perjanjian dengan organisasi internasional diatur tersendiri dalam Konvensi Wina 1986.</a:t>
            </a:r>
            <a:endParaRPr lang="en-US" sz="1400" dirty="0"/>
          </a:p>
        </p:txBody>
      </p:sp>
      <p:sp>
        <p:nvSpPr>
          <p:cNvPr id="9" name="Shape 7"/>
          <p:cNvSpPr/>
          <p:nvPr/>
        </p:nvSpPr>
        <p:spPr>
          <a:xfrm>
            <a:off x="3182112" y="3611880"/>
            <a:ext cx="0" cy="1737360"/>
          </a:xfrm>
          <a:prstGeom prst="line">
            <a:avLst/>
          </a:prstGeom>
          <a:noFill/>
          <a:ln w="12700">
            <a:solidFill>
              <a:srgbClr val="D9D2CB"/>
            </a:solidFill>
            <a:prstDash val="solid"/>
          </a:ln>
        </p:spPr>
      </p:sp>
      <p:sp>
        <p:nvSpPr>
          <p:cNvPr id="10" name="Text 8"/>
          <p:cNvSpPr txBox="1"/>
          <p:nvPr/>
        </p:nvSpPr>
        <p:spPr>
          <a:xfrm>
            <a:off x="3346704" y="3547872"/>
            <a:ext cx="457200" cy="502920"/>
          </a:xfrm>
          <a:prstGeom prst="rect">
            <a:avLst/>
          </a:prstGeom>
          <a:noFill/>
          <a:ln/>
        </p:spPr>
        <p:txBody>
          <a:bodyPr wrap="square" lIns="0" tIns="0" rIns="0" bIns="0" rtlCol="0" anchor="t"/>
          <a:lstStyle/>
          <a:p>
            <a:pPr indent="0" marL="0">
              <a:spcAft>
                <a:spcPts val="600"/>
              </a:spcAft>
              <a:buNone/>
            </a:pPr>
            <a:r>
              <a:rPr lang="en-US" sz="2600" b="1" dirty="0">
                <a:solidFill>
                  <a:srgbClr val="7A1220"/>
                </a:solidFill>
                <a:latin typeface="Georgia" pitchFamily="34" charset="0"/>
                <a:ea typeface="Georgia" pitchFamily="34" charset="-122"/>
                <a:cs typeface="Georgia" pitchFamily="34" charset="-120"/>
              </a:rPr>
              <a:t>2</a:t>
            </a:r>
            <a:endParaRPr lang="en-US" sz="2600" dirty="0"/>
          </a:p>
        </p:txBody>
      </p:sp>
      <p:sp>
        <p:nvSpPr>
          <p:cNvPr id="11" name="Text 9"/>
          <p:cNvSpPr txBox="1"/>
          <p:nvPr/>
        </p:nvSpPr>
        <p:spPr>
          <a:xfrm>
            <a:off x="3803904" y="3593592"/>
            <a:ext cx="2103120" cy="457200"/>
          </a:xfrm>
          <a:prstGeom prst="rect">
            <a:avLst/>
          </a:prstGeom>
          <a:noFill/>
          <a:ln/>
        </p:spPr>
        <p:txBody>
          <a:bodyPr wrap="square" lIns="0" tIns="0" rIns="0" bIns="0" rtlCol="0" anchor="t"/>
          <a:lstStyle/>
          <a:p>
            <a:pPr indent="0" marL="0">
              <a:spcAft>
                <a:spcPts val="600"/>
              </a:spcAft>
              <a:buNone/>
            </a:pPr>
            <a:r>
              <a:rPr lang="en-US" sz="1500" b="1" dirty="0">
                <a:solidFill>
                  <a:srgbClr val="2B2B2B"/>
                </a:solidFill>
                <a:latin typeface="Arial" pitchFamily="34" charset="0"/>
                <a:ea typeface="Arial" pitchFamily="34" charset="-122"/>
                <a:cs typeface="Arial" pitchFamily="34" charset="-120"/>
              </a:rPr>
              <a:t>Tertulis</a:t>
            </a:r>
            <a:endParaRPr lang="en-US" sz="1500" dirty="0"/>
          </a:p>
        </p:txBody>
      </p:sp>
      <p:sp>
        <p:nvSpPr>
          <p:cNvPr id="12" name="Text 10"/>
          <p:cNvSpPr txBox="1"/>
          <p:nvPr/>
        </p:nvSpPr>
        <p:spPr>
          <a:xfrm>
            <a:off x="3346704" y="4114800"/>
            <a:ext cx="2578608" cy="1280160"/>
          </a:xfrm>
          <a:prstGeom prst="rect">
            <a:avLst/>
          </a:prstGeom>
          <a:noFill/>
          <a:ln/>
        </p:spPr>
        <p:txBody>
          <a:bodyPr wrap="square" lIns="0" tIns="0" rIns="0" bIns="0" rtlCol="0" anchor="t"/>
          <a:lstStyle/>
          <a:p>
            <a:pPr indent="0" marL="0">
              <a:spcAft>
                <a:spcPts val="600"/>
              </a:spcAft>
              <a:buNone/>
            </a:pPr>
            <a:r>
              <a:rPr lang="en-US" sz="1400" dirty="0">
                <a:solidFill>
                  <a:srgbClr val="2B2B2B"/>
                </a:solidFill>
                <a:latin typeface="Arial" pitchFamily="34" charset="0"/>
                <a:ea typeface="Arial" pitchFamily="34" charset="-122"/>
                <a:cs typeface="Arial" pitchFamily="34" charset="-120"/>
              </a:rPr>
              <a:t>Perjanjian lisan tetap bisa mengikat (Pasal 3), hanya tidak diatur konvensi ini.</a:t>
            </a:r>
            <a:endParaRPr lang="en-US" sz="1400" dirty="0"/>
          </a:p>
        </p:txBody>
      </p:sp>
      <p:sp>
        <p:nvSpPr>
          <p:cNvPr id="13" name="Shape 11"/>
          <p:cNvSpPr/>
          <p:nvPr/>
        </p:nvSpPr>
        <p:spPr>
          <a:xfrm>
            <a:off x="6025896" y="3611880"/>
            <a:ext cx="0" cy="1737360"/>
          </a:xfrm>
          <a:prstGeom prst="line">
            <a:avLst/>
          </a:prstGeom>
          <a:noFill/>
          <a:ln w="12700">
            <a:solidFill>
              <a:srgbClr val="D9D2CB"/>
            </a:solidFill>
            <a:prstDash val="solid"/>
          </a:ln>
        </p:spPr>
      </p:sp>
      <p:sp>
        <p:nvSpPr>
          <p:cNvPr id="14" name="Text 12"/>
          <p:cNvSpPr txBox="1"/>
          <p:nvPr/>
        </p:nvSpPr>
        <p:spPr>
          <a:xfrm>
            <a:off x="6190488" y="3547872"/>
            <a:ext cx="457200" cy="502920"/>
          </a:xfrm>
          <a:prstGeom prst="rect">
            <a:avLst/>
          </a:prstGeom>
          <a:noFill/>
          <a:ln/>
        </p:spPr>
        <p:txBody>
          <a:bodyPr wrap="square" lIns="0" tIns="0" rIns="0" bIns="0" rtlCol="0" anchor="t"/>
          <a:lstStyle/>
          <a:p>
            <a:pPr indent="0" marL="0">
              <a:spcAft>
                <a:spcPts val="600"/>
              </a:spcAft>
              <a:buNone/>
            </a:pPr>
            <a:r>
              <a:rPr lang="en-US" sz="2600" b="1" dirty="0">
                <a:solidFill>
                  <a:srgbClr val="7A1220"/>
                </a:solidFill>
                <a:latin typeface="Georgia" pitchFamily="34" charset="0"/>
                <a:ea typeface="Georgia" pitchFamily="34" charset="-122"/>
                <a:cs typeface="Georgia" pitchFamily="34" charset="-120"/>
              </a:rPr>
              <a:t>3</a:t>
            </a:r>
            <a:endParaRPr lang="en-US" sz="2600" dirty="0"/>
          </a:p>
        </p:txBody>
      </p:sp>
      <p:sp>
        <p:nvSpPr>
          <p:cNvPr id="15" name="Text 13"/>
          <p:cNvSpPr txBox="1"/>
          <p:nvPr/>
        </p:nvSpPr>
        <p:spPr>
          <a:xfrm>
            <a:off x="6647688" y="3593592"/>
            <a:ext cx="2103120" cy="457200"/>
          </a:xfrm>
          <a:prstGeom prst="rect">
            <a:avLst/>
          </a:prstGeom>
          <a:noFill/>
          <a:ln/>
        </p:spPr>
        <p:txBody>
          <a:bodyPr wrap="square" lIns="0" tIns="0" rIns="0" bIns="0" rtlCol="0" anchor="t"/>
          <a:lstStyle/>
          <a:p>
            <a:pPr indent="0" marL="0">
              <a:spcAft>
                <a:spcPts val="600"/>
              </a:spcAft>
              <a:buNone/>
            </a:pPr>
            <a:r>
              <a:rPr lang="en-US" sz="1500" b="1" dirty="0">
                <a:solidFill>
                  <a:srgbClr val="2B2B2B"/>
                </a:solidFill>
                <a:latin typeface="Arial" pitchFamily="34" charset="0"/>
                <a:ea typeface="Arial" pitchFamily="34" charset="-122"/>
                <a:cs typeface="Arial" pitchFamily="34" charset="-120"/>
              </a:rPr>
              <a:t>Diatur hukum internasional</a:t>
            </a:r>
            <a:endParaRPr lang="en-US" sz="1500" dirty="0"/>
          </a:p>
        </p:txBody>
      </p:sp>
      <p:sp>
        <p:nvSpPr>
          <p:cNvPr id="16" name="Text 14"/>
          <p:cNvSpPr txBox="1"/>
          <p:nvPr/>
        </p:nvSpPr>
        <p:spPr>
          <a:xfrm>
            <a:off x="6190488" y="4114800"/>
            <a:ext cx="2578608" cy="1280160"/>
          </a:xfrm>
          <a:prstGeom prst="rect">
            <a:avLst/>
          </a:prstGeom>
          <a:noFill/>
          <a:ln/>
        </p:spPr>
        <p:txBody>
          <a:bodyPr wrap="square" lIns="0" tIns="0" rIns="0" bIns="0" rtlCol="0" anchor="t"/>
          <a:lstStyle/>
          <a:p>
            <a:pPr indent="0" marL="0">
              <a:spcAft>
                <a:spcPts val="600"/>
              </a:spcAft>
              <a:buNone/>
            </a:pPr>
            <a:r>
              <a:rPr lang="en-US" sz="1400" dirty="0">
                <a:solidFill>
                  <a:srgbClr val="2B2B2B"/>
                </a:solidFill>
                <a:latin typeface="Arial" pitchFamily="34" charset="0"/>
                <a:ea typeface="Arial" pitchFamily="34" charset="-122"/>
                <a:cs typeface="Arial" pitchFamily="34" charset="-120"/>
              </a:rPr>
              <a:t>Kontrak antarpemerintah yang tunduk pada hukum nasional suatu negara bukan perjanjian internasional.</a:t>
            </a:r>
            <a:endParaRPr lang="en-US" sz="1400" dirty="0"/>
          </a:p>
        </p:txBody>
      </p:sp>
      <p:sp>
        <p:nvSpPr>
          <p:cNvPr id="17" name="Shape 15"/>
          <p:cNvSpPr/>
          <p:nvPr/>
        </p:nvSpPr>
        <p:spPr>
          <a:xfrm>
            <a:off x="8869680" y="3611880"/>
            <a:ext cx="0" cy="1737360"/>
          </a:xfrm>
          <a:prstGeom prst="line">
            <a:avLst/>
          </a:prstGeom>
          <a:noFill/>
          <a:ln w="12700">
            <a:solidFill>
              <a:srgbClr val="D9D2CB"/>
            </a:solidFill>
            <a:prstDash val="solid"/>
          </a:ln>
        </p:spPr>
      </p:sp>
      <p:sp>
        <p:nvSpPr>
          <p:cNvPr id="18" name="Text 16"/>
          <p:cNvSpPr txBox="1"/>
          <p:nvPr/>
        </p:nvSpPr>
        <p:spPr>
          <a:xfrm>
            <a:off x="9034272" y="3547872"/>
            <a:ext cx="457200" cy="502920"/>
          </a:xfrm>
          <a:prstGeom prst="rect">
            <a:avLst/>
          </a:prstGeom>
          <a:noFill/>
          <a:ln/>
        </p:spPr>
        <p:txBody>
          <a:bodyPr wrap="square" lIns="0" tIns="0" rIns="0" bIns="0" rtlCol="0" anchor="t"/>
          <a:lstStyle/>
          <a:p>
            <a:pPr indent="0" marL="0">
              <a:spcAft>
                <a:spcPts val="600"/>
              </a:spcAft>
              <a:buNone/>
            </a:pPr>
            <a:r>
              <a:rPr lang="en-US" sz="2600" b="1" dirty="0">
                <a:solidFill>
                  <a:srgbClr val="7A1220"/>
                </a:solidFill>
                <a:latin typeface="Georgia" pitchFamily="34" charset="0"/>
                <a:ea typeface="Georgia" pitchFamily="34" charset="-122"/>
                <a:cs typeface="Georgia" pitchFamily="34" charset="-120"/>
              </a:rPr>
              <a:t>4</a:t>
            </a:r>
            <a:endParaRPr lang="en-US" sz="2600" dirty="0"/>
          </a:p>
        </p:txBody>
      </p:sp>
      <p:sp>
        <p:nvSpPr>
          <p:cNvPr id="19" name="Text 17"/>
          <p:cNvSpPr txBox="1"/>
          <p:nvPr/>
        </p:nvSpPr>
        <p:spPr>
          <a:xfrm>
            <a:off x="9491472" y="3593592"/>
            <a:ext cx="2103120" cy="457200"/>
          </a:xfrm>
          <a:prstGeom prst="rect">
            <a:avLst/>
          </a:prstGeom>
          <a:noFill/>
          <a:ln/>
        </p:spPr>
        <p:txBody>
          <a:bodyPr wrap="square" lIns="0" tIns="0" rIns="0" bIns="0" rtlCol="0" anchor="t"/>
          <a:lstStyle/>
          <a:p>
            <a:pPr indent="0" marL="0">
              <a:spcAft>
                <a:spcPts val="600"/>
              </a:spcAft>
              <a:buNone/>
            </a:pPr>
            <a:r>
              <a:rPr lang="en-US" sz="1500" b="1" dirty="0">
                <a:solidFill>
                  <a:srgbClr val="2B2B2B"/>
                </a:solidFill>
                <a:latin typeface="Arial" pitchFamily="34" charset="0"/>
                <a:ea typeface="Arial" pitchFamily="34" charset="-122"/>
                <a:cs typeface="Arial" pitchFamily="34" charset="-120"/>
              </a:rPr>
              <a:t>Apa pun namanya</a:t>
            </a:r>
            <a:endParaRPr lang="en-US" sz="1500" dirty="0"/>
          </a:p>
        </p:txBody>
      </p:sp>
      <p:sp>
        <p:nvSpPr>
          <p:cNvPr id="20" name="Text 18"/>
          <p:cNvSpPr txBox="1"/>
          <p:nvPr/>
        </p:nvSpPr>
        <p:spPr>
          <a:xfrm>
            <a:off x="9034272" y="4114800"/>
            <a:ext cx="2578608" cy="1280160"/>
          </a:xfrm>
          <a:prstGeom prst="rect">
            <a:avLst/>
          </a:prstGeom>
          <a:noFill/>
          <a:ln/>
        </p:spPr>
        <p:txBody>
          <a:bodyPr wrap="square" lIns="0" tIns="0" rIns="0" bIns="0" rtlCol="0" anchor="t"/>
          <a:lstStyle/>
          <a:p>
            <a:pPr indent="0" marL="0">
              <a:spcAft>
                <a:spcPts val="600"/>
              </a:spcAft>
              <a:buNone/>
            </a:pPr>
            <a:r>
              <a:rPr lang="en-US" sz="1400" dirty="0">
                <a:solidFill>
                  <a:srgbClr val="2B2B2B"/>
                </a:solidFill>
                <a:latin typeface="Arial" pitchFamily="34" charset="0"/>
                <a:ea typeface="Arial" pitchFamily="34" charset="-122"/>
                <a:cs typeface="Arial" pitchFamily="34" charset="-120"/>
              </a:rPr>
              <a:t>Treaty, convention, agreement, protocol, charter, bahkan memorandum of understanding.</a:t>
            </a:r>
            <a:endParaRPr lang="en-US" sz="1400" dirty="0"/>
          </a:p>
        </p:txBody>
      </p:sp>
      <p:sp>
        <p:nvSpPr>
          <p:cNvPr id="21" name="Shape 19"/>
          <p:cNvSpPr/>
          <p:nvPr/>
        </p:nvSpPr>
        <p:spPr>
          <a:xfrm>
            <a:off x="502920" y="5486400"/>
            <a:ext cx="11183112" cy="0"/>
          </a:xfrm>
          <a:prstGeom prst="line">
            <a:avLst/>
          </a:prstGeom>
          <a:noFill/>
          <a:ln w="12700">
            <a:solidFill>
              <a:srgbClr val="D9D2CB"/>
            </a:solidFill>
            <a:prstDash val="solid"/>
          </a:ln>
        </p:spPr>
      </p:sp>
      <p:sp>
        <p:nvSpPr>
          <p:cNvPr id="22" name="Text 20"/>
          <p:cNvSpPr txBox="1"/>
          <p:nvPr/>
        </p:nvSpPr>
        <p:spPr>
          <a:xfrm>
            <a:off x="502920" y="5577840"/>
            <a:ext cx="11155680" cy="685800"/>
          </a:xfrm>
          <a:prstGeom prst="rect">
            <a:avLst/>
          </a:prstGeom>
          <a:noFill/>
          <a:ln/>
        </p:spPr>
        <p:txBody>
          <a:bodyPr wrap="square" lIns="0" tIns="0" rIns="0" bIns="0" rtlCol="0" anchor="t"/>
          <a:lstStyle/>
          <a:p>
            <a:pPr indent="0" marL="0">
              <a:spcAft>
                <a:spcPts val="600"/>
              </a:spcAft>
              <a:buNone/>
            </a:pPr>
            <a:r>
              <a:rPr lang="en-US" sz="1500" b="1" dirty="0">
                <a:solidFill>
                  <a:srgbClr val="7A1220"/>
                </a:solidFill>
                <a:latin typeface="Arial" pitchFamily="34" charset="0"/>
                <a:ea typeface="Arial" pitchFamily="34" charset="-122"/>
                <a:cs typeface="Arial" pitchFamily="34" charset="-120"/>
              </a:rPr>
              <a:t>Catatan untuk Indonesia: </a:t>
            </a:r>
            <a:pPr indent="0" marL="0">
              <a:spcAft>
                <a:spcPts val="600"/>
              </a:spcAft>
              <a:buNone/>
            </a:pPr>
            <a:r>
              <a:rPr lang="en-US" sz="1500" dirty="0">
                <a:solidFill>
                  <a:srgbClr val="2B2B2B"/>
                </a:solidFill>
                <a:latin typeface="Arial" pitchFamily="34" charset="0"/>
                <a:ea typeface="Arial" pitchFamily="34" charset="-122"/>
                <a:cs typeface="Arial" pitchFamily="34" charset="-120"/>
              </a:rPr>
              <a:t>Indonesia belum menjadi pihak Konvensi Wina 1969, tetapi kaidahnya diikuti sebagai hukum kebiasaan dan banyak diserap UU No. 24 Tahun 2000.</a:t>
            </a:r>
            <a:endParaRPr lang="en-US" sz="1500" dirty="0"/>
          </a:p>
        </p:txBody>
      </p:sp>
      <p:sp>
        <p:nvSpPr>
          <p:cNvPr id="25" name="Slide Number Placeholder 0"/>
          <p:cNvSpPr>
            <a:spLocks noGrp="1"/>
          </p:cNvSpPr>
          <p:nvPr>
            <p:ph type="sldNum" sz="quarter" idx="4294967295"/>
          </p:nvPr>
        </p:nvSpPr>
        <p:spPr>
          <a:xfrm>
            <a:off x="11228832"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5F5F"/>
                </a:solidFill>
                <a:latin typeface="Arial"/>
                <a:ea typeface="Arial"/>
                <a:cs typeface="Aria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02920" y="896112"/>
            <a:ext cx="11155680" cy="274320"/>
          </a:xfrm>
          <a:prstGeom prst="rect">
            <a:avLst/>
          </a:prstGeom>
          <a:noFill/>
          <a:ln/>
        </p:spPr>
        <p:txBody>
          <a:bodyPr wrap="square" lIns="0" tIns="0" rIns="0" bIns="0" rtlCol="0" anchor="t"/>
          <a:lstStyle/>
          <a:p>
            <a:pPr indent="0" marL="0">
              <a:buNone/>
            </a:pPr>
            <a:r>
              <a:rPr lang="en-US" sz="1200" b="1" spc="200" kern="0" dirty="0">
                <a:solidFill>
                  <a:srgbClr val="7A1220"/>
                </a:solidFill>
                <a:latin typeface="Arial" pitchFamily="34" charset="0"/>
                <a:ea typeface="Arial" pitchFamily="34" charset="-122"/>
                <a:cs typeface="Arial" pitchFamily="34" charset="-120"/>
              </a:rPr>
              <a:t>PEMBENTUKAN DAN BERLAKUNYA</a:t>
            </a:r>
            <a:endParaRPr lang="en-US" sz="1200" dirty="0"/>
          </a:p>
        </p:txBody>
      </p:sp>
      <p:sp>
        <p:nvSpPr>
          <p:cNvPr id="3" name="Text 1"/>
          <p:cNvSpPr txBox="1"/>
          <p:nvPr/>
        </p:nvSpPr>
        <p:spPr>
          <a:xfrm>
            <a:off x="502920" y="1152144"/>
            <a:ext cx="11183112" cy="640080"/>
          </a:xfrm>
          <a:prstGeom prst="rect">
            <a:avLst/>
          </a:prstGeom>
          <a:noFill/>
          <a:ln/>
        </p:spPr>
        <p:txBody>
          <a:bodyPr wrap="square" lIns="0" tIns="0" rIns="0" bIns="0" rtlCol="0" anchor="ctr"/>
          <a:lstStyle/>
          <a:p>
            <a:pPr indent="0" marL="0">
              <a:buNone/>
            </a:pPr>
            <a:r>
              <a:rPr lang="en-US" sz="2800" b="1" dirty="0">
                <a:solidFill>
                  <a:srgbClr val="7A1220"/>
                </a:solidFill>
                <a:latin typeface="Georgia" pitchFamily="34" charset="0"/>
                <a:ea typeface="Georgia" pitchFamily="34" charset="-122"/>
                <a:cs typeface="Georgia" pitchFamily="34" charset="-120"/>
              </a:rPr>
              <a:t>Dari Meja Runding sampai Berlaku</a:t>
            </a:r>
            <a:endParaRPr lang="en-US" sz="2800" dirty="0"/>
          </a:p>
        </p:txBody>
      </p:sp>
      <p:sp>
        <p:nvSpPr>
          <p:cNvPr id="4" name="Text 2"/>
          <p:cNvSpPr/>
          <p:nvPr/>
        </p:nvSpPr>
        <p:spPr>
          <a:xfrm>
            <a:off x="502920" y="1965960"/>
            <a:ext cx="1920240" cy="640080"/>
          </a:xfrm>
          <a:prstGeom prst="chevron">
            <a:avLst/>
          </a:prstGeom>
          <a:solidFill>
            <a:srgbClr val="F7F4F0"/>
          </a:solidFill>
          <a:ln w="12700">
            <a:solidFill>
              <a:srgbClr val="D9D2CB"/>
            </a:solidFill>
          </a:ln>
        </p:spPr>
        <p:txBody>
          <a:bodyPr wrap="square" lIns="0" tIns="0" rIns="0" bIns="0" rtlCol="0" anchor="ctr"/>
          <a:lstStyle/>
          <a:p>
            <a:pPr algn="ctr" indent="0" marL="0">
              <a:buNone/>
            </a:pPr>
            <a:r>
              <a:rPr lang="en-US" sz="2200" b="1" dirty="0">
                <a:solidFill>
                  <a:srgbClr val="7A1220"/>
                </a:solidFill>
                <a:latin typeface="Georgia" pitchFamily="34" charset="0"/>
                <a:ea typeface="Georgia" pitchFamily="34" charset="-122"/>
                <a:cs typeface="Georgia" pitchFamily="34" charset="-120"/>
              </a:rPr>
              <a:t>1</a:t>
            </a:r>
            <a:endParaRPr lang="en-US" sz="2200" dirty="0"/>
          </a:p>
        </p:txBody>
      </p:sp>
      <p:sp>
        <p:nvSpPr>
          <p:cNvPr id="5" name="Text 3"/>
          <p:cNvSpPr txBox="1"/>
          <p:nvPr/>
        </p:nvSpPr>
        <p:spPr>
          <a:xfrm>
            <a:off x="548640" y="2743200"/>
            <a:ext cx="1737360" cy="365760"/>
          </a:xfrm>
          <a:prstGeom prst="rect">
            <a:avLst/>
          </a:prstGeom>
          <a:noFill/>
          <a:ln/>
        </p:spPr>
        <p:txBody>
          <a:bodyPr wrap="square" lIns="0" tIns="0" rIns="0" bIns="0" rtlCol="0" anchor="t"/>
          <a:lstStyle/>
          <a:p>
            <a:pPr indent="0" marL="0">
              <a:spcAft>
                <a:spcPts val="600"/>
              </a:spcAft>
              <a:buNone/>
            </a:pPr>
            <a:r>
              <a:rPr lang="en-US" sz="1500" b="1" dirty="0">
                <a:solidFill>
                  <a:srgbClr val="7A1220"/>
                </a:solidFill>
                <a:latin typeface="Arial" pitchFamily="34" charset="0"/>
                <a:ea typeface="Arial" pitchFamily="34" charset="-122"/>
                <a:cs typeface="Arial" pitchFamily="34" charset="-120"/>
              </a:rPr>
              <a:t>Perundingan</a:t>
            </a:r>
            <a:endParaRPr lang="en-US" sz="1500" dirty="0"/>
          </a:p>
        </p:txBody>
      </p:sp>
      <p:sp>
        <p:nvSpPr>
          <p:cNvPr id="6" name="Text 4"/>
          <p:cNvSpPr txBox="1"/>
          <p:nvPr/>
        </p:nvSpPr>
        <p:spPr>
          <a:xfrm>
            <a:off x="548640" y="3154680"/>
            <a:ext cx="1737360" cy="1554480"/>
          </a:xfrm>
          <a:prstGeom prst="rect">
            <a:avLst/>
          </a:prstGeom>
          <a:noFill/>
          <a:ln/>
        </p:spPr>
        <p:txBody>
          <a:bodyPr wrap="square" lIns="0" tIns="0" rIns="0" bIns="0" rtlCol="0" anchor="t"/>
          <a:lstStyle/>
          <a:p>
            <a:pPr indent="0" marL="0">
              <a:spcAft>
                <a:spcPts val="600"/>
              </a:spcAft>
              <a:buNone/>
            </a:pPr>
            <a:r>
              <a:rPr lang="en-US" sz="1400" dirty="0">
                <a:solidFill>
                  <a:srgbClr val="2B2B2B"/>
                </a:solidFill>
                <a:latin typeface="Arial" pitchFamily="34" charset="0"/>
                <a:ea typeface="Arial" pitchFamily="34" charset="-122"/>
                <a:cs typeface="Arial" pitchFamily="34" charset="-120"/>
              </a:rPr>
              <a:t>Wakil negara membawa surat kuasa penuh (full powers), Pasal 7.</a:t>
            </a:r>
            <a:endParaRPr lang="en-US" sz="1400" dirty="0"/>
          </a:p>
        </p:txBody>
      </p:sp>
      <p:sp>
        <p:nvSpPr>
          <p:cNvPr id="7" name="Text 5"/>
          <p:cNvSpPr/>
          <p:nvPr/>
        </p:nvSpPr>
        <p:spPr>
          <a:xfrm>
            <a:off x="2350008" y="1965960"/>
            <a:ext cx="1920240" cy="640080"/>
          </a:xfrm>
          <a:prstGeom prst="chevron">
            <a:avLst/>
          </a:prstGeom>
          <a:solidFill>
            <a:srgbClr val="F7F4F0"/>
          </a:solidFill>
          <a:ln w="12700">
            <a:solidFill>
              <a:srgbClr val="D9D2CB"/>
            </a:solidFill>
          </a:ln>
        </p:spPr>
        <p:txBody>
          <a:bodyPr wrap="square" lIns="0" tIns="0" rIns="0" bIns="0" rtlCol="0" anchor="ctr"/>
          <a:lstStyle/>
          <a:p>
            <a:pPr algn="ctr" indent="0" marL="0">
              <a:buNone/>
            </a:pPr>
            <a:r>
              <a:rPr lang="en-US" sz="2200" b="1" dirty="0">
                <a:solidFill>
                  <a:srgbClr val="7A1220"/>
                </a:solidFill>
                <a:latin typeface="Georgia" pitchFamily="34" charset="0"/>
                <a:ea typeface="Georgia" pitchFamily="34" charset="-122"/>
                <a:cs typeface="Georgia" pitchFamily="34" charset="-120"/>
              </a:rPr>
              <a:t>2</a:t>
            </a:r>
            <a:endParaRPr lang="en-US" sz="2200" dirty="0"/>
          </a:p>
        </p:txBody>
      </p:sp>
      <p:sp>
        <p:nvSpPr>
          <p:cNvPr id="8" name="Text 6"/>
          <p:cNvSpPr txBox="1"/>
          <p:nvPr/>
        </p:nvSpPr>
        <p:spPr>
          <a:xfrm>
            <a:off x="2395728" y="2743200"/>
            <a:ext cx="1737360" cy="365760"/>
          </a:xfrm>
          <a:prstGeom prst="rect">
            <a:avLst/>
          </a:prstGeom>
          <a:noFill/>
          <a:ln/>
        </p:spPr>
        <p:txBody>
          <a:bodyPr wrap="square" lIns="0" tIns="0" rIns="0" bIns="0" rtlCol="0" anchor="t"/>
          <a:lstStyle/>
          <a:p>
            <a:pPr indent="0" marL="0">
              <a:spcAft>
                <a:spcPts val="600"/>
              </a:spcAft>
              <a:buNone/>
            </a:pPr>
            <a:r>
              <a:rPr lang="en-US" sz="1500" b="1" dirty="0">
                <a:solidFill>
                  <a:srgbClr val="7A1220"/>
                </a:solidFill>
                <a:latin typeface="Arial" pitchFamily="34" charset="0"/>
                <a:ea typeface="Arial" pitchFamily="34" charset="-122"/>
                <a:cs typeface="Arial" pitchFamily="34" charset="-120"/>
              </a:rPr>
              <a:t>Naskah final</a:t>
            </a:r>
            <a:endParaRPr lang="en-US" sz="1500" dirty="0"/>
          </a:p>
        </p:txBody>
      </p:sp>
      <p:sp>
        <p:nvSpPr>
          <p:cNvPr id="9" name="Text 7"/>
          <p:cNvSpPr txBox="1"/>
          <p:nvPr/>
        </p:nvSpPr>
        <p:spPr>
          <a:xfrm>
            <a:off x="2395728" y="3154680"/>
            <a:ext cx="1737360" cy="1554480"/>
          </a:xfrm>
          <a:prstGeom prst="rect">
            <a:avLst/>
          </a:prstGeom>
          <a:noFill/>
          <a:ln/>
        </p:spPr>
        <p:txBody>
          <a:bodyPr wrap="square" lIns="0" tIns="0" rIns="0" bIns="0" rtlCol="0" anchor="t"/>
          <a:lstStyle/>
          <a:p>
            <a:pPr indent="0" marL="0">
              <a:spcAft>
                <a:spcPts val="600"/>
              </a:spcAft>
              <a:buNone/>
            </a:pPr>
            <a:r>
              <a:rPr lang="en-US" sz="1400" dirty="0">
                <a:solidFill>
                  <a:srgbClr val="2B2B2B"/>
                </a:solidFill>
                <a:latin typeface="Arial" pitchFamily="34" charset="0"/>
                <a:ea typeface="Arial" pitchFamily="34" charset="-122"/>
                <a:cs typeface="Arial" pitchFamily="34" charset="-120"/>
              </a:rPr>
              <a:t>Naskah disepakati (Pasal 9) dan disahkan keasliannya (Pasal 10).</a:t>
            </a:r>
            <a:endParaRPr lang="en-US" sz="1400" dirty="0"/>
          </a:p>
        </p:txBody>
      </p:sp>
      <p:sp>
        <p:nvSpPr>
          <p:cNvPr id="10" name="Text 8"/>
          <p:cNvSpPr/>
          <p:nvPr/>
        </p:nvSpPr>
        <p:spPr>
          <a:xfrm>
            <a:off x="4197096" y="1965960"/>
            <a:ext cx="1920240" cy="640080"/>
          </a:xfrm>
          <a:prstGeom prst="chevron">
            <a:avLst/>
          </a:prstGeom>
          <a:solidFill>
            <a:srgbClr val="F7F4F0"/>
          </a:solidFill>
          <a:ln w="12700">
            <a:solidFill>
              <a:srgbClr val="D9D2CB"/>
            </a:solidFill>
          </a:ln>
        </p:spPr>
        <p:txBody>
          <a:bodyPr wrap="square" lIns="0" tIns="0" rIns="0" bIns="0" rtlCol="0" anchor="ctr"/>
          <a:lstStyle/>
          <a:p>
            <a:pPr algn="ctr" indent="0" marL="0">
              <a:buNone/>
            </a:pPr>
            <a:r>
              <a:rPr lang="en-US" sz="2200" b="1" dirty="0">
                <a:solidFill>
                  <a:srgbClr val="7A1220"/>
                </a:solidFill>
                <a:latin typeface="Georgia" pitchFamily="34" charset="0"/>
                <a:ea typeface="Georgia" pitchFamily="34" charset="-122"/>
                <a:cs typeface="Georgia" pitchFamily="34" charset="-120"/>
              </a:rPr>
              <a:t>3</a:t>
            </a:r>
            <a:endParaRPr lang="en-US" sz="2200" dirty="0"/>
          </a:p>
        </p:txBody>
      </p:sp>
      <p:sp>
        <p:nvSpPr>
          <p:cNvPr id="11" name="Text 9"/>
          <p:cNvSpPr txBox="1"/>
          <p:nvPr/>
        </p:nvSpPr>
        <p:spPr>
          <a:xfrm>
            <a:off x="4242816" y="2743200"/>
            <a:ext cx="1737360" cy="365760"/>
          </a:xfrm>
          <a:prstGeom prst="rect">
            <a:avLst/>
          </a:prstGeom>
          <a:noFill/>
          <a:ln/>
        </p:spPr>
        <p:txBody>
          <a:bodyPr wrap="square" lIns="0" tIns="0" rIns="0" bIns="0" rtlCol="0" anchor="t"/>
          <a:lstStyle/>
          <a:p>
            <a:pPr indent="0" marL="0">
              <a:spcAft>
                <a:spcPts val="600"/>
              </a:spcAft>
              <a:buNone/>
            </a:pPr>
            <a:r>
              <a:rPr lang="en-US" sz="1500" b="1" dirty="0">
                <a:solidFill>
                  <a:srgbClr val="7A1220"/>
                </a:solidFill>
                <a:latin typeface="Arial" pitchFamily="34" charset="0"/>
                <a:ea typeface="Arial" pitchFamily="34" charset="-122"/>
                <a:cs typeface="Arial" pitchFamily="34" charset="-120"/>
              </a:rPr>
              <a:t>Penandatanganan</a:t>
            </a:r>
            <a:endParaRPr lang="en-US" sz="1500" dirty="0"/>
          </a:p>
        </p:txBody>
      </p:sp>
      <p:sp>
        <p:nvSpPr>
          <p:cNvPr id="12" name="Text 10"/>
          <p:cNvSpPr txBox="1"/>
          <p:nvPr/>
        </p:nvSpPr>
        <p:spPr>
          <a:xfrm>
            <a:off x="4242816" y="3154680"/>
            <a:ext cx="1737360" cy="1554480"/>
          </a:xfrm>
          <a:prstGeom prst="rect">
            <a:avLst/>
          </a:prstGeom>
          <a:noFill/>
          <a:ln/>
        </p:spPr>
        <p:txBody>
          <a:bodyPr wrap="square" lIns="0" tIns="0" rIns="0" bIns="0" rtlCol="0" anchor="t"/>
          <a:lstStyle/>
          <a:p>
            <a:pPr indent="0" marL="0">
              <a:spcAft>
                <a:spcPts val="600"/>
              </a:spcAft>
              <a:buNone/>
            </a:pPr>
            <a:r>
              <a:rPr lang="en-US" sz="1400" dirty="0">
                <a:solidFill>
                  <a:srgbClr val="2B2B2B"/>
                </a:solidFill>
                <a:latin typeface="Arial" pitchFamily="34" charset="0"/>
                <a:ea typeface="Arial" pitchFamily="34" charset="-122"/>
                <a:cs typeface="Arial" pitchFamily="34" charset="-120"/>
              </a:rPr>
              <a:t>Sejak ini negara dilarang menggagalkan maksud dan tujuan perjanjian (Pasal 18).</a:t>
            </a:r>
            <a:endParaRPr lang="en-US" sz="1400" dirty="0"/>
          </a:p>
        </p:txBody>
      </p:sp>
      <p:sp>
        <p:nvSpPr>
          <p:cNvPr id="13" name="Text 11"/>
          <p:cNvSpPr/>
          <p:nvPr/>
        </p:nvSpPr>
        <p:spPr>
          <a:xfrm>
            <a:off x="6044184" y="1965960"/>
            <a:ext cx="1920240" cy="640080"/>
          </a:xfrm>
          <a:prstGeom prst="chevron">
            <a:avLst/>
          </a:prstGeom>
          <a:solidFill>
            <a:srgbClr val="F7F4F0"/>
          </a:solidFill>
          <a:ln w="12700">
            <a:solidFill>
              <a:srgbClr val="D9D2CB"/>
            </a:solidFill>
          </a:ln>
        </p:spPr>
        <p:txBody>
          <a:bodyPr wrap="square" lIns="0" tIns="0" rIns="0" bIns="0" rtlCol="0" anchor="ctr"/>
          <a:lstStyle/>
          <a:p>
            <a:pPr algn="ctr" indent="0" marL="0">
              <a:buNone/>
            </a:pPr>
            <a:r>
              <a:rPr lang="en-US" sz="2200" b="1" dirty="0">
                <a:solidFill>
                  <a:srgbClr val="7A1220"/>
                </a:solidFill>
                <a:latin typeface="Georgia" pitchFamily="34" charset="0"/>
                <a:ea typeface="Georgia" pitchFamily="34" charset="-122"/>
                <a:cs typeface="Georgia" pitchFamily="34" charset="-120"/>
              </a:rPr>
              <a:t>4</a:t>
            </a:r>
            <a:endParaRPr lang="en-US" sz="2200" dirty="0"/>
          </a:p>
        </p:txBody>
      </p:sp>
      <p:sp>
        <p:nvSpPr>
          <p:cNvPr id="14" name="Text 12"/>
          <p:cNvSpPr txBox="1"/>
          <p:nvPr/>
        </p:nvSpPr>
        <p:spPr>
          <a:xfrm>
            <a:off x="6089904" y="2743200"/>
            <a:ext cx="1737360" cy="365760"/>
          </a:xfrm>
          <a:prstGeom prst="rect">
            <a:avLst/>
          </a:prstGeom>
          <a:noFill/>
          <a:ln/>
        </p:spPr>
        <p:txBody>
          <a:bodyPr wrap="square" lIns="0" tIns="0" rIns="0" bIns="0" rtlCol="0" anchor="t"/>
          <a:lstStyle/>
          <a:p>
            <a:pPr indent="0" marL="0">
              <a:spcAft>
                <a:spcPts val="600"/>
              </a:spcAft>
              <a:buNone/>
            </a:pPr>
            <a:r>
              <a:rPr lang="en-US" sz="1500" b="1" dirty="0">
                <a:solidFill>
                  <a:srgbClr val="7A1220"/>
                </a:solidFill>
                <a:latin typeface="Arial" pitchFamily="34" charset="0"/>
                <a:ea typeface="Arial" pitchFamily="34" charset="-122"/>
                <a:cs typeface="Arial" pitchFamily="34" charset="-120"/>
              </a:rPr>
              <a:t>Persetujuan terikat</a:t>
            </a:r>
            <a:endParaRPr lang="en-US" sz="1500" dirty="0"/>
          </a:p>
        </p:txBody>
      </p:sp>
      <p:sp>
        <p:nvSpPr>
          <p:cNvPr id="15" name="Text 13"/>
          <p:cNvSpPr txBox="1"/>
          <p:nvPr/>
        </p:nvSpPr>
        <p:spPr>
          <a:xfrm>
            <a:off x="6089904" y="3154680"/>
            <a:ext cx="1737360" cy="1554480"/>
          </a:xfrm>
          <a:prstGeom prst="rect">
            <a:avLst/>
          </a:prstGeom>
          <a:noFill/>
          <a:ln/>
        </p:spPr>
        <p:txBody>
          <a:bodyPr wrap="square" lIns="0" tIns="0" rIns="0" bIns="0" rtlCol="0" anchor="t"/>
          <a:lstStyle/>
          <a:p>
            <a:pPr indent="0" marL="0">
              <a:spcAft>
                <a:spcPts val="600"/>
              </a:spcAft>
              <a:buNone/>
            </a:pPr>
            <a:r>
              <a:rPr lang="en-US" sz="1400" dirty="0">
                <a:solidFill>
                  <a:srgbClr val="2B2B2B"/>
                </a:solidFill>
                <a:latin typeface="Arial" pitchFamily="34" charset="0"/>
                <a:ea typeface="Arial" pitchFamily="34" charset="-122"/>
                <a:cs typeface="Arial" pitchFamily="34" charset="-120"/>
              </a:rPr>
              <a:t>Lewat ratifikasi, aksesi, penerimaan, atau persetujuan (Pasal 11 sampai 16).</a:t>
            </a:r>
            <a:endParaRPr lang="en-US" sz="1400" dirty="0"/>
          </a:p>
        </p:txBody>
      </p:sp>
      <p:sp>
        <p:nvSpPr>
          <p:cNvPr id="16" name="Text 14"/>
          <p:cNvSpPr/>
          <p:nvPr/>
        </p:nvSpPr>
        <p:spPr>
          <a:xfrm>
            <a:off x="7891272" y="1965960"/>
            <a:ext cx="1920240" cy="640080"/>
          </a:xfrm>
          <a:prstGeom prst="chevron">
            <a:avLst/>
          </a:prstGeom>
          <a:solidFill>
            <a:srgbClr val="F7F4F0"/>
          </a:solidFill>
          <a:ln w="12700">
            <a:solidFill>
              <a:srgbClr val="D9D2CB"/>
            </a:solidFill>
          </a:ln>
        </p:spPr>
        <p:txBody>
          <a:bodyPr wrap="square" lIns="0" tIns="0" rIns="0" bIns="0" rtlCol="0" anchor="ctr"/>
          <a:lstStyle/>
          <a:p>
            <a:pPr algn="ctr" indent="0" marL="0">
              <a:buNone/>
            </a:pPr>
            <a:r>
              <a:rPr lang="en-US" sz="2200" b="1" dirty="0">
                <a:solidFill>
                  <a:srgbClr val="7A1220"/>
                </a:solidFill>
                <a:latin typeface="Georgia" pitchFamily="34" charset="0"/>
                <a:ea typeface="Georgia" pitchFamily="34" charset="-122"/>
                <a:cs typeface="Georgia" pitchFamily="34" charset="-120"/>
              </a:rPr>
              <a:t>5</a:t>
            </a:r>
            <a:endParaRPr lang="en-US" sz="2200" dirty="0"/>
          </a:p>
        </p:txBody>
      </p:sp>
      <p:sp>
        <p:nvSpPr>
          <p:cNvPr id="17" name="Text 15"/>
          <p:cNvSpPr txBox="1"/>
          <p:nvPr/>
        </p:nvSpPr>
        <p:spPr>
          <a:xfrm>
            <a:off x="7936992" y="2743200"/>
            <a:ext cx="1737360" cy="365760"/>
          </a:xfrm>
          <a:prstGeom prst="rect">
            <a:avLst/>
          </a:prstGeom>
          <a:noFill/>
          <a:ln/>
        </p:spPr>
        <p:txBody>
          <a:bodyPr wrap="square" lIns="0" tIns="0" rIns="0" bIns="0" rtlCol="0" anchor="t"/>
          <a:lstStyle/>
          <a:p>
            <a:pPr indent="0" marL="0">
              <a:spcAft>
                <a:spcPts val="600"/>
              </a:spcAft>
              <a:buNone/>
            </a:pPr>
            <a:r>
              <a:rPr lang="en-US" sz="1500" b="1" dirty="0">
                <a:solidFill>
                  <a:srgbClr val="7A1220"/>
                </a:solidFill>
                <a:latin typeface="Arial" pitchFamily="34" charset="0"/>
                <a:ea typeface="Arial" pitchFamily="34" charset="-122"/>
                <a:cs typeface="Arial" pitchFamily="34" charset="-120"/>
              </a:rPr>
              <a:t>Mulai berlaku</a:t>
            </a:r>
            <a:endParaRPr lang="en-US" sz="1500" dirty="0"/>
          </a:p>
        </p:txBody>
      </p:sp>
      <p:sp>
        <p:nvSpPr>
          <p:cNvPr id="18" name="Text 16"/>
          <p:cNvSpPr txBox="1"/>
          <p:nvPr/>
        </p:nvSpPr>
        <p:spPr>
          <a:xfrm>
            <a:off x="7936992" y="3154680"/>
            <a:ext cx="1737360" cy="1554480"/>
          </a:xfrm>
          <a:prstGeom prst="rect">
            <a:avLst/>
          </a:prstGeom>
          <a:noFill/>
          <a:ln/>
        </p:spPr>
        <p:txBody>
          <a:bodyPr wrap="square" lIns="0" tIns="0" rIns="0" bIns="0" rtlCol="0" anchor="t"/>
          <a:lstStyle/>
          <a:p>
            <a:pPr indent="0" marL="0">
              <a:spcAft>
                <a:spcPts val="600"/>
              </a:spcAft>
              <a:buNone/>
            </a:pPr>
            <a:r>
              <a:rPr lang="en-US" sz="1400" dirty="0">
                <a:solidFill>
                  <a:srgbClr val="2B2B2B"/>
                </a:solidFill>
                <a:latin typeface="Arial" pitchFamily="34" charset="0"/>
                <a:ea typeface="Arial" pitchFamily="34" charset="-122"/>
                <a:cs typeface="Arial" pitchFamily="34" charset="-120"/>
              </a:rPr>
              <a:t>Sesuai ketentuan perjanjian, misalnya setelah sekian negara meratifikasi (Pasal 24).</a:t>
            </a:r>
            <a:endParaRPr lang="en-US" sz="1400" dirty="0"/>
          </a:p>
        </p:txBody>
      </p:sp>
      <p:sp>
        <p:nvSpPr>
          <p:cNvPr id="19" name="Text 17"/>
          <p:cNvSpPr/>
          <p:nvPr/>
        </p:nvSpPr>
        <p:spPr>
          <a:xfrm>
            <a:off x="9738360" y="1965960"/>
            <a:ext cx="1920240" cy="640080"/>
          </a:xfrm>
          <a:prstGeom prst="chevron">
            <a:avLst/>
          </a:prstGeom>
          <a:solidFill>
            <a:srgbClr val="F7F4F0"/>
          </a:solidFill>
          <a:ln w="12700">
            <a:solidFill>
              <a:srgbClr val="D9D2CB"/>
            </a:solidFill>
          </a:ln>
        </p:spPr>
        <p:txBody>
          <a:bodyPr wrap="square" lIns="0" tIns="0" rIns="0" bIns="0" rtlCol="0" anchor="ctr"/>
          <a:lstStyle/>
          <a:p>
            <a:pPr algn="ctr" indent="0" marL="0">
              <a:buNone/>
            </a:pPr>
            <a:r>
              <a:rPr lang="en-US" sz="2200" b="1" dirty="0">
                <a:solidFill>
                  <a:srgbClr val="7A1220"/>
                </a:solidFill>
                <a:latin typeface="Georgia" pitchFamily="34" charset="0"/>
                <a:ea typeface="Georgia" pitchFamily="34" charset="-122"/>
                <a:cs typeface="Georgia" pitchFamily="34" charset="-120"/>
              </a:rPr>
              <a:t>6</a:t>
            </a:r>
            <a:endParaRPr lang="en-US" sz="2200" dirty="0"/>
          </a:p>
        </p:txBody>
      </p:sp>
      <p:sp>
        <p:nvSpPr>
          <p:cNvPr id="20" name="Text 18"/>
          <p:cNvSpPr txBox="1"/>
          <p:nvPr/>
        </p:nvSpPr>
        <p:spPr>
          <a:xfrm>
            <a:off x="9784080" y="2743200"/>
            <a:ext cx="1737360" cy="365760"/>
          </a:xfrm>
          <a:prstGeom prst="rect">
            <a:avLst/>
          </a:prstGeom>
          <a:noFill/>
          <a:ln/>
        </p:spPr>
        <p:txBody>
          <a:bodyPr wrap="square" lIns="0" tIns="0" rIns="0" bIns="0" rtlCol="0" anchor="t"/>
          <a:lstStyle/>
          <a:p>
            <a:pPr indent="0" marL="0">
              <a:spcAft>
                <a:spcPts val="600"/>
              </a:spcAft>
              <a:buNone/>
            </a:pPr>
            <a:r>
              <a:rPr lang="en-US" sz="1500" b="1" dirty="0">
                <a:solidFill>
                  <a:srgbClr val="7A1220"/>
                </a:solidFill>
                <a:latin typeface="Arial" pitchFamily="34" charset="0"/>
                <a:ea typeface="Arial" pitchFamily="34" charset="-122"/>
                <a:cs typeface="Arial" pitchFamily="34" charset="-120"/>
              </a:rPr>
              <a:t>Pendaftaran</a:t>
            </a:r>
            <a:endParaRPr lang="en-US" sz="1500" dirty="0"/>
          </a:p>
        </p:txBody>
      </p:sp>
      <p:sp>
        <p:nvSpPr>
          <p:cNvPr id="21" name="Text 19"/>
          <p:cNvSpPr txBox="1"/>
          <p:nvPr/>
        </p:nvSpPr>
        <p:spPr>
          <a:xfrm>
            <a:off x="9784080" y="3154680"/>
            <a:ext cx="1737360" cy="1554480"/>
          </a:xfrm>
          <a:prstGeom prst="rect">
            <a:avLst/>
          </a:prstGeom>
          <a:noFill/>
          <a:ln/>
        </p:spPr>
        <p:txBody>
          <a:bodyPr wrap="square" lIns="0" tIns="0" rIns="0" bIns="0" rtlCol="0" anchor="t"/>
          <a:lstStyle/>
          <a:p>
            <a:pPr indent="0" marL="0">
              <a:spcAft>
                <a:spcPts val="600"/>
              </a:spcAft>
              <a:buNone/>
            </a:pPr>
            <a:r>
              <a:rPr lang="en-US" sz="1400" dirty="0">
                <a:solidFill>
                  <a:srgbClr val="2B2B2B"/>
                </a:solidFill>
                <a:latin typeface="Arial" pitchFamily="34" charset="0"/>
                <a:ea typeface="Arial" pitchFamily="34" charset="-122"/>
                <a:cs typeface="Arial" pitchFamily="34" charset="-120"/>
              </a:rPr>
              <a:t>Didaftarkan ke Sekretariat PBB (Pasal 102 Piagam PBB; Pasal 80 Konvensi Wina).</a:t>
            </a:r>
            <a:endParaRPr lang="en-US" sz="1400" dirty="0"/>
          </a:p>
        </p:txBody>
      </p:sp>
      <p:sp>
        <p:nvSpPr>
          <p:cNvPr id="22" name="Shape 20"/>
          <p:cNvSpPr/>
          <p:nvPr/>
        </p:nvSpPr>
        <p:spPr>
          <a:xfrm>
            <a:off x="502920" y="4800600"/>
            <a:ext cx="11183112" cy="0"/>
          </a:xfrm>
          <a:prstGeom prst="line">
            <a:avLst/>
          </a:prstGeom>
          <a:noFill/>
          <a:ln w="12700">
            <a:solidFill>
              <a:srgbClr val="D9D2CB"/>
            </a:solidFill>
            <a:prstDash val="solid"/>
          </a:ln>
        </p:spPr>
      </p:sp>
      <p:sp>
        <p:nvSpPr>
          <p:cNvPr id="23" name="Text 21"/>
          <p:cNvSpPr txBox="1"/>
          <p:nvPr/>
        </p:nvSpPr>
        <p:spPr>
          <a:xfrm>
            <a:off x="502920" y="4937760"/>
            <a:ext cx="5486400" cy="1280160"/>
          </a:xfrm>
          <a:prstGeom prst="rect">
            <a:avLst/>
          </a:prstGeom>
          <a:noFill/>
          <a:ln/>
        </p:spPr>
        <p:txBody>
          <a:bodyPr wrap="square" lIns="0" tIns="0" rIns="0" bIns="0" rtlCol="0" anchor="t"/>
          <a:lstStyle/>
          <a:p>
            <a:pPr indent="0" marL="0">
              <a:spcAft>
                <a:spcPts val="600"/>
              </a:spcAft>
              <a:buNone/>
            </a:pPr>
            <a:r>
              <a:rPr lang="en-US" sz="1400" b="1" dirty="0">
                <a:solidFill>
                  <a:srgbClr val="7A1220"/>
                </a:solidFill>
                <a:latin typeface="Arial" pitchFamily="34" charset="0"/>
                <a:ea typeface="Arial" pitchFamily="34" charset="-122"/>
                <a:cs typeface="Arial" pitchFamily="34" charset="-120"/>
              </a:rPr>
              <a:t>Reservasi (Pasal 19 sampai 23)</a:t>
            </a:r>
            <a:endParaRPr lang="en-US" sz="1400" dirty="0"/>
          </a:p>
          <a:p>
            <a:pPr indent="0" marL="0">
              <a:spcAft>
                <a:spcPts val="600"/>
              </a:spcAft>
              <a:buNone/>
            </a:pPr>
            <a:r>
              <a:rPr lang="en-US" sz="1400" dirty="0">
                <a:solidFill>
                  <a:srgbClr val="2B2B2B"/>
                </a:solidFill>
                <a:latin typeface="Arial" pitchFamily="34" charset="0"/>
                <a:ea typeface="Arial" pitchFamily="34" charset="-122"/>
                <a:cs typeface="Arial" pitchFamily="34" charset="-120"/>
              </a:rPr>
              <a:t>Negara boleh menyatakan tidak terikat pada ketentuan tertentu, kecuali dilarang oleh perjanjiannya atau bertentangan dengan maksud dan tujuan perjanjian.</a:t>
            </a:r>
            <a:endParaRPr lang="en-US" sz="1400" dirty="0"/>
          </a:p>
        </p:txBody>
      </p:sp>
      <p:sp>
        <p:nvSpPr>
          <p:cNvPr id="24" name="Text 22"/>
          <p:cNvSpPr txBox="1"/>
          <p:nvPr/>
        </p:nvSpPr>
        <p:spPr>
          <a:xfrm>
            <a:off x="6263640" y="4937760"/>
            <a:ext cx="5394960" cy="1280160"/>
          </a:xfrm>
          <a:prstGeom prst="rect">
            <a:avLst/>
          </a:prstGeom>
          <a:noFill/>
          <a:ln/>
        </p:spPr>
        <p:txBody>
          <a:bodyPr wrap="square" lIns="0" tIns="0" rIns="0" bIns="0" rtlCol="0" anchor="t"/>
          <a:lstStyle/>
          <a:p>
            <a:pPr indent="0" marL="0">
              <a:spcAft>
                <a:spcPts val="600"/>
              </a:spcAft>
              <a:buNone/>
            </a:pPr>
            <a:r>
              <a:rPr lang="en-US" sz="1400" b="1" dirty="0">
                <a:solidFill>
                  <a:srgbClr val="7A1220"/>
                </a:solidFill>
                <a:latin typeface="Arial" pitchFamily="34" charset="0"/>
                <a:ea typeface="Arial" pitchFamily="34" charset="-122"/>
                <a:cs typeface="Arial" pitchFamily="34" charset="-120"/>
              </a:rPr>
              <a:t>Di Indonesia</a:t>
            </a:r>
            <a:endParaRPr lang="en-US" sz="1400" dirty="0"/>
          </a:p>
          <a:p>
            <a:pPr indent="0" marL="0">
              <a:spcAft>
                <a:spcPts val="600"/>
              </a:spcAft>
              <a:buNone/>
            </a:pPr>
            <a:r>
              <a:rPr lang="en-US" sz="1400" dirty="0">
                <a:solidFill>
                  <a:srgbClr val="2B2B2B"/>
                </a:solidFill>
                <a:latin typeface="Arial" pitchFamily="34" charset="0"/>
                <a:ea typeface="Arial" pitchFamily="34" charset="-122"/>
                <a:cs typeface="Arial" pitchFamily="34" charset="-120"/>
              </a:rPr>
              <a:t>Persetujuan terikat dilakukan lewat pengesahan: dengan undang-undang atau peraturan presiden (UU No. 24 Tahun 2000, Pasal 9).</a:t>
            </a:r>
            <a:endParaRPr lang="en-US" sz="1400" dirty="0"/>
          </a:p>
        </p:txBody>
      </p:sp>
      <p:sp>
        <p:nvSpPr>
          <p:cNvPr id="25" name="Slide Number Placeholder 0"/>
          <p:cNvSpPr>
            <a:spLocks noGrp="1"/>
          </p:cNvSpPr>
          <p:nvPr>
            <p:ph type="sldNum" sz="quarter" idx="4294967295"/>
          </p:nvPr>
        </p:nvSpPr>
        <p:spPr>
          <a:xfrm>
            <a:off x="11228832"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5F5F"/>
                </a:solidFill>
                <a:latin typeface="Arial"/>
                <a:ea typeface="Arial"/>
                <a:cs typeface="Aria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02920" y="896112"/>
            <a:ext cx="11155680" cy="274320"/>
          </a:xfrm>
          <a:prstGeom prst="rect">
            <a:avLst/>
          </a:prstGeom>
          <a:noFill/>
          <a:ln/>
        </p:spPr>
        <p:txBody>
          <a:bodyPr wrap="square" lIns="0" tIns="0" rIns="0" bIns="0" rtlCol="0" anchor="t"/>
          <a:lstStyle/>
          <a:p>
            <a:pPr indent="0" marL="0">
              <a:buNone/>
            </a:pPr>
            <a:r>
              <a:rPr lang="en-US" sz="1200" b="1" spc="200" kern="0" dirty="0">
                <a:solidFill>
                  <a:srgbClr val="7A1220"/>
                </a:solidFill>
                <a:latin typeface="Arial" pitchFamily="34" charset="0"/>
                <a:ea typeface="Arial" pitchFamily="34" charset="-122"/>
                <a:cs typeface="Arial" pitchFamily="34" charset="-120"/>
              </a:rPr>
              <a:t>STUDI KASUS INDONESIA</a:t>
            </a:r>
            <a:endParaRPr lang="en-US" sz="1200" dirty="0"/>
          </a:p>
        </p:txBody>
      </p:sp>
      <p:sp>
        <p:nvSpPr>
          <p:cNvPr id="3" name="Text 1"/>
          <p:cNvSpPr txBox="1"/>
          <p:nvPr/>
        </p:nvSpPr>
        <p:spPr>
          <a:xfrm>
            <a:off x="502920" y="1152144"/>
            <a:ext cx="11183112" cy="640080"/>
          </a:xfrm>
          <a:prstGeom prst="rect">
            <a:avLst/>
          </a:prstGeom>
          <a:noFill/>
          <a:ln/>
        </p:spPr>
        <p:txBody>
          <a:bodyPr wrap="square" lIns="0" tIns="0" rIns="0" bIns="0" rtlCol="0" anchor="ctr"/>
          <a:lstStyle/>
          <a:p>
            <a:pPr indent="0" marL="0">
              <a:buNone/>
            </a:pPr>
            <a:r>
              <a:rPr lang="en-US" sz="2800" b="1" dirty="0">
                <a:solidFill>
                  <a:srgbClr val="7A1220"/>
                </a:solidFill>
                <a:latin typeface="Georgia" pitchFamily="34" charset="0"/>
                <a:ea typeface="Georgia" pitchFamily="34" charset="-122"/>
                <a:cs typeface="Georgia" pitchFamily="34" charset="-120"/>
              </a:rPr>
              <a:t>Disahkan dengan UU atau Perpres?</a:t>
            </a:r>
            <a:endParaRPr lang="en-US" sz="2800" dirty="0"/>
          </a:p>
        </p:txBody>
      </p:sp>
      <p:sp>
        <p:nvSpPr>
          <p:cNvPr id="4" name="Text 2"/>
          <p:cNvSpPr txBox="1"/>
          <p:nvPr/>
        </p:nvSpPr>
        <p:spPr>
          <a:xfrm>
            <a:off x="502920" y="1920240"/>
            <a:ext cx="6035040" cy="274320"/>
          </a:xfrm>
          <a:prstGeom prst="rect">
            <a:avLst/>
          </a:prstGeom>
          <a:noFill/>
          <a:ln/>
        </p:spPr>
        <p:txBody>
          <a:bodyPr wrap="square" lIns="0" tIns="0" rIns="0" bIns="0" rtlCol="0" anchor="t"/>
          <a:lstStyle/>
          <a:p>
            <a:pPr indent="0" marL="0">
              <a:spcAft>
                <a:spcPts val="600"/>
              </a:spcAft>
              <a:buNone/>
            </a:pPr>
            <a:r>
              <a:rPr lang="en-US" sz="1200" b="1" spc="150" kern="0" dirty="0">
                <a:solidFill>
                  <a:srgbClr val="5F5F5F"/>
                </a:solidFill>
                <a:latin typeface="Arial" pitchFamily="34" charset="0"/>
                <a:ea typeface="Arial" pitchFamily="34" charset="-122"/>
                <a:cs typeface="Arial" pitchFamily="34" charset="-120"/>
              </a:rPr>
              <a:t>DENGAN UNDANG-UNDANG (PASAL 10 UU 24/2000)</a:t>
            </a:r>
            <a:endParaRPr lang="en-US" sz="1200" dirty="0"/>
          </a:p>
        </p:txBody>
      </p:sp>
      <p:sp>
        <p:nvSpPr>
          <p:cNvPr id="5" name="Text 3"/>
          <p:cNvSpPr txBox="1"/>
          <p:nvPr/>
        </p:nvSpPr>
        <p:spPr>
          <a:xfrm>
            <a:off x="502920" y="2231136"/>
            <a:ext cx="320040" cy="411480"/>
          </a:xfrm>
          <a:prstGeom prst="rect">
            <a:avLst/>
          </a:prstGeom>
          <a:noFill/>
          <a:ln/>
        </p:spPr>
        <p:txBody>
          <a:bodyPr wrap="square" lIns="0" tIns="0" rIns="0" bIns="0" rtlCol="0" anchor="t"/>
          <a:lstStyle/>
          <a:p>
            <a:pPr indent="0" marL="0">
              <a:spcAft>
                <a:spcPts val="600"/>
              </a:spcAft>
              <a:buNone/>
            </a:pPr>
            <a:r>
              <a:rPr lang="en-US" sz="1800" b="1" dirty="0">
                <a:solidFill>
                  <a:srgbClr val="7A1220"/>
                </a:solidFill>
                <a:latin typeface="Georgia" pitchFamily="34" charset="0"/>
                <a:ea typeface="Georgia" pitchFamily="34" charset="-122"/>
                <a:cs typeface="Georgia" pitchFamily="34" charset="-120"/>
              </a:rPr>
              <a:t>a</a:t>
            </a:r>
            <a:endParaRPr lang="en-US" sz="1800" dirty="0"/>
          </a:p>
        </p:txBody>
      </p:sp>
      <p:sp>
        <p:nvSpPr>
          <p:cNvPr id="6" name="Text 4"/>
          <p:cNvSpPr txBox="1"/>
          <p:nvPr/>
        </p:nvSpPr>
        <p:spPr>
          <a:xfrm>
            <a:off x="868680" y="2267712"/>
            <a:ext cx="5806440" cy="402336"/>
          </a:xfrm>
          <a:prstGeom prst="rect">
            <a:avLst/>
          </a:prstGeom>
          <a:noFill/>
          <a:ln/>
        </p:spPr>
        <p:txBody>
          <a:bodyPr wrap="square" lIns="0" tIns="0" rIns="0" bIns="0" rtlCol="0" anchor="t"/>
          <a:lstStyle/>
          <a:p>
            <a:pPr indent="0" marL="0">
              <a:spcAft>
                <a:spcPts val="600"/>
              </a:spcAft>
              <a:buNone/>
            </a:pPr>
            <a:r>
              <a:rPr lang="en-US" sz="1400" dirty="0">
                <a:solidFill>
                  <a:srgbClr val="2B2B2B"/>
                </a:solidFill>
                <a:latin typeface="Arial" pitchFamily="34" charset="0"/>
                <a:ea typeface="Arial" pitchFamily="34" charset="-122"/>
                <a:cs typeface="Arial" pitchFamily="34" charset="-120"/>
              </a:rPr>
              <a:t>Politik, perdamaian, pertahanan, dan keamanan negara</a:t>
            </a:r>
            <a:endParaRPr lang="en-US" sz="1400" dirty="0"/>
          </a:p>
        </p:txBody>
      </p:sp>
      <p:sp>
        <p:nvSpPr>
          <p:cNvPr id="7" name="Text 5"/>
          <p:cNvSpPr txBox="1"/>
          <p:nvPr/>
        </p:nvSpPr>
        <p:spPr>
          <a:xfrm>
            <a:off x="502920" y="2688336"/>
            <a:ext cx="320040" cy="411480"/>
          </a:xfrm>
          <a:prstGeom prst="rect">
            <a:avLst/>
          </a:prstGeom>
          <a:noFill/>
          <a:ln/>
        </p:spPr>
        <p:txBody>
          <a:bodyPr wrap="square" lIns="0" tIns="0" rIns="0" bIns="0" rtlCol="0" anchor="t"/>
          <a:lstStyle/>
          <a:p>
            <a:pPr indent="0" marL="0">
              <a:spcAft>
                <a:spcPts val="600"/>
              </a:spcAft>
              <a:buNone/>
            </a:pPr>
            <a:r>
              <a:rPr lang="en-US" sz="1800" b="1" dirty="0">
                <a:solidFill>
                  <a:srgbClr val="7A1220"/>
                </a:solidFill>
                <a:latin typeface="Georgia" pitchFamily="34" charset="0"/>
                <a:ea typeface="Georgia" pitchFamily="34" charset="-122"/>
                <a:cs typeface="Georgia" pitchFamily="34" charset="-120"/>
              </a:rPr>
              <a:t>b</a:t>
            </a:r>
            <a:endParaRPr lang="en-US" sz="1800" dirty="0"/>
          </a:p>
        </p:txBody>
      </p:sp>
      <p:sp>
        <p:nvSpPr>
          <p:cNvPr id="8" name="Text 6"/>
          <p:cNvSpPr txBox="1"/>
          <p:nvPr/>
        </p:nvSpPr>
        <p:spPr>
          <a:xfrm>
            <a:off x="868680" y="2724912"/>
            <a:ext cx="5806440" cy="402336"/>
          </a:xfrm>
          <a:prstGeom prst="rect">
            <a:avLst/>
          </a:prstGeom>
          <a:noFill/>
          <a:ln/>
        </p:spPr>
        <p:txBody>
          <a:bodyPr wrap="square" lIns="0" tIns="0" rIns="0" bIns="0" rtlCol="0" anchor="t"/>
          <a:lstStyle/>
          <a:p>
            <a:pPr indent="0" marL="0">
              <a:spcAft>
                <a:spcPts val="600"/>
              </a:spcAft>
              <a:buNone/>
            </a:pPr>
            <a:r>
              <a:rPr lang="en-US" sz="1400" dirty="0">
                <a:solidFill>
                  <a:srgbClr val="2B2B2B"/>
                </a:solidFill>
                <a:latin typeface="Arial" pitchFamily="34" charset="0"/>
                <a:ea typeface="Arial" pitchFamily="34" charset="-122"/>
                <a:cs typeface="Arial" pitchFamily="34" charset="-120"/>
              </a:rPr>
              <a:t>Perubahan wilayah atau penetapan batas wilayah</a:t>
            </a:r>
            <a:endParaRPr lang="en-US" sz="1400" dirty="0"/>
          </a:p>
        </p:txBody>
      </p:sp>
      <p:sp>
        <p:nvSpPr>
          <p:cNvPr id="9" name="Text 7"/>
          <p:cNvSpPr txBox="1"/>
          <p:nvPr/>
        </p:nvSpPr>
        <p:spPr>
          <a:xfrm>
            <a:off x="502920" y="3145536"/>
            <a:ext cx="320040" cy="411480"/>
          </a:xfrm>
          <a:prstGeom prst="rect">
            <a:avLst/>
          </a:prstGeom>
          <a:noFill/>
          <a:ln/>
        </p:spPr>
        <p:txBody>
          <a:bodyPr wrap="square" lIns="0" tIns="0" rIns="0" bIns="0" rtlCol="0" anchor="t"/>
          <a:lstStyle/>
          <a:p>
            <a:pPr indent="0" marL="0">
              <a:spcAft>
                <a:spcPts val="600"/>
              </a:spcAft>
              <a:buNone/>
            </a:pPr>
            <a:r>
              <a:rPr lang="en-US" sz="1800" b="1" dirty="0">
                <a:solidFill>
                  <a:srgbClr val="7A1220"/>
                </a:solidFill>
                <a:latin typeface="Georgia" pitchFamily="34" charset="0"/>
                <a:ea typeface="Georgia" pitchFamily="34" charset="-122"/>
                <a:cs typeface="Georgia" pitchFamily="34" charset="-120"/>
              </a:rPr>
              <a:t>c</a:t>
            </a:r>
            <a:endParaRPr lang="en-US" sz="1800" dirty="0"/>
          </a:p>
        </p:txBody>
      </p:sp>
      <p:sp>
        <p:nvSpPr>
          <p:cNvPr id="10" name="Text 8"/>
          <p:cNvSpPr txBox="1"/>
          <p:nvPr/>
        </p:nvSpPr>
        <p:spPr>
          <a:xfrm>
            <a:off x="868680" y="3182112"/>
            <a:ext cx="5806440" cy="621792"/>
          </a:xfrm>
          <a:prstGeom prst="rect">
            <a:avLst/>
          </a:prstGeom>
          <a:noFill/>
          <a:ln/>
        </p:spPr>
        <p:txBody>
          <a:bodyPr wrap="square" lIns="0" tIns="0" rIns="0" bIns="0" rtlCol="0" anchor="t"/>
          <a:lstStyle/>
          <a:p>
            <a:pPr indent="0" marL="0">
              <a:spcAft>
                <a:spcPts val="600"/>
              </a:spcAft>
              <a:buNone/>
            </a:pPr>
            <a:r>
              <a:rPr lang="en-US" sz="1400" dirty="0">
                <a:solidFill>
                  <a:srgbClr val="2B2B2B"/>
                </a:solidFill>
                <a:latin typeface="Arial" pitchFamily="34" charset="0"/>
                <a:ea typeface="Arial" pitchFamily="34" charset="-122"/>
                <a:cs typeface="Arial" pitchFamily="34" charset="-120"/>
              </a:rPr>
              <a:t>Kedaulatan atau hak berdaulat. Contoh: batas ZEE RI–Filipina, UU No. 4 Tahun 2017</a:t>
            </a:r>
            <a:endParaRPr lang="en-US" sz="1400" dirty="0"/>
          </a:p>
        </p:txBody>
      </p:sp>
      <p:sp>
        <p:nvSpPr>
          <p:cNvPr id="11" name="Text 9"/>
          <p:cNvSpPr txBox="1"/>
          <p:nvPr/>
        </p:nvSpPr>
        <p:spPr>
          <a:xfrm>
            <a:off x="502920" y="3822192"/>
            <a:ext cx="320040" cy="411480"/>
          </a:xfrm>
          <a:prstGeom prst="rect">
            <a:avLst/>
          </a:prstGeom>
          <a:noFill/>
          <a:ln/>
        </p:spPr>
        <p:txBody>
          <a:bodyPr wrap="square" lIns="0" tIns="0" rIns="0" bIns="0" rtlCol="0" anchor="t"/>
          <a:lstStyle/>
          <a:p>
            <a:pPr indent="0" marL="0">
              <a:spcAft>
                <a:spcPts val="600"/>
              </a:spcAft>
              <a:buNone/>
            </a:pPr>
            <a:r>
              <a:rPr lang="en-US" sz="1800" b="1" dirty="0">
                <a:solidFill>
                  <a:srgbClr val="7A1220"/>
                </a:solidFill>
                <a:latin typeface="Georgia" pitchFamily="34" charset="0"/>
                <a:ea typeface="Georgia" pitchFamily="34" charset="-122"/>
                <a:cs typeface="Georgia" pitchFamily="34" charset="-120"/>
              </a:rPr>
              <a:t>d</a:t>
            </a:r>
            <a:endParaRPr lang="en-US" sz="1800" dirty="0"/>
          </a:p>
        </p:txBody>
      </p:sp>
      <p:sp>
        <p:nvSpPr>
          <p:cNvPr id="12" name="Text 10"/>
          <p:cNvSpPr txBox="1"/>
          <p:nvPr/>
        </p:nvSpPr>
        <p:spPr>
          <a:xfrm>
            <a:off x="868680" y="3858768"/>
            <a:ext cx="5806440" cy="621792"/>
          </a:xfrm>
          <a:prstGeom prst="rect">
            <a:avLst/>
          </a:prstGeom>
          <a:noFill/>
          <a:ln/>
        </p:spPr>
        <p:txBody>
          <a:bodyPr wrap="square" lIns="0" tIns="0" rIns="0" bIns="0" rtlCol="0" anchor="t"/>
          <a:lstStyle/>
          <a:p>
            <a:pPr indent="0" marL="0">
              <a:spcAft>
                <a:spcPts val="600"/>
              </a:spcAft>
              <a:buNone/>
            </a:pPr>
            <a:r>
              <a:rPr lang="en-US" sz="1400" dirty="0">
                <a:solidFill>
                  <a:srgbClr val="2B2B2B"/>
                </a:solidFill>
                <a:latin typeface="Arial" pitchFamily="34" charset="0"/>
                <a:ea typeface="Arial" pitchFamily="34" charset="-122"/>
                <a:cs typeface="Arial" pitchFamily="34" charset="-120"/>
              </a:rPr>
              <a:t>HAM dan lingkungan hidup. Contoh: Persetujuan Paris, UU No. 16 Tahun 2016</a:t>
            </a:r>
            <a:endParaRPr lang="en-US" sz="1400" dirty="0"/>
          </a:p>
        </p:txBody>
      </p:sp>
      <p:sp>
        <p:nvSpPr>
          <p:cNvPr id="13" name="Text 11"/>
          <p:cNvSpPr txBox="1"/>
          <p:nvPr/>
        </p:nvSpPr>
        <p:spPr>
          <a:xfrm>
            <a:off x="502920" y="4498848"/>
            <a:ext cx="320040" cy="411480"/>
          </a:xfrm>
          <a:prstGeom prst="rect">
            <a:avLst/>
          </a:prstGeom>
          <a:noFill/>
          <a:ln/>
        </p:spPr>
        <p:txBody>
          <a:bodyPr wrap="square" lIns="0" tIns="0" rIns="0" bIns="0" rtlCol="0" anchor="t"/>
          <a:lstStyle/>
          <a:p>
            <a:pPr indent="0" marL="0">
              <a:spcAft>
                <a:spcPts val="600"/>
              </a:spcAft>
              <a:buNone/>
            </a:pPr>
            <a:r>
              <a:rPr lang="en-US" sz="1800" b="1" dirty="0">
                <a:solidFill>
                  <a:srgbClr val="7A1220"/>
                </a:solidFill>
                <a:latin typeface="Georgia" pitchFamily="34" charset="0"/>
                <a:ea typeface="Georgia" pitchFamily="34" charset="-122"/>
                <a:cs typeface="Georgia" pitchFamily="34" charset="-120"/>
              </a:rPr>
              <a:t>e</a:t>
            </a:r>
            <a:endParaRPr lang="en-US" sz="1800" dirty="0"/>
          </a:p>
        </p:txBody>
      </p:sp>
      <p:sp>
        <p:nvSpPr>
          <p:cNvPr id="14" name="Text 12"/>
          <p:cNvSpPr txBox="1"/>
          <p:nvPr/>
        </p:nvSpPr>
        <p:spPr>
          <a:xfrm>
            <a:off x="868680" y="4535424"/>
            <a:ext cx="5806440" cy="402336"/>
          </a:xfrm>
          <a:prstGeom prst="rect">
            <a:avLst/>
          </a:prstGeom>
          <a:noFill/>
          <a:ln/>
        </p:spPr>
        <p:txBody>
          <a:bodyPr wrap="square" lIns="0" tIns="0" rIns="0" bIns="0" rtlCol="0" anchor="t"/>
          <a:lstStyle/>
          <a:p>
            <a:pPr indent="0" marL="0">
              <a:spcAft>
                <a:spcPts val="600"/>
              </a:spcAft>
              <a:buNone/>
            </a:pPr>
            <a:r>
              <a:rPr lang="en-US" sz="1400" dirty="0">
                <a:solidFill>
                  <a:srgbClr val="2B2B2B"/>
                </a:solidFill>
                <a:latin typeface="Arial" pitchFamily="34" charset="0"/>
                <a:ea typeface="Arial" pitchFamily="34" charset="-122"/>
                <a:cs typeface="Arial" pitchFamily="34" charset="-120"/>
              </a:rPr>
              <a:t>Pembentukan kaidah hukum baru</a:t>
            </a:r>
            <a:endParaRPr lang="en-US" sz="1400" dirty="0"/>
          </a:p>
        </p:txBody>
      </p:sp>
      <p:sp>
        <p:nvSpPr>
          <p:cNvPr id="15" name="Text 13"/>
          <p:cNvSpPr txBox="1"/>
          <p:nvPr/>
        </p:nvSpPr>
        <p:spPr>
          <a:xfrm>
            <a:off x="502920" y="4956048"/>
            <a:ext cx="320040" cy="411480"/>
          </a:xfrm>
          <a:prstGeom prst="rect">
            <a:avLst/>
          </a:prstGeom>
          <a:noFill/>
          <a:ln/>
        </p:spPr>
        <p:txBody>
          <a:bodyPr wrap="square" lIns="0" tIns="0" rIns="0" bIns="0" rtlCol="0" anchor="t"/>
          <a:lstStyle/>
          <a:p>
            <a:pPr indent="0" marL="0">
              <a:spcAft>
                <a:spcPts val="600"/>
              </a:spcAft>
              <a:buNone/>
            </a:pPr>
            <a:r>
              <a:rPr lang="en-US" sz="1800" b="1" dirty="0">
                <a:solidFill>
                  <a:srgbClr val="7A1220"/>
                </a:solidFill>
                <a:latin typeface="Georgia" pitchFamily="34" charset="0"/>
                <a:ea typeface="Georgia" pitchFamily="34" charset="-122"/>
                <a:cs typeface="Georgia" pitchFamily="34" charset="-120"/>
              </a:rPr>
              <a:t>f</a:t>
            </a:r>
            <a:endParaRPr lang="en-US" sz="1800" dirty="0"/>
          </a:p>
        </p:txBody>
      </p:sp>
      <p:sp>
        <p:nvSpPr>
          <p:cNvPr id="16" name="Text 14"/>
          <p:cNvSpPr txBox="1"/>
          <p:nvPr/>
        </p:nvSpPr>
        <p:spPr>
          <a:xfrm>
            <a:off x="868680" y="4992624"/>
            <a:ext cx="5806440" cy="402336"/>
          </a:xfrm>
          <a:prstGeom prst="rect">
            <a:avLst/>
          </a:prstGeom>
          <a:noFill/>
          <a:ln/>
        </p:spPr>
        <p:txBody>
          <a:bodyPr wrap="square" lIns="0" tIns="0" rIns="0" bIns="0" rtlCol="0" anchor="t"/>
          <a:lstStyle/>
          <a:p>
            <a:pPr indent="0" marL="0">
              <a:spcAft>
                <a:spcPts val="600"/>
              </a:spcAft>
              <a:buNone/>
            </a:pPr>
            <a:r>
              <a:rPr lang="en-US" sz="1400" dirty="0">
                <a:solidFill>
                  <a:srgbClr val="2B2B2B"/>
                </a:solidFill>
                <a:latin typeface="Arial" pitchFamily="34" charset="0"/>
                <a:ea typeface="Arial" pitchFamily="34" charset="-122"/>
                <a:cs typeface="Arial" pitchFamily="34" charset="-120"/>
              </a:rPr>
              <a:t>Pinjaman dan/atau hibah luar negeri</a:t>
            </a:r>
            <a:endParaRPr lang="en-US" sz="1400" dirty="0"/>
          </a:p>
        </p:txBody>
      </p:sp>
      <p:sp>
        <p:nvSpPr>
          <p:cNvPr id="17" name="Shape 15"/>
          <p:cNvSpPr/>
          <p:nvPr/>
        </p:nvSpPr>
        <p:spPr>
          <a:xfrm>
            <a:off x="6858000" y="1965960"/>
            <a:ext cx="0" cy="3200400"/>
          </a:xfrm>
          <a:prstGeom prst="line">
            <a:avLst/>
          </a:prstGeom>
          <a:noFill/>
          <a:ln w="12700">
            <a:solidFill>
              <a:srgbClr val="D9D2CB"/>
            </a:solidFill>
            <a:prstDash val="solid"/>
          </a:ln>
        </p:spPr>
      </p:sp>
      <p:sp>
        <p:nvSpPr>
          <p:cNvPr id="18" name="Text 16"/>
          <p:cNvSpPr txBox="1"/>
          <p:nvPr/>
        </p:nvSpPr>
        <p:spPr>
          <a:xfrm>
            <a:off x="7132320" y="1920240"/>
            <a:ext cx="4526280" cy="1463040"/>
          </a:xfrm>
          <a:prstGeom prst="rect">
            <a:avLst/>
          </a:prstGeom>
          <a:noFill/>
          <a:ln/>
        </p:spPr>
        <p:txBody>
          <a:bodyPr wrap="square" lIns="0" tIns="0" rIns="0" bIns="0" rtlCol="0" anchor="t"/>
          <a:lstStyle/>
          <a:p>
            <a:pPr indent="0" marL="0">
              <a:spcAft>
                <a:spcPts val="600"/>
              </a:spcAft>
              <a:buNone/>
            </a:pPr>
            <a:r>
              <a:rPr lang="en-US" sz="1400" b="1" dirty="0">
                <a:solidFill>
                  <a:srgbClr val="7A1220"/>
                </a:solidFill>
                <a:latin typeface="Arial" pitchFamily="34" charset="0"/>
                <a:ea typeface="Arial" pitchFamily="34" charset="-122"/>
                <a:cs typeface="Arial" pitchFamily="34" charset="-120"/>
              </a:rPr>
              <a:t>Dengan peraturan presiden (Pasal 11)</a:t>
            </a:r>
            <a:endParaRPr lang="en-US" sz="1400" dirty="0"/>
          </a:p>
          <a:p>
            <a:pPr indent="0" marL="0">
              <a:spcAft>
                <a:spcPts val="600"/>
              </a:spcAft>
              <a:buNone/>
            </a:pPr>
            <a:r>
              <a:rPr lang="en-US" sz="1400" dirty="0">
                <a:solidFill>
                  <a:srgbClr val="2B2B2B"/>
                </a:solidFill>
                <a:latin typeface="Arial" pitchFamily="34" charset="0"/>
                <a:ea typeface="Arial" pitchFamily="34" charset="-122"/>
                <a:cs typeface="Arial" pitchFamily="34" charset="-120"/>
              </a:rPr>
              <a:t>Materi di luar Pasal 10, misalnya kerja sama ilmu pengetahuan, kebudayaan, pelayaran niaga, atau penghindaran pajak berganda.</a:t>
            </a:r>
            <a:endParaRPr lang="en-US" sz="1400" dirty="0"/>
          </a:p>
        </p:txBody>
      </p:sp>
      <p:sp>
        <p:nvSpPr>
          <p:cNvPr id="19" name="Text 17"/>
          <p:cNvSpPr txBox="1"/>
          <p:nvPr/>
        </p:nvSpPr>
        <p:spPr>
          <a:xfrm>
            <a:off x="7132320" y="3520440"/>
            <a:ext cx="4526280" cy="1600200"/>
          </a:xfrm>
          <a:prstGeom prst="rect">
            <a:avLst/>
          </a:prstGeom>
          <a:noFill/>
          <a:ln/>
        </p:spPr>
        <p:txBody>
          <a:bodyPr wrap="square" lIns="0" tIns="0" rIns="0" bIns="0" rtlCol="0" anchor="t"/>
          <a:lstStyle/>
          <a:p>
            <a:pPr indent="0" marL="0">
              <a:spcAft>
                <a:spcPts val="600"/>
              </a:spcAft>
              <a:buNone/>
            </a:pPr>
            <a:r>
              <a:rPr lang="en-US" sz="1400" b="1" dirty="0">
                <a:solidFill>
                  <a:srgbClr val="7A1220"/>
                </a:solidFill>
                <a:latin typeface="Arial" pitchFamily="34" charset="0"/>
                <a:ea typeface="Arial" pitchFamily="34" charset="-122"/>
                <a:cs typeface="Arial" pitchFamily="34" charset="-120"/>
              </a:rPr>
              <a:t>Putusan MK No. 13/PUU-XVI/2018</a:t>
            </a:r>
            <a:endParaRPr lang="en-US" sz="1400" dirty="0"/>
          </a:p>
          <a:p>
            <a:pPr indent="0" marL="0">
              <a:spcAft>
                <a:spcPts val="600"/>
              </a:spcAft>
              <a:buNone/>
            </a:pPr>
            <a:r>
              <a:rPr lang="en-US" sz="1400" dirty="0">
                <a:solidFill>
                  <a:srgbClr val="2B2B2B"/>
                </a:solidFill>
                <a:latin typeface="Arial" pitchFamily="34" charset="0"/>
                <a:ea typeface="Arial" pitchFamily="34" charset="-122"/>
                <a:cs typeface="Arial" pitchFamily="34" charset="-120"/>
              </a:rPr>
              <a:t>Daftar Pasal 10 tidak tertutup. Perjanjian lain yang berdampak luas dan mendasar bagi rakyat juga perlu persetujuan DPR.</a:t>
            </a:r>
            <a:endParaRPr lang="en-US" sz="1400" dirty="0"/>
          </a:p>
        </p:txBody>
      </p:sp>
      <p:sp>
        <p:nvSpPr>
          <p:cNvPr id="20" name="Shape 18"/>
          <p:cNvSpPr/>
          <p:nvPr/>
        </p:nvSpPr>
        <p:spPr>
          <a:xfrm>
            <a:off x="502920" y="5349240"/>
            <a:ext cx="11183112" cy="896112"/>
          </a:xfrm>
          <a:prstGeom prst="rect">
            <a:avLst/>
          </a:prstGeom>
          <a:ln w="12700">
            <a:solidFill>
              <a:srgbClr val="7A1220"/>
            </a:solidFill>
            <a:prstDash val="solid"/>
          </a:ln>
        </p:spPr>
      </p:sp>
      <p:sp>
        <p:nvSpPr>
          <p:cNvPr id="21" name="Text 19"/>
          <p:cNvSpPr txBox="1"/>
          <p:nvPr/>
        </p:nvSpPr>
        <p:spPr>
          <a:xfrm>
            <a:off x="685800" y="5440680"/>
            <a:ext cx="10835640" cy="731520"/>
          </a:xfrm>
          <a:prstGeom prst="rect">
            <a:avLst/>
          </a:prstGeom>
          <a:noFill/>
          <a:ln/>
        </p:spPr>
        <p:txBody>
          <a:bodyPr wrap="square" lIns="0" tIns="0" rIns="0" bIns="0" rtlCol="0" anchor="ctr"/>
          <a:lstStyle/>
          <a:p>
            <a:pPr indent="0" marL="0">
              <a:spcAft>
                <a:spcPts val="600"/>
              </a:spcAft>
              <a:buNone/>
            </a:pPr>
            <a:r>
              <a:rPr lang="en-US" sz="1500" b="1" dirty="0">
                <a:solidFill>
                  <a:srgbClr val="7A1220"/>
                </a:solidFill>
                <a:latin typeface="Arial" pitchFamily="34" charset="0"/>
                <a:ea typeface="Arial" pitchFamily="34" charset="-122"/>
                <a:cs typeface="Arial" pitchFamily="34" charset="-120"/>
              </a:rPr>
              <a:t>Coba nilai:  </a:t>
            </a:r>
            <a:pPr indent="0" marL="0">
              <a:spcAft>
                <a:spcPts val="600"/>
              </a:spcAft>
              <a:buNone/>
            </a:pPr>
            <a:r>
              <a:rPr lang="en-US" sz="1500" dirty="0">
                <a:solidFill>
                  <a:srgbClr val="2B2B2B"/>
                </a:solidFill>
                <a:latin typeface="Arial" pitchFamily="34" charset="0"/>
                <a:ea typeface="Arial" pitchFamily="34" charset="-122"/>
                <a:cs typeface="Arial" pitchFamily="34" charset="-120"/>
              </a:rPr>
              <a:t>Perjanjian BBNJ tentang keanekaragaman hayati laut lepas disahkan dengan Perpres No. 67 Tahun 2025. Tepatkah, kalau dibaca bersama Pasal 10 huruf d dan putusan MK di atas?</a:t>
            </a:r>
            <a:endParaRPr lang="en-US" sz="1500" dirty="0"/>
          </a:p>
        </p:txBody>
      </p:sp>
      <p:sp>
        <p:nvSpPr>
          <p:cNvPr id="25" name="Slide Number Placeholder 0"/>
          <p:cNvSpPr>
            <a:spLocks noGrp="1"/>
          </p:cNvSpPr>
          <p:nvPr>
            <p:ph type="sldNum" sz="quarter" idx="4294967295"/>
          </p:nvPr>
        </p:nvSpPr>
        <p:spPr>
          <a:xfrm>
            <a:off x="11228832"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5F5F"/>
                </a:solidFill>
                <a:latin typeface="Arial"/>
                <a:ea typeface="Arial"/>
                <a:cs typeface="Aria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02920" y="896112"/>
            <a:ext cx="11155680" cy="274320"/>
          </a:xfrm>
          <a:prstGeom prst="rect">
            <a:avLst/>
          </a:prstGeom>
          <a:noFill/>
          <a:ln/>
        </p:spPr>
        <p:txBody>
          <a:bodyPr wrap="square" lIns="0" tIns="0" rIns="0" bIns="0" rtlCol="0" anchor="t"/>
          <a:lstStyle/>
          <a:p>
            <a:pPr indent="0" marL="0">
              <a:buNone/>
            </a:pPr>
            <a:r>
              <a:rPr lang="en-US" sz="1200" b="1" spc="200" kern="0" dirty="0">
                <a:solidFill>
                  <a:srgbClr val="7A1220"/>
                </a:solidFill>
                <a:latin typeface="Arial" pitchFamily="34" charset="0"/>
                <a:ea typeface="Arial" pitchFamily="34" charset="-122"/>
                <a:cs typeface="Arial" pitchFamily="34" charset="-120"/>
              </a:rPr>
              <a:t>ASAS POKOK</a:t>
            </a:r>
            <a:endParaRPr lang="en-US" sz="1200" dirty="0"/>
          </a:p>
        </p:txBody>
      </p:sp>
      <p:sp>
        <p:nvSpPr>
          <p:cNvPr id="3" name="Text 1"/>
          <p:cNvSpPr txBox="1"/>
          <p:nvPr/>
        </p:nvSpPr>
        <p:spPr>
          <a:xfrm>
            <a:off x="502920" y="1152144"/>
            <a:ext cx="11183112" cy="640080"/>
          </a:xfrm>
          <a:prstGeom prst="rect">
            <a:avLst/>
          </a:prstGeom>
          <a:noFill/>
          <a:ln/>
        </p:spPr>
        <p:txBody>
          <a:bodyPr wrap="square" lIns="0" tIns="0" rIns="0" bIns="0" rtlCol="0" anchor="ctr"/>
          <a:lstStyle/>
          <a:p>
            <a:pPr indent="0" marL="0">
              <a:buNone/>
            </a:pPr>
            <a:r>
              <a:rPr lang="en-US" sz="2800" b="1" dirty="0">
                <a:solidFill>
                  <a:srgbClr val="7A1220"/>
                </a:solidFill>
                <a:latin typeface="Georgia" pitchFamily="34" charset="0"/>
                <a:ea typeface="Georgia" pitchFamily="34" charset="-122"/>
                <a:cs typeface="Georgia" pitchFamily="34" charset="-120"/>
              </a:rPr>
              <a:t>Janji Harus Ditepati</a:t>
            </a:r>
            <a:endParaRPr lang="en-US" sz="2800" dirty="0"/>
          </a:p>
        </p:txBody>
      </p:sp>
      <p:sp>
        <p:nvSpPr>
          <p:cNvPr id="4" name="Text 2"/>
          <p:cNvSpPr txBox="1"/>
          <p:nvPr/>
        </p:nvSpPr>
        <p:spPr>
          <a:xfrm>
            <a:off x="502920" y="1874520"/>
            <a:ext cx="11155680" cy="914400"/>
          </a:xfrm>
          <a:prstGeom prst="rect">
            <a:avLst/>
          </a:prstGeom>
          <a:noFill/>
          <a:ln/>
        </p:spPr>
        <p:txBody>
          <a:bodyPr wrap="square" lIns="0" tIns="0" rIns="0" bIns="0" rtlCol="0" anchor="ctr"/>
          <a:lstStyle/>
          <a:p>
            <a:pPr indent="0" marL="0">
              <a:buNone/>
            </a:pPr>
            <a:r>
              <a:rPr lang="en-US" sz="5200" b="1" i="1" dirty="0">
                <a:solidFill>
                  <a:srgbClr val="7A1220"/>
                </a:solidFill>
                <a:latin typeface="Georgia" pitchFamily="34" charset="0"/>
                <a:ea typeface="Georgia" pitchFamily="34" charset="-122"/>
                <a:cs typeface="Georgia" pitchFamily="34" charset="-120"/>
              </a:rPr>
              <a:t>Pacta sunt servanda</a:t>
            </a:r>
            <a:endParaRPr lang="en-US" sz="5200" dirty="0"/>
          </a:p>
        </p:txBody>
      </p:sp>
      <p:sp>
        <p:nvSpPr>
          <p:cNvPr id="5" name="Text 3"/>
          <p:cNvSpPr txBox="1"/>
          <p:nvPr/>
        </p:nvSpPr>
        <p:spPr>
          <a:xfrm>
            <a:off x="502920" y="2834640"/>
            <a:ext cx="11155680" cy="457200"/>
          </a:xfrm>
          <a:prstGeom prst="rect">
            <a:avLst/>
          </a:prstGeom>
          <a:noFill/>
          <a:ln/>
        </p:spPr>
        <p:txBody>
          <a:bodyPr wrap="square" lIns="0" tIns="0" rIns="0" bIns="0" rtlCol="0" anchor="t"/>
          <a:lstStyle/>
          <a:p>
            <a:pPr indent="0" marL="0">
              <a:spcAft>
                <a:spcPts val="600"/>
              </a:spcAft>
              <a:buNone/>
            </a:pPr>
            <a:r>
              <a:rPr lang="en-US" sz="1800" dirty="0">
                <a:solidFill>
                  <a:srgbClr val="2B2B2B"/>
                </a:solidFill>
                <a:latin typeface="Arial" pitchFamily="34" charset="0"/>
                <a:ea typeface="Arial" pitchFamily="34" charset="-122"/>
                <a:cs typeface="Arial" pitchFamily="34" charset="-120"/>
              </a:rPr>
              <a:t>Setiap perjanjian yang berlaku mengikat para pihak dan harus dilaksanakan dengan itikad baik. (Pasal 26)</a:t>
            </a:r>
            <a:endParaRPr lang="en-US" sz="1800" dirty="0"/>
          </a:p>
        </p:txBody>
      </p:sp>
      <p:sp>
        <p:nvSpPr>
          <p:cNvPr id="6" name="Shape 4"/>
          <p:cNvSpPr/>
          <p:nvPr/>
        </p:nvSpPr>
        <p:spPr>
          <a:xfrm>
            <a:off x="502920" y="3520440"/>
            <a:ext cx="11183112" cy="0"/>
          </a:xfrm>
          <a:prstGeom prst="line">
            <a:avLst/>
          </a:prstGeom>
          <a:noFill/>
          <a:ln w="12700">
            <a:solidFill>
              <a:srgbClr val="D9D2CB"/>
            </a:solidFill>
            <a:prstDash val="solid"/>
          </a:ln>
        </p:spPr>
      </p:sp>
      <p:sp>
        <p:nvSpPr>
          <p:cNvPr id="7" name="Text 5"/>
          <p:cNvSpPr txBox="1"/>
          <p:nvPr/>
        </p:nvSpPr>
        <p:spPr>
          <a:xfrm>
            <a:off x="502920" y="3703320"/>
            <a:ext cx="3474720" cy="457200"/>
          </a:xfrm>
          <a:prstGeom prst="rect">
            <a:avLst/>
          </a:prstGeom>
          <a:noFill/>
          <a:ln/>
        </p:spPr>
        <p:txBody>
          <a:bodyPr wrap="square" lIns="0" tIns="0" rIns="0" bIns="0" rtlCol="0" anchor="t"/>
          <a:lstStyle/>
          <a:p>
            <a:pPr indent="0" marL="0">
              <a:spcAft>
                <a:spcPts val="600"/>
              </a:spcAft>
              <a:buNone/>
            </a:pPr>
            <a:r>
              <a:rPr lang="en-US" sz="2200" b="1" dirty="0">
                <a:solidFill>
                  <a:srgbClr val="7A1220"/>
                </a:solidFill>
                <a:latin typeface="Georgia" pitchFamily="34" charset="0"/>
                <a:ea typeface="Georgia" pitchFamily="34" charset="-122"/>
                <a:cs typeface="Georgia" pitchFamily="34" charset="-120"/>
              </a:rPr>
              <a:t>Pasal 27</a:t>
            </a:r>
            <a:endParaRPr lang="en-US" sz="2200" dirty="0"/>
          </a:p>
        </p:txBody>
      </p:sp>
      <p:sp>
        <p:nvSpPr>
          <p:cNvPr id="8" name="Text 6"/>
          <p:cNvSpPr txBox="1"/>
          <p:nvPr/>
        </p:nvSpPr>
        <p:spPr>
          <a:xfrm>
            <a:off x="502920" y="4206240"/>
            <a:ext cx="3474720" cy="365760"/>
          </a:xfrm>
          <a:prstGeom prst="rect">
            <a:avLst/>
          </a:prstGeom>
          <a:noFill/>
          <a:ln/>
        </p:spPr>
        <p:txBody>
          <a:bodyPr wrap="square" lIns="0" tIns="0" rIns="0" bIns="0" rtlCol="0" anchor="t"/>
          <a:lstStyle/>
          <a:p>
            <a:pPr indent="0" marL="0">
              <a:spcAft>
                <a:spcPts val="600"/>
              </a:spcAft>
              <a:buNone/>
            </a:pPr>
            <a:r>
              <a:rPr lang="en-US" sz="1600" b="1" dirty="0">
                <a:solidFill>
                  <a:srgbClr val="2B2B2B"/>
                </a:solidFill>
                <a:latin typeface="Arial" pitchFamily="34" charset="0"/>
                <a:ea typeface="Arial" pitchFamily="34" charset="-122"/>
                <a:cs typeface="Arial" pitchFamily="34" charset="-120"/>
              </a:rPr>
              <a:t>Hukum nasional bukan alasan</a:t>
            </a:r>
            <a:endParaRPr lang="en-US" sz="1600" dirty="0"/>
          </a:p>
        </p:txBody>
      </p:sp>
      <p:sp>
        <p:nvSpPr>
          <p:cNvPr id="9" name="Text 7"/>
          <p:cNvSpPr txBox="1"/>
          <p:nvPr/>
        </p:nvSpPr>
        <p:spPr>
          <a:xfrm>
            <a:off x="502920" y="4617720"/>
            <a:ext cx="3474720" cy="1463040"/>
          </a:xfrm>
          <a:prstGeom prst="rect">
            <a:avLst/>
          </a:prstGeom>
          <a:noFill/>
          <a:ln/>
        </p:spPr>
        <p:txBody>
          <a:bodyPr wrap="square" lIns="0" tIns="0" rIns="0" bIns="0" rtlCol="0" anchor="t"/>
          <a:lstStyle/>
          <a:p>
            <a:pPr indent="0" marL="0">
              <a:spcAft>
                <a:spcPts val="600"/>
              </a:spcAft>
              <a:buNone/>
            </a:pPr>
            <a:r>
              <a:rPr lang="en-US" sz="1500" dirty="0">
                <a:solidFill>
                  <a:srgbClr val="2B2B2B"/>
                </a:solidFill>
                <a:latin typeface="Arial" pitchFamily="34" charset="0"/>
                <a:ea typeface="Arial" pitchFamily="34" charset="-122"/>
                <a:cs typeface="Arial" pitchFamily="34" charset="-120"/>
              </a:rPr>
              <a:t>Negara tidak boleh berdalih undang-undangnya sendiri untuk tidak melaksanakan perjanjian.</a:t>
            </a:r>
            <a:endParaRPr lang="en-US" sz="1500" dirty="0"/>
          </a:p>
        </p:txBody>
      </p:sp>
      <p:sp>
        <p:nvSpPr>
          <p:cNvPr id="10" name="Shape 8"/>
          <p:cNvSpPr/>
          <p:nvPr/>
        </p:nvSpPr>
        <p:spPr>
          <a:xfrm>
            <a:off x="4114800" y="3749040"/>
            <a:ext cx="0" cy="2377440"/>
          </a:xfrm>
          <a:prstGeom prst="line">
            <a:avLst/>
          </a:prstGeom>
          <a:noFill/>
          <a:ln w="12700">
            <a:solidFill>
              <a:srgbClr val="D9D2CB"/>
            </a:solidFill>
            <a:prstDash val="solid"/>
          </a:ln>
        </p:spPr>
      </p:sp>
      <p:sp>
        <p:nvSpPr>
          <p:cNvPr id="11" name="Text 9"/>
          <p:cNvSpPr txBox="1"/>
          <p:nvPr/>
        </p:nvSpPr>
        <p:spPr>
          <a:xfrm>
            <a:off x="4297680" y="3703320"/>
            <a:ext cx="3474720" cy="457200"/>
          </a:xfrm>
          <a:prstGeom prst="rect">
            <a:avLst/>
          </a:prstGeom>
          <a:noFill/>
          <a:ln/>
        </p:spPr>
        <p:txBody>
          <a:bodyPr wrap="square" lIns="0" tIns="0" rIns="0" bIns="0" rtlCol="0" anchor="t"/>
          <a:lstStyle/>
          <a:p>
            <a:pPr indent="0" marL="0">
              <a:spcAft>
                <a:spcPts val="600"/>
              </a:spcAft>
              <a:buNone/>
            </a:pPr>
            <a:r>
              <a:rPr lang="en-US" sz="2200" b="1" dirty="0">
                <a:solidFill>
                  <a:srgbClr val="7A1220"/>
                </a:solidFill>
                <a:latin typeface="Georgia" pitchFamily="34" charset="0"/>
                <a:ea typeface="Georgia" pitchFamily="34" charset="-122"/>
                <a:cs typeface="Georgia" pitchFamily="34" charset="-120"/>
              </a:rPr>
              <a:t>Pasal 31</a:t>
            </a:r>
            <a:endParaRPr lang="en-US" sz="2200" dirty="0"/>
          </a:p>
        </p:txBody>
      </p:sp>
      <p:sp>
        <p:nvSpPr>
          <p:cNvPr id="12" name="Text 10"/>
          <p:cNvSpPr txBox="1"/>
          <p:nvPr/>
        </p:nvSpPr>
        <p:spPr>
          <a:xfrm>
            <a:off x="4297680" y="4206240"/>
            <a:ext cx="3474720" cy="365760"/>
          </a:xfrm>
          <a:prstGeom prst="rect">
            <a:avLst/>
          </a:prstGeom>
          <a:noFill/>
          <a:ln/>
        </p:spPr>
        <p:txBody>
          <a:bodyPr wrap="square" lIns="0" tIns="0" rIns="0" bIns="0" rtlCol="0" anchor="t"/>
          <a:lstStyle/>
          <a:p>
            <a:pPr indent="0" marL="0">
              <a:spcAft>
                <a:spcPts val="600"/>
              </a:spcAft>
              <a:buNone/>
            </a:pPr>
            <a:r>
              <a:rPr lang="en-US" sz="1600" b="1" dirty="0">
                <a:solidFill>
                  <a:srgbClr val="2B2B2B"/>
                </a:solidFill>
                <a:latin typeface="Arial" pitchFamily="34" charset="0"/>
                <a:ea typeface="Arial" pitchFamily="34" charset="-122"/>
                <a:cs typeface="Arial" pitchFamily="34" charset="-120"/>
              </a:rPr>
              <a:t>Cara menafsirkan</a:t>
            </a:r>
            <a:endParaRPr lang="en-US" sz="1600" dirty="0"/>
          </a:p>
        </p:txBody>
      </p:sp>
      <p:sp>
        <p:nvSpPr>
          <p:cNvPr id="13" name="Text 11"/>
          <p:cNvSpPr txBox="1"/>
          <p:nvPr/>
        </p:nvSpPr>
        <p:spPr>
          <a:xfrm>
            <a:off x="4297680" y="4617720"/>
            <a:ext cx="3474720" cy="1463040"/>
          </a:xfrm>
          <a:prstGeom prst="rect">
            <a:avLst/>
          </a:prstGeom>
          <a:noFill/>
          <a:ln/>
        </p:spPr>
        <p:txBody>
          <a:bodyPr wrap="square" lIns="0" tIns="0" rIns="0" bIns="0" rtlCol="0" anchor="t"/>
          <a:lstStyle/>
          <a:p>
            <a:pPr indent="0" marL="0">
              <a:spcAft>
                <a:spcPts val="600"/>
              </a:spcAft>
              <a:buNone/>
            </a:pPr>
            <a:r>
              <a:rPr lang="en-US" sz="1500" dirty="0">
                <a:solidFill>
                  <a:srgbClr val="2B2B2B"/>
                </a:solidFill>
                <a:latin typeface="Arial" pitchFamily="34" charset="0"/>
                <a:ea typeface="Arial" pitchFamily="34" charset="-122"/>
                <a:cs typeface="Arial" pitchFamily="34" charset="-120"/>
              </a:rPr>
              <a:t>Dengan itikad baik, menurut makna biasa kata-katanya, dalam konteksnya, dan sesuai maksud dan tujuan perjanjian.</a:t>
            </a:r>
            <a:endParaRPr lang="en-US" sz="1500" dirty="0"/>
          </a:p>
        </p:txBody>
      </p:sp>
      <p:sp>
        <p:nvSpPr>
          <p:cNvPr id="14" name="Shape 12"/>
          <p:cNvSpPr/>
          <p:nvPr/>
        </p:nvSpPr>
        <p:spPr>
          <a:xfrm>
            <a:off x="7909560" y="3749040"/>
            <a:ext cx="0" cy="2377440"/>
          </a:xfrm>
          <a:prstGeom prst="line">
            <a:avLst/>
          </a:prstGeom>
          <a:noFill/>
          <a:ln w="12700">
            <a:solidFill>
              <a:srgbClr val="D9D2CB"/>
            </a:solidFill>
            <a:prstDash val="solid"/>
          </a:ln>
        </p:spPr>
      </p:sp>
      <p:sp>
        <p:nvSpPr>
          <p:cNvPr id="15" name="Text 13"/>
          <p:cNvSpPr txBox="1"/>
          <p:nvPr/>
        </p:nvSpPr>
        <p:spPr>
          <a:xfrm>
            <a:off x="8092440" y="3703320"/>
            <a:ext cx="3474720" cy="457200"/>
          </a:xfrm>
          <a:prstGeom prst="rect">
            <a:avLst/>
          </a:prstGeom>
          <a:noFill/>
          <a:ln/>
        </p:spPr>
        <p:txBody>
          <a:bodyPr wrap="square" lIns="0" tIns="0" rIns="0" bIns="0" rtlCol="0" anchor="t"/>
          <a:lstStyle/>
          <a:p>
            <a:pPr indent="0" marL="0">
              <a:spcAft>
                <a:spcPts val="600"/>
              </a:spcAft>
              <a:buNone/>
            </a:pPr>
            <a:r>
              <a:rPr lang="en-US" sz="2200" b="1" dirty="0">
                <a:solidFill>
                  <a:srgbClr val="7A1220"/>
                </a:solidFill>
                <a:latin typeface="Georgia" pitchFamily="34" charset="0"/>
                <a:ea typeface="Georgia" pitchFamily="34" charset="-122"/>
                <a:cs typeface="Georgia" pitchFamily="34" charset="-120"/>
              </a:rPr>
              <a:t>Pasal 34</a:t>
            </a:r>
            <a:endParaRPr lang="en-US" sz="2200" dirty="0"/>
          </a:p>
        </p:txBody>
      </p:sp>
      <p:sp>
        <p:nvSpPr>
          <p:cNvPr id="16" name="Text 14"/>
          <p:cNvSpPr txBox="1"/>
          <p:nvPr/>
        </p:nvSpPr>
        <p:spPr>
          <a:xfrm>
            <a:off x="8092440" y="4206240"/>
            <a:ext cx="3474720" cy="365760"/>
          </a:xfrm>
          <a:prstGeom prst="rect">
            <a:avLst/>
          </a:prstGeom>
          <a:noFill/>
          <a:ln/>
        </p:spPr>
        <p:txBody>
          <a:bodyPr wrap="square" lIns="0" tIns="0" rIns="0" bIns="0" rtlCol="0" anchor="t"/>
          <a:lstStyle/>
          <a:p>
            <a:pPr indent="0" marL="0">
              <a:spcAft>
                <a:spcPts val="600"/>
              </a:spcAft>
              <a:buNone/>
            </a:pPr>
            <a:r>
              <a:rPr lang="en-US" sz="1600" b="1" dirty="0">
                <a:solidFill>
                  <a:srgbClr val="2B2B2B"/>
                </a:solidFill>
                <a:latin typeface="Arial" pitchFamily="34" charset="0"/>
                <a:ea typeface="Arial" pitchFamily="34" charset="-122"/>
                <a:cs typeface="Arial" pitchFamily="34" charset="-120"/>
              </a:rPr>
              <a:t>Pihak ketiga tidak terbebani</a:t>
            </a:r>
            <a:endParaRPr lang="en-US" sz="1600" dirty="0"/>
          </a:p>
        </p:txBody>
      </p:sp>
      <p:sp>
        <p:nvSpPr>
          <p:cNvPr id="17" name="Text 15"/>
          <p:cNvSpPr txBox="1"/>
          <p:nvPr/>
        </p:nvSpPr>
        <p:spPr>
          <a:xfrm>
            <a:off x="8092440" y="4617720"/>
            <a:ext cx="3474720" cy="1463040"/>
          </a:xfrm>
          <a:prstGeom prst="rect">
            <a:avLst/>
          </a:prstGeom>
          <a:noFill/>
          <a:ln/>
        </p:spPr>
        <p:txBody>
          <a:bodyPr wrap="square" lIns="0" tIns="0" rIns="0" bIns="0" rtlCol="0" anchor="t"/>
          <a:lstStyle/>
          <a:p>
            <a:pPr indent="0" marL="0">
              <a:spcAft>
                <a:spcPts val="600"/>
              </a:spcAft>
              <a:buNone/>
            </a:pPr>
            <a:r>
              <a:rPr lang="en-US" sz="1500" dirty="0">
                <a:solidFill>
                  <a:srgbClr val="2B2B2B"/>
                </a:solidFill>
                <a:latin typeface="Arial" pitchFamily="34" charset="0"/>
                <a:ea typeface="Arial" pitchFamily="34" charset="-122"/>
                <a:cs typeface="Arial" pitchFamily="34" charset="-120"/>
              </a:rPr>
              <a:t>Perjanjian tidak menimbulkan kewajiban atau hak bagi negara ketiga tanpa persetujuannya.</a:t>
            </a:r>
            <a:endParaRPr lang="en-US" sz="1500" dirty="0"/>
          </a:p>
        </p:txBody>
      </p:sp>
      <p:sp>
        <p:nvSpPr>
          <p:cNvPr id="25" name="Slide Number Placeholder 0"/>
          <p:cNvSpPr>
            <a:spLocks noGrp="1"/>
          </p:cNvSpPr>
          <p:nvPr>
            <p:ph type="sldNum" sz="quarter" idx="4294967295"/>
          </p:nvPr>
        </p:nvSpPr>
        <p:spPr>
          <a:xfrm>
            <a:off x="11228832"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5F5F"/>
                </a:solidFill>
                <a:latin typeface="Arial"/>
                <a:ea typeface="Arial"/>
                <a:cs typeface="Aria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02920" y="896112"/>
            <a:ext cx="11155680" cy="274320"/>
          </a:xfrm>
          <a:prstGeom prst="rect">
            <a:avLst/>
          </a:prstGeom>
          <a:noFill/>
          <a:ln/>
        </p:spPr>
        <p:txBody>
          <a:bodyPr wrap="square" lIns="0" tIns="0" rIns="0" bIns="0" rtlCol="0" anchor="t"/>
          <a:lstStyle/>
          <a:p>
            <a:pPr indent="0" marL="0">
              <a:buNone/>
            </a:pPr>
            <a:r>
              <a:rPr lang="en-US" sz="1200" b="1" spc="200" kern="0" dirty="0">
                <a:solidFill>
                  <a:srgbClr val="7A1220"/>
                </a:solidFill>
                <a:latin typeface="Arial" pitchFamily="34" charset="0"/>
                <a:ea typeface="Arial" pitchFamily="34" charset="-122"/>
                <a:cs typeface="Arial" pitchFamily="34" charset="-120"/>
              </a:rPr>
              <a:t>PEMBATALAN DAN BERAKHIRNYA</a:t>
            </a:r>
            <a:endParaRPr lang="en-US" sz="1200" dirty="0"/>
          </a:p>
        </p:txBody>
      </p:sp>
      <p:sp>
        <p:nvSpPr>
          <p:cNvPr id="3" name="Text 1"/>
          <p:cNvSpPr txBox="1"/>
          <p:nvPr/>
        </p:nvSpPr>
        <p:spPr>
          <a:xfrm>
            <a:off x="502920" y="1152144"/>
            <a:ext cx="11183112" cy="640080"/>
          </a:xfrm>
          <a:prstGeom prst="rect">
            <a:avLst/>
          </a:prstGeom>
          <a:noFill/>
          <a:ln/>
        </p:spPr>
        <p:txBody>
          <a:bodyPr wrap="square" lIns="0" tIns="0" rIns="0" bIns="0" rtlCol="0" anchor="ctr"/>
          <a:lstStyle/>
          <a:p>
            <a:pPr indent="0" marL="0">
              <a:buNone/>
            </a:pPr>
            <a:r>
              <a:rPr lang="en-US" sz="2800" b="1" dirty="0">
                <a:solidFill>
                  <a:srgbClr val="7A1220"/>
                </a:solidFill>
                <a:latin typeface="Georgia" pitchFamily="34" charset="0"/>
                <a:ea typeface="Georgia" pitchFamily="34" charset="-122"/>
                <a:cs typeface="Georgia" pitchFamily="34" charset="-120"/>
              </a:rPr>
              <a:t>Putus Baik-Baik, Bukan Ghosting</a:t>
            </a:r>
            <a:endParaRPr lang="en-US" sz="2800" dirty="0"/>
          </a:p>
        </p:txBody>
      </p:sp>
      <p:sp>
        <p:nvSpPr>
          <p:cNvPr id="4" name="Text 2"/>
          <p:cNvSpPr txBox="1"/>
          <p:nvPr/>
        </p:nvSpPr>
        <p:spPr>
          <a:xfrm>
            <a:off x="502920" y="1874520"/>
            <a:ext cx="5394960" cy="411480"/>
          </a:xfrm>
          <a:prstGeom prst="rect">
            <a:avLst/>
          </a:prstGeom>
          <a:noFill/>
          <a:ln/>
        </p:spPr>
        <p:txBody>
          <a:bodyPr wrap="square" lIns="0" tIns="0" rIns="0" bIns="0" rtlCol="0" anchor="t"/>
          <a:lstStyle/>
          <a:p>
            <a:pPr indent="0" marL="0">
              <a:spcAft>
                <a:spcPts val="600"/>
              </a:spcAft>
              <a:buNone/>
            </a:pPr>
            <a:r>
              <a:rPr lang="en-US" sz="1900" b="1" dirty="0">
                <a:solidFill>
                  <a:srgbClr val="7A1220"/>
                </a:solidFill>
                <a:latin typeface="Georgia" pitchFamily="34" charset="0"/>
                <a:ea typeface="Georgia" pitchFamily="34" charset="-122"/>
                <a:cs typeface="Georgia" pitchFamily="34" charset="-120"/>
              </a:rPr>
              <a:t>Tidak sah sejak awal</a:t>
            </a:r>
            <a:endParaRPr lang="en-US" sz="1900" dirty="0"/>
          </a:p>
        </p:txBody>
      </p:sp>
      <p:sp>
        <p:nvSpPr>
          <p:cNvPr id="5" name="Text 3"/>
          <p:cNvSpPr txBox="1"/>
          <p:nvPr/>
        </p:nvSpPr>
        <p:spPr>
          <a:xfrm>
            <a:off x="502920" y="2377440"/>
            <a:ext cx="5394960" cy="411480"/>
          </a:xfrm>
          <a:prstGeom prst="rect">
            <a:avLst/>
          </a:prstGeom>
          <a:noFill/>
          <a:ln/>
        </p:spPr>
        <p:txBody>
          <a:bodyPr wrap="square" lIns="0" tIns="0" rIns="0" bIns="0" rtlCol="0" anchor="t"/>
          <a:lstStyle/>
          <a:p>
            <a:pPr indent="0" marL="0">
              <a:spcAft>
                <a:spcPts val="600"/>
              </a:spcAft>
              <a:buNone/>
            </a:pPr>
            <a:r>
              <a:rPr lang="en-US" sz="1400" b="1" dirty="0">
                <a:solidFill>
                  <a:srgbClr val="7A1220"/>
                </a:solidFill>
                <a:latin typeface="Arial" pitchFamily="34" charset="0"/>
                <a:ea typeface="Arial" pitchFamily="34" charset="-122"/>
                <a:cs typeface="Arial" pitchFamily="34" charset="-120"/>
              </a:rPr>
              <a:t>Pasal 46  </a:t>
            </a:r>
            <a:pPr indent="0" marL="0">
              <a:spcAft>
                <a:spcPts val="600"/>
              </a:spcAft>
              <a:buNone/>
            </a:pPr>
            <a:r>
              <a:rPr lang="en-US" sz="1400" dirty="0">
                <a:solidFill>
                  <a:srgbClr val="2B2B2B"/>
                </a:solidFill>
                <a:latin typeface="Arial" pitchFamily="34" charset="0"/>
                <a:ea typeface="Arial" pitchFamily="34" charset="-122"/>
                <a:cs typeface="Arial" pitchFamily="34" charset="-120"/>
              </a:rPr>
              <a:t>Melanggar nyata aturan dasar soal kewenangan</a:t>
            </a:r>
            <a:endParaRPr lang="en-US" sz="1400" dirty="0"/>
          </a:p>
        </p:txBody>
      </p:sp>
      <p:sp>
        <p:nvSpPr>
          <p:cNvPr id="6" name="Text 4"/>
          <p:cNvSpPr txBox="1"/>
          <p:nvPr/>
        </p:nvSpPr>
        <p:spPr>
          <a:xfrm>
            <a:off x="502920" y="2807208"/>
            <a:ext cx="5394960" cy="411480"/>
          </a:xfrm>
          <a:prstGeom prst="rect">
            <a:avLst/>
          </a:prstGeom>
          <a:noFill/>
          <a:ln/>
        </p:spPr>
        <p:txBody>
          <a:bodyPr wrap="square" lIns="0" tIns="0" rIns="0" bIns="0" rtlCol="0" anchor="t"/>
          <a:lstStyle/>
          <a:p>
            <a:pPr indent="0" marL="0">
              <a:spcAft>
                <a:spcPts val="600"/>
              </a:spcAft>
              <a:buNone/>
            </a:pPr>
            <a:r>
              <a:rPr lang="en-US" sz="1400" b="1" dirty="0">
                <a:solidFill>
                  <a:srgbClr val="7A1220"/>
                </a:solidFill>
                <a:latin typeface="Arial" pitchFamily="34" charset="0"/>
                <a:ea typeface="Arial" pitchFamily="34" charset="-122"/>
                <a:cs typeface="Arial" pitchFamily="34" charset="-120"/>
              </a:rPr>
              <a:t>Pasal 48  </a:t>
            </a:r>
            <a:pPr indent="0" marL="0">
              <a:spcAft>
                <a:spcPts val="600"/>
              </a:spcAft>
              <a:buNone/>
            </a:pPr>
            <a:r>
              <a:rPr lang="en-US" sz="1400" dirty="0">
                <a:solidFill>
                  <a:srgbClr val="2B2B2B"/>
                </a:solidFill>
                <a:latin typeface="Arial" pitchFamily="34" charset="0"/>
                <a:ea typeface="Arial" pitchFamily="34" charset="-122"/>
                <a:cs typeface="Arial" pitchFamily="34" charset="-120"/>
              </a:rPr>
              <a:t>Kekeliruan</a:t>
            </a:r>
            <a:endParaRPr lang="en-US" sz="1400" dirty="0"/>
          </a:p>
        </p:txBody>
      </p:sp>
      <p:sp>
        <p:nvSpPr>
          <p:cNvPr id="7" name="Text 5"/>
          <p:cNvSpPr txBox="1"/>
          <p:nvPr/>
        </p:nvSpPr>
        <p:spPr>
          <a:xfrm>
            <a:off x="502920" y="3236976"/>
            <a:ext cx="5394960" cy="411480"/>
          </a:xfrm>
          <a:prstGeom prst="rect">
            <a:avLst/>
          </a:prstGeom>
          <a:noFill/>
          <a:ln/>
        </p:spPr>
        <p:txBody>
          <a:bodyPr wrap="square" lIns="0" tIns="0" rIns="0" bIns="0" rtlCol="0" anchor="t"/>
          <a:lstStyle/>
          <a:p>
            <a:pPr indent="0" marL="0">
              <a:spcAft>
                <a:spcPts val="600"/>
              </a:spcAft>
              <a:buNone/>
            </a:pPr>
            <a:r>
              <a:rPr lang="en-US" sz="1400" b="1" dirty="0">
                <a:solidFill>
                  <a:srgbClr val="7A1220"/>
                </a:solidFill>
                <a:latin typeface="Arial" pitchFamily="34" charset="0"/>
                <a:ea typeface="Arial" pitchFamily="34" charset="-122"/>
                <a:cs typeface="Arial" pitchFamily="34" charset="-120"/>
              </a:rPr>
              <a:t>Pasal 49  </a:t>
            </a:r>
            <a:pPr indent="0" marL="0">
              <a:spcAft>
                <a:spcPts val="600"/>
              </a:spcAft>
              <a:buNone/>
            </a:pPr>
            <a:r>
              <a:rPr lang="en-US" sz="1400" dirty="0">
                <a:solidFill>
                  <a:srgbClr val="2B2B2B"/>
                </a:solidFill>
                <a:latin typeface="Arial" pitchFamily="34" charset="0"/>
                <a:ea typeface="Arial" pitchFamily="34" charset="-122"/>
                <a:cs typeface="Arial" pitchFamily="34" charset="-120"/>
              </a:rPr>
              <a:t>Penipuan</a:t>
            </a:r>
            <a:endParaRPr lang="en-US" sz="1400" dirty="0"/>
          </a:p>
        </p:txBody>
      </p:sp>
      <p:sp>
        <p:nvSpPr>
          <p:cNvPr id="8" name="Text 6"/>
          <p:cNvSpPr txBox="1"/>
          <p:nvPr/>
        </p:nvSpPr>
        <p:spPr>
          <a:xfrm>
            <a:off x="502920" y="3666744"/>
            <a:ext cx="5394960" cy="411480"/>
          </a:xfrm>
          <a:prstGeom prst="rect">
            <a:avLst/>
          </a:prstGeom>
          <a:noFill/>
          <a:ln/>
        </p:spPr>
        <p:txBody>
          <a:bodyPr wrap="square" lIns="0" tIns="0" rIns="0" bIns="0" rtlCol="0" anchor="t"/>
          <a:lstStyle/>
          <a:p>
            <a:pPr indent="0" marL="0">
              <a:spcAft>
                <a:spcPts val="600"/>
              </a:spcAft>
              <a:buNone/>
            </a:pPr>
            <a:r>
              <a:rPr lang="en-US" sz="1400" b="1" dirty="0">
                <a:solidFill>
                  <a:srgbClr val="7A1220"/>
                </a:solidFill>
                <a:latin typeface="Arial" pitchFamily="34" charset="0"/>
                <a:ea typeface="Arial" pitchFamily="34" charset="-122"/>
                <a:cs typeface="Arial" pitchFamily="34" charset="-120"/>
              </a:rPr>
              <a:t>Pasal 50  </a:t>
            </a:r>
            <a:pPr indent="0" marL="0">
              <a:spcAft>
                <a:spcPts val="600"/>
              </a:spcAft>
              <a:buNone/>
            </a:pPr>
            <a:r>
              <a:rPr lang="en-US" sz="1400" dirty="0">
                <a:solidFill>
                  <a:srgbClr val="2B2B2B"/>
                </a:solidFill>
                <a:latin typeface="Arial" pitchFamily="34" charset="0"/>
                <a:ea typeface="Arial" pitchFamily="34" charset="-122"/>
                <a:cs typeface="Arial" pitchFamily="34" charset="-120"/>
              </a:rPr>
              <a:t>Penyuapan wakil negara</a:t>
            </a:r>
            <a:endParaRPr lang="en-US" sz="1400" dirty="0"/>
          </a:p>
        </p:txBody>
      </p:sp>
      <p:sp>
        <p:nvSpPr>
          <p:cNvPr id="9" name="Text 7"/>
          <p:cNvSpPr txBox="1"/>
          <p:nvPr/>
        </p:nvSpPr>
        <p:spPr>
          <a:xfrm>
            <a:off x="502920" y="4096512"/>
            <a:ext cx="5394960" cy="411480"/>
          </a:xfrm>
          <a:prstGeom prst="rect">
            <a:avLst/>
          </a:prstGeom>
          <a:noFill/>
          <a:ln/>
        </p:spPr>
        <p:txBody>
          <a:bodyPr wrap="square" lIns="0" tIns="0" rIns="0" bIns="0" rtlCol="0" anchor="t"/>
          <a:lstStyle/>
          <a:p>
            <a:pPr indent="0" marL="0">
              <a:spcAft>
                <a:spcPts val="600"/>
              </a:spcAft>
              <a:buNone/>
            </a:pPr>
            <a:r>
              <a:rPr lang="en-US" sz="1400" b="1" dirty="0">
                <a:solidFill>
                  <a:srgbClr val="7A1220"/>
                </a:solidFill>
                <a:latin typeface="Arial" pitchFamily="34" charset="0"/>
                <a:ea typeface="Arial" pitchFamily="34" charset="-122"/>
                <a:cs typeface="Arial" pitchFamily="34" charset="-120"/>
              </a:rPr>
              <a:t>Pasal 51–52  </a:t>
            </a:r>
            <a:pPr indent="0" marL="0">
              <a:spcAft>
                <a:spcPts val="600"/>
              </a:spcAft>
              <a:buNone/>
            </a:pPr>
            <a:r>
              <a:rPr lang="en-US" sz="1400" dirty="0">
                <a:solidFill>
                  <a:srgbClr val="2B2B2B"/>
                </a:solidFill>
                <a:latin typeface="Arial" pitchFamily="34" charset="0"/>
                <a:ea typeface="Arial" pitchFamily="34" charset="-122"/>
                <a:cs typeface="Arial" pitchFamily="34" charset="-120"/>
              </a:rPr>
              <a:t>Paksaan terhadap wakil atau terhadap negara</a:t>
            </a:r>
            <a:endParaRPr lang="en-US" sz="1400" dirty="0"/>
          </a:p>
        </p:txBody>
      </p:sp>
      <p:sp>
        <p:nvSpPr>
          <p:cNvPr id="10" name="Text 8"/>
          <p:cNvSpPr txBox="1"/>
          <p:nvPr/>
        </p:nvSpPr>
        <p:spPr>
          <a:xfrm>
            <a:off x="502920" y="4526280"/>
            <a:ext cx="5394960" cy="411480"/>
          </a:xfrm>
          <a:prstGeom prst="rect">
            <a:avLst/>
          </a:prstGeom>
          <a:noFill/>
          <a:ln/>
        </p:spPr>
        <p:txBody>
          <a:bodyPr wrap="square" lIns="0" tIns="0" rIns="0" bIns="0" rtlCol="0" anchor="t"/>
          <a:lstStyle/>
          <a:p>
            <a:pPr indent="0" marL="0">
              <a:spcAft>
                <a:spcPts val="600"/>
              </a:spcAft>
              <a:buNone/>
            </a:pPr>
            <a:r>
              <a:rPr lang="en-US" sz="1400" b="1" dirty="0">
                <a:solidFill>
                  <a:srgbClr val="7A1220"/>
                </a:solidFill>
                <a:latin typeface="Arial" pitchFamily="34" charset="0"/>
                <a:ea typeface="Arial" pitchFamily="34" charset="-122"/>
                <a:cs typeface="Arial" pitchFamily="34" charset="-120"/>
              </a:rPr>
              <a:t>Pasal 53  </a:t>
            </a:r>
            <a:pPr indent="0" marL="0">
              <a:spcAft>
                <a:spcPts val="600"/>
              </a:spcAft>
              <a:buNone/>
            </a:pPr>
            <a:r>
              <a:rPr lang="en-US" sz="1400" dirty="0">
                <a:solidFill>
                  <a:srgbClr val="2B2B2B"/>
                </a:solidFill>
                <a:latin typeface="Arial" pitchFamily="34" charset="0"/>
                <a:ea typeface="Arial" pitchFamily="34" charset="-122"/>
                <a:cs typeface="Arial" pitchFamily="34" charset="-120"/>
              </a:rPr>
              <a:t>Bertentangan dengan jus cogens</a:t>
            </a:r>
            <a:endParaRPr lang="en-US" sz="1400" dirty="0"/>
          </a:p>
        </p:txBody>
      </p:sp>
      <p:sp>
        <p:nvSpPr>
          <p:cNvPr id="11" name="Shape 9"/>
          <p:cNvSpPr/>
          <p:nvPr/>
        </p:nvSpPr>
        <p:spPr>
          <a:xfrm>
            <a:off x="6080760" y="1965960"/>
            <a:ext cx="0" cy="2697480"/>
          </a:xfrm>
          <a:prstGeom prst="line">
            <a:avLst/>
          </a:prstGeom>
          <a:noFill/>
          <a:ln w="12700">
            <a:solidFill>
              <a:srgbClr val="D9D2CB"/>
            </a:solidFill>
            <a:prstDash val="solid"/>
          </a:ln>
        </p:spPr>
      </p:sp>
      <p:sp>
        <p:nvSpPr>
          <p:cNvPr id="12" name="Text 10"/>
          <p:cNvSpPr txBox="1"/>
          <p:nvPr/>
        </p:nvSpPr>
        <p:spPr>
          <a:xfrm>
            <a:off x="6355080" y="1874520"/>
            <a:ext cx="5394960" cy="411480"/>
          </a:xfrm>
          <a:prstGeom prst="rect">
            <a:avLst/>
          </a:prstGeom>
          <a:noFill/>
          <a:ln/>
        </p:spPr>
        <p:txBody>
          <a:bodyPr wrap="square" lIns="0" tIns="0" rIns="0" bIns="0" rtlCol="0" anchor="t"/>
          <a:lstStyle/>
          <a:p>
            <a:pPr indent="0" marL="0">
              <a:spcAft>
                <a:spcPts val="600"/>
              </a:spcAft>
              <a:buNone/>
            </a:pPr>
            <a:r>
              <a:rPr lang="en-US" sz="1900" b="1" dirty="0">
                <a:solidFill>
                  <a:srgbClr val="5F5F5F"/>
                </a:solidFill>
                <a:latin typeface="Georgia" pitchFamily="34" charset="0"/>
                <a:ea typeface="Georgia" pitchFamily="34" charset="-122"/>
                <a:cs typeface="Georgia" pitchFamily="34" charset="-120"/>
              </a:rPr>
              <a:t>Berakhir atau ditarik diri</a:t>
            </a:r>
            <a:endParaRPr lang="en-US" sz="1900" dirty="0"/>
          </a:p>
        </p:txBody>
      </p:sp>
      <p:sp>
        <p:nvSpPr>
          <p:cNvPr id="13" name="Text 11"/>
          <p:cNvSpPr txBox="1"/>
          <p:nvPr/>
        </p:nvSpPr>
        <p:spPr>
          <a:xfrm>
            <a:off x="6355080" y="2377440"/>
            <a:ext cx="5394960" cy="411480"/>
          </a:xfrm>
          <a:prstGeom prst="rect">
            <a:avLst/>
          </a:prstGeom>
          <a:noFill/>
          <a:ln/>
        </p:spPr>
        <p:txBody>
          <a:bodyPr wrap="square" lIns="0" tIns="0" rIns="0" bIns="0" rtlCol="0" anchor="t"/>
          <a:lstStyle/>
          <a:p>
            <a:pPr indent="0" marL="0">
              <a:spcAft>
                <a:spcPts val="600"/>
              </a:spcAft>
              <a:buNone/>
            </a:pPr>
            <a:r>
              <a:rPr lang="en-US" sz="1400" b="1" dirty="0">
                <a:solidFill>
                  <a:srgbClr val="7A1220"/>
                </a:solidFill>
                <a:latin typeface="Arial" pitchFamily="34" charset="0"/>
                <a:ea typeface="Arial" pitchFamily="34" charset="-122"/>
                <a:cs typeface="Arial" pitchFamily="34" charset="-120"/>
              </a:rPr>
              <a:t>Pasal 54  </a:t>
            </a:r>
            <a:pPr indent="0" marL="0">
              <a:spcAft>
                <a:spcPts val="600"/>
              </a:spcAft>
              <a:buNone/>
            </a:pPr>
            <a:r>
              <a:rPr lang="en-US" sz="1400" dirty="0">
                <a:solidFill>
                  <a:srgbClr val="2B2B2B"/>
                </a:solidFill>
                <a:latin typeface="Arial" pitchFamily="34" charset="0"/>
                <a:ea typeface="Arial" pitchFamily="34" charset="-122"/>
                <a:cs typeface="Arial" pitchFamily="34" charset="-120"/>
              </a:rPr>
              <a:t>Sesuai isi perjanjian atau sepakat semua pihak</a:t>
            </a:r>
            <a:endParaRPr lang="en-US" sz="1400" dirty="0"/>
          </a:p>
        </p:txBody>
      </p:sp>
      <p:sp>
        <p:nvSpPr>
          <p:cNvPr id="14" name="Text 12"/>
          <p:cNvSpPr txBox="1"/>
          <p:nvPr/>
        </p:nvSpPr>
        <p:spPr>
          <a:xfrm>
            <a:off x="6355080" y="2807208"/>
            <a:ext cx="5394960" cy="411480"/>
          </a:xfrm>
          <a:prstGeom prst="rect">
            <a:avLst/>
          </a:prstGeom>
          <a:noFill/>
          <a:ln/>
        </p:spPr>
        <p:txBody>
          <a:bodyPr wrap="square" lIns="0" tIns="0" rIns="0" bIns="0" rtlCol="0" anchor="t"/>
          <a:lstStyle/>
          <a:p>
            <a:pPr indent="0" marL="0">
              <a:spcAft>
                <a:spcPts val="600"/>
              </a:spcAft>
              <a:buNone/>
            </a:pPr>
            <a:r>
              <a:rPr lang="en-US" sz="1400" b="1" dirty="0">
                <a:solidFill>
                  <a:srgbClr val="7A1220"/>
                </a:solidFill>
                <a:latin typeface="Arial" pitchFamily="34" charset="0"/>
                <a:ea typeface="Arial" pitchFamily="34" charset="-122"/>
                <a:cs typeface="Arial" pitchFamily="34" charset="-120"/>
              </a:rPr>
              <a:t>Pasal 56  </a:t>
            </a:r>
            <a:pPr indent="0" marL="0">
              <a:spcAft>
                <a:spcPts val="600"/>
              </a:spcAft>
              <a:buNone/>
            </a:pPr>
            <a:r>
              <a:rPr lang="en-US" sz="1400" dirty="0">
                <a:solidFill>
                  <a:srgbClr val="2B2B2B"/>
                </a:solidFill>
                <a:latin typeface="Arial" pitchFamily="34" charset="0"/>
                <a:ea typeface="Arial" pitchFamily="34" charset="-122"/>
                <a:cs typeface="Arial" pitchFamily="34" charset="-120"/>
              </a:rPr>
              <a:t>Tanpa klausul keluar: pemberitahuan 12 bulan</a:t>
            </a:r>
            <a:endParaRPr lang="en-US" sz="1400" dirty="0"/>
          </a:p>
        </p:txBody>
      </p:sp>
      <p:sp>
        <p:nvSpPr>
          <p:cNvPr id="15" name="Text 13"/>
          <p:cNvSpPr txBox="1"/>
          <p:nvPr/>
        </p:nvSpPr>
        <p:spPr>
          <a:xfrm>
            <a:off x="6355080" y="3236976"/>
            <a:ext cx="5394960" cy="411480"/>
          </a:xfrm>
          <a:prstGeom prst="rect">
            <a:avLst/>
          </a:prstGeom>
          <a:noFill/>
          <a:ln/>
        </p:spPr>
        <p:txBody>
          <a:bodyPr wrap="square" lIns="0" tIns="0" rIns="0" bIns="0" rtlCol="0" anchor="t"/>
          <a:lstStyle/>
          <a:p>
            <a:pPr indent="0" marL="0">
              <a:spcAft>
                <a:spcPts val="600"/>
              </a:spcAft>
              <a:buNone/>
            </a:pPr>
            <a:r>
              <a:rPr lang="en-US" sz="1400" b="1" dirty="0">
                <a:solidFill>
                  <a:srgbClr val="7A1220"/>
                </a:solidFill>
                <a:latin typeface="Arial" pitchFamily="34" charset="0"/>
                <a:ea typeface="Arial" pitchFamily="34" charset="-122"/>
                <a:cs typeface="Arial" pitchFamily="34" charset="-120"/>
              </a:rPr>
              <a:t>Pasal 60  </a:t>
            </a:r>
            <a:pPr indent="0" marL="0">
              <a:spcAft>
                <a:spcPts val="600"/>
              </a:spcAft>
              <a:buNone/>
            </a:pPr>
            <a:r>
              <a:rPr lang="en-US" sz="1400" dirty="0">
                <a:solidFill>
                  <a:srgbClr val="2B2B2B"/>
                </a:solidFill>
                <a:latin typeface="Arial" pitchFamily="34" charset="0"/>
                <a:ea typeface="Arial" pitchFamily="34" charset="-122"/>
                <a:cs typeface="Arial" pitchFamily="34" charset="-120"/>
              </a:rPr>
              <a:t>Pelanggaran material oleh pihak lain</a:t>
            </a:r>
            <a:endParaRPr lang="en-US" sz="1400" dirty="0"/>
          </a:p>
        </p:txBody>
      </p:sp>
      <p:sp>
        <p:nvSpPr>
          <p:cNvPr id="16" name="Text 14"/>
          <p:cNvSpPr txBox="1"/>
          <p:nvPr/>
        </p:nvSpPr>
        <p:spPr>
          <a:xfrm>
            <a:off x="6355080" y="3666744"/>
            <a:ext cx="5394960" cy="411480"/>
          </a:xfrm>
          <a:prstGeom prst="rect">
            <a:avLst/>
          </a:prstGeom>
          <a:noFill/>
          <a:ln/>
        </p:spPr>
        <p:txBody>
          <a:bodyPr wrap="square" lIns="0" tIns="0" rIns="0" bIns="0" rtlCol="0" anchor="t"/>
          <a:lstStyle/>
          <a:p>
            <a:pPr indent="0" marL="0">
              <a:spcAft>
                <a:spcPts val="600"/>
              </a:spcAft>
              <a:buNone/>
            </a:pPr>
            <a:r>
              <a:rPr lang="en-US" sz="1400" b="1" dirty="0">
                <a:solidFill>
                  <a:srgbClr val="7A1220"/>
                </a:solidFill>
                <a:latin typeface="Arial" pitchFamily="34" charset="0"/>
                <a:ea typeface="Arial" pitchFamily="34" charset="-122"/>
                <a:cs typeface="Arial" pitchFamily="34" charset="-120"/>
              </a:rPr>
              <a:t>Pasal 61  </a:t>
            </a:r>
            <a:pPr indent="0" marL="0">
              <a:spcAft>
                <a:spcPts val="600"/>
              </a:spcAft>
              <a:buNone/>
            </a:pPr>
            <a:r>
              <a:rPr lang="en-US" sz="1400" dirty="0">
                <a:solidFill>
                  <a:srgbClr val="2B2B2B"/>
                </a:solidFill>
                <a:latin typeface="Arial" pitchFamily="34" charset="0"/>
                <a:ea typeface="Arial" pitchFamily="34" charset="-122"/>
                <a:cs typeface="Arial" pitchFamily="34" charset="-120"/>
              </a:rPr>
              <a:t>Tidak mungkin lagi dilaksanakan</a:t>
            </a:r>
            <a:endParaRPr lang="en-US" sz="1400" dirty="0"/>
          </a:p>
        </p:txBody>
      </p:sp>
      <p:sp>
        <p:nvSpPr>
          <p:cNvPr id="17" name="Text 15"/>
          <p:cNvSpPr txBox="1"/>
          <p:nvPr/>
        </p:nvSpPr>
        <p:spPr>
          <a:xfrm>
            <a:off x="6355080" y="4096512"/>
            <a:ext cx="5394960" cy="411480"/>
          </a:xfrm>
          <a:prstGeom prst="rect">
            <a:avLst/>
          </a:prstGeom>
          <a:noFill/>
          <a:ln/>
        </p:spPr>
        <p:txBody>
          <a:bodyPr wrap="square" lIns="0" tIns="0" rIns="0" bIns="0" rtlCol="0" anchor="t"/>
          <a:lstStyle/>
          <a:p>
            <a:pPr indent="0" marL="0">
              <a:spcAft>
                <a:spcPts val="600"/>
              </a:spcAft>
              <a:buNone/>
            </a:pPr>
            <a:r>
              <a:rPr lang="en-US" sz="1400" b="1" dirty="0">
                <a:solidFill>
                  <a:srgbClr val="7A1220"/>
                </a:solidFill>
                <a:latin typeface="Arial" pitchFamily="34" charset="0"/>
                <a:ea typeface="Arial" pitchFamily="34" charset="-122"/>
                <a:cs typeface="Arial" pitchFamily="34" charset="-120"/>
              </a:rPr>
              <a:t>Pasal 62  </a:t>
            </a:r>
            <a:pPr indent="0" marL="0">
              <a:spcAft>
                <a:spcPts val="600"/>
              </a:spcAft>
              <a:buNone/>
            </a:pPr>
            <a:r>
              <a:rPr lang="en-US" sz="1400" dirty="0">
                <a:solidFill>
                  <a:srgbClr val="2B2B2B"/>
                </a:solidFill>
                <a:latin typeface="Arial" pitchFamily="34" charset="0"/>
                <a:ea typeface="Arial" pitchFamily="34" charset="-122"/>
                <a:cs typeface="Arial" pitchFamily="34" charset="-120"/>
              </a:rPr>
              <a:t>Perubahan keadaan mendasar (rebus sic stantibus)</a:t>
            </a:r>
            <a:endParaRPr lang="en-US" sz="1400" dirty="0"/>
          </a:p>
        </p:txBody>
      </p:sp>
      <p:sp>
        <p:nvSpPr>
          <p:cNvPr id="18" name="Text 16"/>
          <p:cNvSpPr txBox="1"/>
          <p:nvPr/>
        </p:nvSpPr>
        <p:spPr>
          <a:xfrm>
            <a:off x="6355080" y="4526280"/>
            <a:ext cx="5394960" cy="411480"/>
          </a:xfrm>
          <a:prstGeom prst="rect">
            <a:avLst/>
          </a:prstGeom>
          <a:noFill/>
          <a:ln/>
        </p:spPr>
        <p:txBody>
          <a:bodyPr wrap="square" lIns="0" tIns="0" rIns="0" bIns="0" rtlCol="0" anchor="t"/>
          <a:lstStyle/>
          <a:p>
            <a:pPr indent="0" marL="0">
              <a:spcAft>
                <a:spcPts val="600"/>
              </a:spcAft>
              <a:buNone/>
            </a:pPr>
            <a:r>
              <a:rPr lang="en-US" sz="1400" b="1" dirty="0">
                <a:solidFill>
                  <a:srgbClr val="7A1220"/>
                </a:solidFill>
                <a:latin typeface="Arial" pitchFamily="34" charset="0"/>
                <a:ea typeface="Arial" pitchFamily="34" charset="-122"/>
                <a:cs typeface="Arial" pitchFamily="34" charset="-120"/>
              </a:rPr>
              <a:t>Pasal 64  </a:t>
            </a:r>
            <a:pPr indent="0" marL="0">
              <a:spcAft>
                <a:spcPts val="600"/>
              </a:spcAft>
              <a:buNone/>
            </a:pPr>
            <a:r>
              <a:rPr lang="en-US" sz="1400" dirty="0">
                <a:solidFill>
                  <a:srgbClr val="2B2B2B"/>
                </a:solidFill>
                <a:latin typeface="Arial" pitchFamily="34" charset="0"/>
                <a:ea typeface="Arial" pitchFamily="34" charset="-122"/>
                <a:cs typeface="Arial" pitchFamily="34" charset="-120"/>
              </a:rPr>
              <a:t>Muncul jus cogens baru</a:t>
            </a:r>
            <a:endParaRPr lang="en-US" sz="1400" dirty="0"/>
          </a:p>
        </p:txBody>
      </p:sp>
      <p:sp>
        <p:nvSpPr>
          <p:cNvPr id="19" name="Shape 17"/>
          <p:cNvSpPr/>
          <p:nvPr/>
        </p:nvSpPr>
        <p:spPr>
          <a:xfrm>
            <a:off x="502920" y="4892040"/>
            <a:ext cx="11183112" cy="0"/>
          </a:xfrm>
          <a:prstGeom prst="line">
            <a:avLst/>
          </a:prstGeom>
          <a:noFill/>
          <a:ln w="12700">
            <a:solidFill>
              <a:srgbClr val="D9D2CB"/>
            </a:solidFill>
            <a:prstDash val="solid"/>
          </a:ln>
        </p:spPr>
      </p:sp>
      <p:sp>
        <p:nvSpPr>
          <p:cNvPr id="20" name="Text 18"/>
          <p:cNvSpPr txBox="1"/>
          <p:nvPr/>
        </p:nvSpPr>
        <p:spPr>
          <a:xfrm>
            <a:off x="502920" y="5010912"/>
            <a:ext cx="5394960" cy="1234440"/>
          </a:xfrm>
          <a:prstGeom prst="rect">
            <a:avLst/>
          </a:prstGeom>
          <a:noFill/>
          <a:ln/>
        </p:spPr>
        <p:txBody>
          <a:bodyPr wrap="square" lIns="0" tIns="0" rIns="0" bIns="0" rtlCol="0" anchor="t"/>
          <a:lstStyle/>
          <a:p>
            <a:pPr indent="0" marL="0">
              <a:spcAft>
                <a:spcPts val="600"/>
              </a:spcAft>
              <a:buNone/>
            </a:pPr>
            <a:r>
              <a:rPr lang="en-US" sz="1400" b="1" dirty="0">
                <a:solidFill>
                  <a:srgbClr val="7A1220"/>
                </a:solidFill>
                <a:latin typeface="Arial" pitchFamily="34" charset="0"/>
                <a:ea typeface="Arial" pitchFamily="34" charset="-122"/>
                <a:cs typeface="Arial" pitchFamily="34" charset="-120"/>
              </a:rPr>
              <a:t>Putus baik-baik</a:t>
            </a:r>
            <a:endParaRPr lang="en-US" sz="1400" dirty="0"/>
          </a:p>
          <a:p>
            <a:pPr indent="0" marL="0">
              <a:spcAft>
                <a:spcPts val="600"/>
              </a:spcAft>
              <a:buNone/>
            </a:pPr>
            <a:r>
              <a:rPr lang="en-US" sz="1400" dirty="0">
                <a:solidFill>
                  <a:srgbClr val="2B2B2B"/>
                </a:solidFill>
                <a:latin typeface="Arial" pitchFamily="34" charset="0"/>
                <a:ea typeface="Arial" pitchFamily="34" charset="-122"/>
                <a:cs typeface="Arial" pitchFamily="34" charset="-120"/>
              </a:rPr>
              <a:t>AS keluar dari Persetujuan Paris lewat Pasal 28: notifikasi Januari 2025, berlaku 27 Januari 2026.</a:t>
            </a:r>
            <a:endParaRPr lang="en-US" sz="1400" dirty="0"/>
          </a:p>
        </p:txBody>
      </p:sp>
      <p:sp>
        <p:nvSpPr>
          <p:cNvPr id="21" name="Text 19"/>
          <p:cNvSpPr txBox="1"/>
          <p:nvPr/>
        </p:nvSpPr>
        <p:spPr>
          <a:xfrm>
            <a:off x="6355080" y="5010912"/>
            <a:ext cx="5303520" cy="1234440"/>
          </a:xfrm>
          <a:prstGeom prst="rect">
            <a:avLst/>
          </a:prstGeom>
          <a:noFill/>
          <a:ln/>
        </p:spPr>
        <p:txBody>
          <a:bodyPr wrap="square" lIns="0" tIns="0" rIns="0" bIns="0" rtlCol="0" anchor="t"/>
          <a:lstStyle/>
          <a:p>
            <a:pPr indent="0" marL="0">
              <a:spcAft>
                <a:spcPts val="600"/>
              </a:spcAft>
              <a:buNone/>
            </a:pPr>
            <a:r>
              <a:rPr lang="en-US" sz="1400" b="1" dirty="0">
                <a:solidFill>
                  <a:srgbClr val="5F5F5F"/>
                </a:solidFill>
                <a:latin typeface="Arial" pitchFamily="34" charset="0"/>
                <a:ea typeface="Arial" pitchFamily="34" charset="-122"/>
                <a:cs typeface="Arial" pitchFamily="34" charset="-120"/>
              </a:rPr>
              <a:t>Alasan ditolak</a:t>
            </a:r>
            <a:endParaRPr lang="en-US" sz="1400" dirty="0"/>
          </a:p>
          <a:p>
            <a:pPr indent="0" marL="0">
              <a:spcAft>
                <a:spcPts val="600"/>
              </a:spcAft>
              <a:buNone/>
            </a:pPr>
            <a:r>
              <a:rPr lang="en-US" sz="1400" dirty="0">
                <a:solidFill>
                  <a:srgbClr val="2B2B2B"/>
                </a:solidFill>
                <a:latin typeface="Arial" pitchFamily="34" charset="0"/>
                <a:ea typeface="Arial" pitchFamily="34" charset="-122"/>
                <a:cs typeface="Arial" pitchFamily="34" charset="-120"/>
              </a:rPr>
              <a:t>Hungaria menghentikan proyek bendungan Gabčíkovo–Nagymaros. MI (25 September 1997) menolak alasan keadaan darurat dan perubahan keadaan.</a:t>
            </a:r>
            <a:endParaRPr lang="en-US" sz="1400" dirty="0"/>
          </a:p>
        </p:txBody>
      </p:sp>
      <p:sp>
        <p:nvSpPr>
          <p:cNvPr id="25" name="Slide Number Placeholder 0"/>
          <p:cNvSpPr>
            <a:spLocks noGrp="1"/>
          </p:cNvSpPr>
          <p:nvPr>
            <p:ph type="sldNum" sz="quarter" idx="4294967295"/>
          </p:nvPr>
        </p:nvSpPr>
        <p:spPr>
          <a:xfrm>
            <a:off x="11228832"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5F5F"/>
                </a:solidFill>
                <a:latin typeface="Arial"/>
                <a:ea typeface="Arial"/>
                <a:cs typeface="Aria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02920" y="896112"/>
            <a:ext cx="11155680" cy="274320"/>
          </a:xfrm>
          <a:prstGeom prst="rect">
            <a:avLst/>
          </a:prstGeom>
          <a:noFill/>
          <a:ln/>
        </p:spPr>
        <p:txBody>
          <a:bodyPr wrap="square" lIns="0" tIns="0" rIns="0" bIns="0" rtlCol="0" anchor="t"/>
          <a:lstStyle/>
          <a:p>
            <a:pPr indent="0" marL="0">
              <a:buNone/>
            </a:pPr>
            <a:r>
              <a:rPr lang="en-US" sz="1200" b="1" spc="200" kern="0" dirty="0">
                <a:solidFill>
                  <a:srgbClr val="7A1220"/>
                </a:solidFill>
                <a:latin typeface="Arial" pitchFamily="34" charset="0"/>
                <a:ea typeface="Arial" pitchFamily="34" charset="-122"/>
                <a:cs typeface="Arial" pitchFamily="34" charset="-120"/>
              </a:rPr>
              <a:t>SEBELUM PULANG</a:t>
            </a:r>
            <a:endParaRPr lang="en-US" sz="1200" dirty="0"/>
          </a:p>
        </p:txBody>
      </p:sp>
      <p:sp>
        <p:nvSpPr>
          <p:cNvPr id="3" name="Text 1"/>
          <p:cNvSpPr txBox="1"/>
          <p:nvPr/>
        </p:nvSpPr>
        <p:spPr>
          <a:xfrm>
            <a:off x="502920" y="1152144"/>
            <a:ext cx="11183112" cy="640080"/>
          </a:xfrm>
          <a:prstGeom prst="rect">
            <a:avLst/>
          </a:prstGeom>
          <a:noFill/>
          <a:ln/>
        </p:spPr>
        <p:txBody>
          <a:bodyPr wrap="square" lIns="0" tIns="0" rIns="0" bIns="0" rtlCol="0" anchor="ctr"/>
          <a:lstStyle/>
          <a:p>
            <a:pPr indent="0" marL="0">
              <a:buNone/>
            </a:pPr>
            <a:r>
              <a:rPr lang="en-US" sz="2800" b="1" dirty="0">
                <a:solidFill>
                  <a:srgbClr val="7A1220"/>
                </a:solidFill>
                <a:latin typeface="Georgia" pitchFamily="34" charset="0"/>
                <a:ea typeface="Georgia" pitchFamily="34" charset="-122"/>
                <a:cs typeface="Georgia" pitchFamily="34" charset="-120"/>
              </a:rPr>
              <a:t>Cek Pemahaman</a:t>
            </a:r>
            <a:endParaRPr lang="en-US" sz="2800" dirty="0"/>
          </a:p>
        </p:txBody>
      </p:sp>
      <p:sp>
        <p:nvSpPr>
          <p:cNvPr id="4" name="Text 2"/>
          <p:cNvSpPr txBox="1"/>
          <p:nvPr/>
        </p:nvSpPr>
        <p:spPr>
          <a:xfrm>
            <a:off x="502920" y="1965960"/>
            <a:ext cx="457200" cy="548640"/>
          </a:xfrm>
          <a:prstGeom prst="rect">
            <a:avLst/>
          </a:prstGeom>
          <a:noFill/>
          <a:ln/>
        </p:spPr>
        <p:txBody>
          <a:bodyPr wrap="square" lIns="0" tIns="0" rIns="0" bIns="0" rtlCol="0" anchor="t"/>
          <a:lstStyle/>
          <a:p>
            <a:pPr indent="0" marL="0">
              <a:spcAft>
                <a:spcPts val="600"/>
              </a:spcAft>
              <a:buNone/>
            </a:pPr>
            <a:r>
              <a:rPr lang="en-US" sz="3000" b="1" dirty="0">
                <a:solidFill>
                  <a:srgbClr val="7A1220"/>
                </a:solidFill>
                <a:latin typeface="Georgia" pitchFamily="34" charset="0"/>
                <a:ea typeface="Georgia" pitchFamily="34" charset="-122"/>
                <a:cs typeface="Georgia" pitchFamily="34" charset="-120"/>
              </a:rPr>
              <a:t>1</a:t>
            </a:r>
            <a:endParaRPr lang="en-US" sz="3000" dirty="0"/>
          </a:p>
        </p:txBody>
      </p:sp>
      <p:sp>
        <p:nvSpPr>
          <p:cNvPr id="5" name="Text 3"/>
          <p:cNvSpPr txBox="1"/>
          <p:nvPr/>
        </p:nvSpPr>
        <p:spPr>
          <a:xfrm>
            <a:off x="1051560" y="2011680"/>
            <a:ext cx="6172200" cy="1234440"/>
          </a:xfrm>
          <a:prstGeom prst="rect">
            <a:avLst/>
          </a:prstGeom>
          <a:noFill/>
          <a:ln/>
        </p:spPr>
        <p:txBody>
          <a:bodyPr wrap="square" lIns="0" tIns="0" rIns="0" bIns="0" rtlCol="0" anchor="t"/>
          <a:lstStyle/>
          <a:p>
            <a:pPr indent="0" marL="0">
              <a:spcAft>
                <a:spcPts val="600"/>
              </a:spcAft>
              <a:buNone/>
            </a:pPr>
            <a:r>
              <a:rPr lang="en-US" sz="1600" dirty="0">
                <a:solidFill>
                  <a:srgbClr val="2B2B2B"/>
                </a:solidFill>
                <a:latin typeface="Arial" pitchFamily="34" charset="0"/>
                <a:ea typeface="Arial" pitchFamily="34" charset="-122"/>
                <a:cs typeface="Arial" pitchFamily="34" charset="-120"/>
              </a:rPr>
              <a:t>Sebuah MoU antarmenteri luar negeri ditandatangani rapi. Apakah otomatis menjadi perjanjian internasional? Apa ukurannya?</a:t>
            </a:r>
            <a:endParaRPr lang="en-US" sz="1600" dirty="0"/>
          </a:p>
        </p:txBody>
      </p:sp>
      <p:sp>
        <p:nvSpPr>
          <p:cNvPr id="6" name="Text 4"/>
          <p:cNvSpPr txBox="1"/>
          <p:nvPr/>
        </p:nvSpPr>
        <p:spPr>
          <a:xfrm>
            <a:off x="502920" y="3337560"/>
            <a:ext cx="457200" cy="548640"/>
          </a:xfrm>
          <a:prstGeom prst="rect">
            <a:avLst/>
          </a:prstGeom>
          <a:noFill/>
          <a:ln/>
        </p:spPr>
        <p:txBody>
          <a:bodyPr wrap="square" lIns="0" tIns="0" rIns="0" bIns="0" rtlCol="0" anchor="t"/>
          <a:lstStyle/>
          <a:p>
            <a:pPr indent="0" marL="0">
              <a:spcAft>
                <a:spcPts val="600"/>
              </a:spcAft>
              <a:buNone/>
            </a:pPr>
            <a:r>
              <a:rPr lang="en-US" sz="3000" b="1" dirty="0">
                <a:solidFill>
                  <a:srgbClr val="7A1220"/>
                </a:solidFill>
                <a:latin typeface="Georgia" pitchFamily="34" charset="0"/>
                <a:ea typeface="Georgia" pitchFamily="34" charset="-122"/>
                <a:cs typeface="Georgia" pitchFamily="34" charset="-120"/>
              </a:rPr>
              <a:t>2</a:t>
            </a:r>
            <a:endParaRPr lang="en-US" sz="3000" dirty="0"/>
          </a:p>
        </p:txBody>
      </p:sp>
      <p:sp>
        <p:nvSpPr>
          <p:cNvPr id="7" name="Text 5"/>
          <p:cNvSpPr txBox="1"/>
          <p:nvPr/>
        </p:nvSpPr>
        <p:spPr>
          <a:xfrm>
            <a:off x="1051560" y="3383280"/>
            <a:ext cx="6172200" cy="1234440"/>
          </a:xfrm>
          <a:prstGeom prst="rect">
            <a:avLst/>
          </a:prstGeom>
          <a:noFill/>
          <a:ln/>
        </p:spPr>
        <p:txBody>
          <a:bodyPr wrap="square" lIns="0" tIns="0" rIns="0" bIns="0" rtlCol="0" anchor="t"/>
          <a:lstStyle/>
          <a:p>
            <a:pPr indent="0" marL="0">
              <a:spcAft>
                <a:spcPts val="600"/>
              </a:spcAft>
              <a:buNone/>
            </a:pPr>
            <a:r>
              <a:rPr lang="en-US" sz="1600" dirty="0">
                <a:solidFill>
                  <a:srgbClr val="2B2B2B"/>
                </a:solidFill>
                <a:latin typeface="Arial" pitchFamily="34" charset="0"/>
                <a:ea typeface="Arial" pitchFamily="34" charset="-122"/>
                <a:cs typeface="Arial" pitchFamily="34" charset="-120"/>
              </a:rPr>
              <a:t>Indonesia sudah menandatangani sebuah perjanjian tetapi belum mengesahkannya. Kewajiban apa yang sudah melekat?</a:t>
            </a:r>
            <a:endParaRPr lang="en-US" sz="1600" dirty="0"/>
          </a:p>
        </p:txBody>
      </p:sp>
      <p:sp>
        <p:nvSpPr>
          <p:cNvPr id="8" name="Text 6"/>
          <p:cNvSpPr txBox="1"/>
          <p:nvPr/>
        </p:nvSpPr>
        <p:spPr>
          <a:xfrm>
            <a:off x="502920" y="4709160"/>
            <a:ext cx="457200" cy="548640"/>
          </a:xfrm>
          <a:prstGeom prst="rect">
            <a:avLst/>
          </a:prstGeom>
          <a:noFill/>
          <a:ln/>
        </p:spPr>
        <p:txBody>
          <a:bodyPr wrap="square" lIns="0" tIns="0" rIns="0" bIns="0" rtlCol="0" anchor="t"/>
          <a:lstStyle/>
          <a:p>
            <a:pPr indent="0" marL="0">
              <a:spcAft>
                <a:spcPts val="600"/>
              </a:spcAft>
              <a:buNone/>
            </a:pPr>
            <a:r>
              <a:rPr lang="en-US" sz="3000" b="1" dirty="0">
                <a:solidFill>
                  <a:srgbClr val="7A1220"/>
                </a:solidFill>
                <a:latin typeface="Georgia" pitchFamily="34" charset="0"/>
                <a:ea typeface="Georgia" pitchFamily="34" charset="-122"/>
                <a:cs typeface="Georgia" pitchFamily="34" charset="-120"/>
              </a:rPr>
              <a:t>3</a:t>
            </a:r>
            <a:endParaRPr lang="en-US" sz="3000" dirty="0"/>
          </a:p>
        </p:txBody>
      </p:sp>
      <p:sp>
        <p:nvSpPr>
          <p:cNvPr id="9" name="Text 7"/>
          <p:cNvSpPr txBox="1"/>
          <p:nvPr/>
        </p:nvSpPr>
        <p:spPr>
          <a:xfrm>
            <a:off x="1051560" y="4754880"/>
            <a:ext cx="6172200" cy="1234440"/>
          </a:xfrm>
          <a:prstGeom prst="rect">
            <a:avLst/>
          </a:prstGeom>
          <a:noFill/>
          <a:ln/>
        </p:spPr>
        <p:txBody>
          <a:bodyPr wrap="square" lIns="0" tIns="0" rIns="0" bIns="0" rtlCol="0" anchor="t"/>
          <a:lstStyle/>
          <a:p>
            <a:pPr indent="0" marL="0">
              <a:spcAft>
                <a:spcPts val="600"/>
              </a:spcAft>
              <a:buNone/>
            </a:pPr>
            <a:r>
              <a:rPr lang="en-US" sz="1600" dirty="0">
                <a:solidFill>
                  <a:srgbClr val="2B2B2B"/>
                </a:solidFill>
                <a:latin typeface="Arial" pitchFamily="34" charset="0"/>
                <a:ea typeface="Arial" pitchFamily="34" charset="-122"/>
                <a:cs typeface="Arial" pitchFamily="34" charset="-120"/>
              </a:rPr>
              <a:t>Mengapa keluarnya AS dari Persetujuan Paris tidak melanggar pacta sunt servanda?</a:t>
            </a:r>
            <a:endParaRPr lang="en-US" sz="1600" dirty="0"/>
          </a:p>
        </p:txBody>
      </p:sp>
      <p:sp>
        <p:nvSpPr>
          <p:cNvPr id="10" name="Shape 8"/>
          <p:cNvSpPr/>
          <p:nvPr/>
        </p:nvSpPr>
        <p:spPr>
          <a:xfrm>
            <a:off x="7589520" y="2011680"/>
            <a:ext cx="0" cy="4160520"/>
          </a:xfrm>
          <a:prstGeom prst="line">
            <a:avLst/>
          </a:prstGeom>
          <a:noFill/>
          <a:ln w="12700">
            <a:solidFill>
              <a:srgbClr val="D9D2CB"/>
            </a:solidFill>
            <a:prstDash val="solid"/>
          </a:ln>
        </p:spPr>
      </p:sp>
      <p:sp>
        <p:nvSpPr>
          <p:cNvPr id="11" name="Text 9"/>
          <p:cNvSpPr txBox="1"/>
          <p:nvPr/>
        </p:nvSpPr>
        <p:spPr>
          <a:xfrm>
            <a:off x="7863840" y="2011680"/>
            <a:ext cx="3822192" cy="2286000"/>
          </a:xfrm>
          <a:prstGeom prst="rect">
            <a:avLst/>
          </a:prstGeom>
          <a:noFill/>
          <a:ln/>
        </p:spPr>
        <p:txBody>
          <a:bodyPr wrap="square" lIns="0" tIns="0" rIns="0" bIns="0" rtlCol="0" anchor="t"/>
          <a:lstStyle/>
          <a:p>
            <a:pPr indent="0" marL="0">
              <a:spcAft>
                <a:spcPts val="400"/>
              </a:spcAft>
              <a:buNone/>
            </a:pPr>
            <a:r>
              <a:rPr lang="en-US" sz="1400" b="1" dirty="0">
                <a:solidFill>
                  <a:srgbClr val="7A1220"/>
                </a:solidFill>
                <a:latin typeface="Arial" pitchFamily="34" charset="0"/>
                <a:ea typeface="Arial" pitchFamily="34" charset="-122"/>
                <a:cs typeface="Arial" pitchFamily="34" charset="-120"/>
              </a:rPr>
              <a:t>Bacaan</a:t>
            </a:r>
            <a:endParaRPr lang="en-US" sz="1400" dirty="0"/>
          </a:p>
          <a:p>
            <a:pPr indent="0" marL="0">
              <a:spcAft>
                <a:spcPts val="400"/>
              </a:spcAft>
              <a:buNone/>
            </a:pPr>
            <a:r>
              <a:rPr lang="en-US" sz="1400" dirty="0">
                <a:solidFill>
                  <a:srgbClr val="2B2B2B"/>
                </a:solidFill>
                <a:latin typeface="Arial" pitchFamily="34" charset="0"/>
                <a:ea typeface="Arial" pitchFamily="34" charset="-122"/>
                <a:cs typeface="Arial" pitchFamily="34" charset="-120"/>
              </a:rPr>
              <a:t>Purnomo (2021), Hukum Internasional: Suatu Pengantar, Bab 4</a:t>
            </a:r>
            <a:endParaRPr lang="en-US" sz="1400" dirty="0"/>
          </a:p>
          <a:p>
            <a:pPr indent="0" marL="0">
              <a:spcAft>
                <a:spcPts val="400"/>
              </a:spcAft>
              <a:buNone/>
            </a:pPr>
            <a:r>
              <a:rPr lang="en-US" sz="1400" dirty="0">
                <a:solidFill>
                  <a:srgbClr val="2B2B2B"/>
                </a:solidFill>
                <a:latin typeface="Arial" pitchFamily="34" charset="0"/>
                <a:ea typeface="Arial" pitchFamily="34" charset="-122"/>
                <a:cs typeface="Arial" pitchFamily="34" charset="-120"/>
              </a:rPr>
              <a:t>Konvensi Wina 1969 tentang Hukum Perjanjian</a:t>
            </a:r>
            <a:endParaRPr lang="en-US" sz="1400" dirty="0"/>
          </a:p>
          <a:p>
            <a:pPr indent="0" marL="0">
              <a:spcAft>
                <a:spcPts val="400"/>
              </a:spcAft>
              <a:buNone/>
            </a:pPr>
            <a:r>
              <a:rPr lang="en-US" sz="1400" dirty="0">
                <a:solidFill>
                  <a:srgbClr val="2B2B2B"/>
                </a:solidFill>
                <a:latin typeface="Arial" pitchFamily="34" charset="0"/>
                <a:ea typeface="Arial" pitchFamily="34" charset="-122"/>
                <a:cs typeface="Arial" pitchFamily="34" charset="-120"/>
              </a:rPr>
              <a:t>UU No. 24 Tahun 2000 tentang Perjanjian Internasional</a:t>
            </a:r>
            <a:endParaRPr lang="en-US" sz="1400" dirty="0"/>
          </a:p>
        </p:txBody>
      </p:sp>
      <p:sp>
        <p:nvSpPr>
          <p:cNvPr id="12" name="Text 10"/>
          <p:cNvSpPr txBox="1"/>
          <p:nvPr/>
        </p:nvSpPr>
        <p:spPr>
          <a:xfrm>
            <a:off x="7863840" y="4526280"/>
            <a:ext cx="3822192" cy="1645920"/>
          </a:xfrm>
          <a:prstGeom prst="rect">
            <a:avLst/>
          </a:prstGeom>
          <a:noFill/>
          <a:ln/>
        </p:spPr>
        <p:txBody>
          <a:bodyPr wrap="square" lIns="0" tIns="0" rIns="0" bIns="0" rtlCol="0" anchor="t"/>
          <a:lstStyle/>
          <a:p>
            <a:pPr indent="0" marL="0">
              <a:spcAft>
                <a:spcPts val="600"/>
              </a:spcAft>
              <a:buNone/>
            </a:pPr>
            <a:r>
              <a:rPr lang="en-US" sz="1400" b="1" dirty="0">
                <a:solidFill>
                  <a:srgbClr val="7A1220"/>
                </a:solidFill>
                <a:latin typeface="Arial" pitchFamily="34" charset="0"/>
                <a:ea typeface="Arial" pitchFamily="34" charset="-122"/>
                <a:cs typeface="Arial" pitchFamily="34" charset="-120"/>
              </a:rPr>
              <a:t>Pertemuan berikutnya</a:t>
            </a:r>
            <a:endParaRPr lang="en-US" sz="1400" dirty="0"/>
          </a:p>
          <a:p>
            <a:pPr indent="0" marL="0">
              <a:spcAft>
                <a:spcPts val="600"/>
              </a:spcAft>
              <a:buNone/>
            </a:pPr>
            <a:r>
              <a:rPr lang="en-US" sz="1400" dirty="0">
                <a:solidFill>
                  <a:srgbClr val="2B2B2B"/>
                </a:solidFill>
                <a:latin typeface="Arial" pitchFamily="34" charset="0"/>
                <a:ea typeface="Arial" pitchFamily="34" charset="-122"/>
                <a:cs typeface="Arial" pitchFamily="34" charset="-120"/>
              </a:rPr>
              <a:t>Hukum laut (UNCLOS 1982) dan organisasi internasional. Siapkan peta Indonesia di HP masing-masing.</a:t>
            </a:r>
            <a:endParaRPr lang="en-US" sz="1400" dirty="0"/>
          </a:p>
        </p:txBody>
      </p:sp>
      <p:sp>
        <p:nvSpPr>
          <p:cNvPr id="25" name="Slide Number Placeholder 0"/>
          <p:cNvSpPr>
            <a:spLocks noGrp="1"/>
          </p:cNvSpPr>
          <p:nvPr>
            <p:ph type="sldNum" sz="quarter" idx="4294967295"/>
          </p:nvPr>
        </p:nvSpPr>
        <p:spPr>
          <a:xfrm>
            <a:off x="11228832"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5F5F"/>
                </a:solidFill>
                <a:latin typeface="Arial"/>
                <a:ea typeface="Arial"/>
                <a:cs typeface="Arial"/>
              </a:defRPr>
            </a:lvl1pPr>
          </a:lstStyle>
          <a:p>
            <a:pPr algn="r"/>
            <a:fld id="{F7021451-1387-4CA6-816F-3879F97B5CBC}" type="slidenum">
              <a:rPr b="0" lang="en-US"/>
              <a:t>7</a:t>
            </a:fld>
            <a:endParaRPr lang="en-US"/>
          </a:p>
        </p:txBody>
      </p:sp>
    </p:spTree>
  </p:cSld>
  <p:clrMapOvr>
    <a:masterClrMapping/>
  </p:clrMapOvr>
</p:sld>
</file>

<file path=ppt/theme/theme1.xml><?xml version="1.0" encoding="utf-8"?>
<a:theme xmlns:a="http://schemas.openxmlformats.org/drawingml/2006/main" name="FH UNISSULA">
  <a:themeElements>
    <a:clrScheme name="FH UNISSULA">
      <a:dk1>
        <a:srgbClr val="2B2B2B"/>
      </a:dk1>
      <a:lt1>
        <a:srgbClr val="FFFFFF"/>
      </a:lt1>
      <a:dk2>
        <a:srgbClr val="7A1220"/>
      </a:dk2>
      <a:lt2>
        <a:srgbClr val="F7F4F0"/>
      </a:lt2>
      <a:accent1>
        <a:srgbClr val="7A1220"/>
      </a:accent1>
      <a:accent2>
        <a:srgbClr val="9C6B4E"/>
      </a:accent2>
      <a:accent3>
        <a:srgbClr val="4F6D7A"/>
      </a:accent3>
      <a:accent4>
        <a:srgbClr val="B08D57"/>
      </a:accent4>
      <a:accent5>
        <a:srgbClr val="6B6B6B"/>
      </a:accent5>
      <a:accent6>
        <a:srgbClr val="3E5641"/>
      </a:accent6>
      <a:hlink>
        <a:srgbClr val="7A1220"/>
      </a:hlink>
      <a:folHlink>
        <a:srgbClr val="5F5F5F"/>
      </a:folHlink>
    </a:clrScheme>
    <a:fontScheme name="FH UNISSULA">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Fakultas Hukum UNISSULA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Hukum Perjanjian Internasional (Konvensi Wina 1969)</dc:title>
  <dc:subject>Hukum Internasional, Pertemuan 5</dc:subject>
  <dc:creator>Aditya Noviyansyah, S.H., M.H.</dc:creator>
  <cp:lastModifiedBy>Aditya Noviyansyah, S.H., M.H.</cp:lastModifiedBy>
  <cp:revision>1</cp:revision>
  <dcterms:created xsi:type="dcterms:W3CDTF">2026-10-21T16:42:16Z</dcterms:created>
  <dcterms:modified xsi:type="dcterms:W3CDTF">2026-10-21T16:42:16Z</dcterms:modified>
</cp:coreProperties>
</file>