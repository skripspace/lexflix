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dengan pertanyaan di sampul. Minta 3 sampai 4 jawaban spontan, tulis di papan, jangan dikoreksi dulu. Jawabannya dibahas di slide 4.
Tujuan (Sub-CPMK1): mahasiswa mampu menjelaskan pengertian, karakteristik, dan sejarah hukum internasional sampai era kontemporer, serta kaitannya dengan nilai kemanusiaan.
Waktu kira-kira: pembuka 15 menit, pengertian dan ciri 45 menit, sejarah 40 menit, nilai kemanusiaan dan diskusi 30 menit, kuis 20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Tanyakan: siapa yang pagi ini memakai HP, menerima paket dari luar negeri, atau makan ikan laut? Hampir semua tangan terangkat.
Tahun di atas adalah tahun lahirnya aturan atau organisasinya: ITU 1865 (dulu International Telegraph Union), UPU 1874, Konvensi Chicago 1944 (Konvensi Penerbangan Sipil Internasional), UNCLOS 1982.
Pesan utamanya: hukum internasional hadir di hal sehari-hari, bukan hanya di berita perang.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Definisi di slide adalah ringkasan, bukan kutipan kata per kata. Minta mahasiswa mencari rumusan aslinya di buku Mochtar Kusumaatmadja.
Tekankan tiga pola hubungan: negara dengan negara, negara dengan subjek lain (misalnya PBB atau ICRC), dan antarsubjek bukan negara.
Mata kuliah ini membahas hukum internasional publik. Hukum perdata internasional punya mata kuliah sendiri.
Latihan cepat: sebutkan satu contoh lagi untuk masing-masing kolom kanan.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Kembali ke pertanyaan sampul. Jawabannya ada di baris Penegakan dan di kotak Fakta.
Pasal 36 Statuta MI: yurisdiksi MI berdasar persetujuan, bisa lewat perjanjian khusus, klausul dalam perjanjian, atau deklarasi menerima yurisdiksi wajib.
Pasal 2 ayat (1) Piagam PBB: organisasi berdasar pada asas persamaan kedaulatan semua anggotanya.
Diskusi kelompok kecil 7 menit: cari satu contoh pelanggaran hukum internasional yang tetap mendapat akibat walaupun tidak ada polisi dunia.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Al-Syaibani (abad ke-8) penting untuk kita di UNISSULA: jauh sebelum Grotius, tradisi Islam sudah punya hukum hubungan antarbangsa (siyar), termasuk aturan perlakuan terhadap utusan dan tawanan.
Westphalia 1648 dianggap titik awal hukum internasional modern karena memperkenalkan negara berdaulat yang sederajat.
Indonesia menjadi anggota PBB ke-60 pada 28 September 1950.
Kolom kanan menunjukkan hukum internasional terus berkembang: AI (Konvensi Kerangka Dewan Eropa, dibuka untuk ditandatangani 5 September 2024), iklim (advisory opinion MI, diputus bulat), dan laut lepas (BBNJ).
Tanya kelas: isu apa lagi yang menurut kalian butuh perjanjian internasional baru? Biasanya muncul jawaban soal media sosial, data pribadi, atau ruang angkasa.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 yang ingin ditunjukkan: tragedi, lalu masyarakat internasional sepakat membuat aturan agar tidak terulang.
Henry Dunant menulis A Memory of Solferino (1862). Bukunya mendorong Konvensi Jenewa 22 Agustus 1864.
Nuremberg: Piagam Mahkamah Militer Internasional Agustus 1945, persidangan 1945 sampai 1946.
Statuta Roma 1998, ICC bekerja sejak 1 Juli 2002. Indonesia belum menjadi pihak.
Bagian bawah: nilai kemanusiaan juga punya akar dalam tradisi Islam dan dalam konstitusi kita.
Diskusi: apakah hukum internasional selalu terlambat, baru datang setelah korban jatuh?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Kuis lisan atau tertulis 10 menit. Kunci: (1) salah; buktinya negara patuh dalam urusan penerbangan, pos, dan batas laut, dan ada mekanisme sanksi; (2) hukum perdata internasional; (3) memperkenalkan negara berdaulat yang sederajat.
Minta mahasiswa membaca Dixon Bab 1 dan 2 sebelum Pertemuan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ONTEN">
    <p:bg>
      <p:bgPr>
        <a:solidFill>
          <a:srgbClr val="FFFFFF"/>
        </a:solidFill>
      </p:bgPr>
    </p:bg>
    <p:spTree>
      <p:nvGrpSpPr>
        <p:cNvPr id="1" name=""/>
        <p:cNvGrpSpPr/>
        <p:nvPr/>
      </p:nvGrpSpPr>
      <p:grpSpPr>
        <a:xfrm>
          <a:off x="0" y="0"/>
          <a:ext cx="0" cy="0"/>
          <a:chOff x="0" y="0"/>
          <a:chExt cx="0" cy="0"/>
        </a:xfrm>
      </p:grpSpPr>
      <p:pic>
        <p:nvPicPr>
          <p:cNvPr id="2" name="Image 0" descr="/tmp/claude-0/-home-claude/1d55af17-4c07-5715-bc68-ec714a3707f7/scratchpad/pptx-hi/logo-kecil.png">    </p:cNvPr>
          <p:cNvPicPr>
            <a:picLocks noChangeAspect="1"/>
          </p:cNvPicPr>
          <p:nvPr/>
        </p:nvPicPr>
        <p:blipFill>
          <a:blip r:embed="rId1"/>
          <a:stretch>
            <a:fillRect/>
          </a:stretch>
        </p:blipFill>
        <p:spPr>
          <a:xfrm>
            <a:off x="502920" y="256032"/>
            <a:ext cx="384048" cy="365760"/>
          </a:xfrm>
          <a:prstGeom prst="rect">
            <a:avLst/>
          </a:prstGeom>
        </p:spPr>
      </p:pic>
      <p:sp>
        <p:nvSpPr>
          <p:cNvPr id="3" name="Text 0"/>
          <p:cNvSpPr/>
          <p:nvPr/>
        </p:nvSpPr>
        <p:spPr>
          <a:xfrm>
            <a:off x="978408" y="274320"/>
            <a:ext cx="5486400" cy="329184"/>
          </a:xfrm>
          <a:prstGeom prst="rect">
            <a:avLst/>
          </a:prstGeom>
          <a:noFill/>
          <a:ln/>
        </p:spPr>
        <p:txBody>
          <a:bodyPr wrap="square" lIns="0" tIns="0" rIns="0" bIns="0" rtlCol="0" anchor="ctr"/>
          <a:lstStyle/>
          <a:p>
            <a:pPr indent="0" marL="0">
              <a:buNone/>
            </a:pPr>
            <a:r>
              <a:rPr lang="en-US" sz="1100" dirty="0">
                <a:solidFill>
                  <a:srgbClr val="5F5F5F"/>
                </a:solidFill>
                <a:latin typeface="Arial" pitchFamily="34" charset="0"/>
                <a:ea typeface="Arial" pitchFamily="34" charset="-122"/>
                <a:cs typeface="Arial" pitchFamily="34" charset="-120"/>
              </a:rPr>
              <a:t>Fakultas Hukum Universitas Islam Sultan Agung</a:t>
            </a:r>
            <a:endParaRPr lang="en-US" sz="1100" dirty="0"/>
          </a:p>
        </p:txBody>
      </p:sp>
      <p:sp>
        <p:nvSpPr>
          <p:cNvPr id="4" name="Text 1"/>
          <p:cNvSpPr/>
          <p:nvPr/>
        </p:nvSpPr>
        <p:spPr>
          <a:xfrm>
            <a:off x="6675120" y="274320"/>
            <a:ext cx="5010912" cy="329184"/>
          </a:xfrm>
          <a:prstGeom prst="rect">
            <a:avLst/>
          </a:prstGeom>
          <a:noFill/>
          <a:ln/>
        </p:spPr>
        <p:txBody>
          <a:bodyPr wrap="square" lIns="0" tIns="0" rIns="0" bIns="0" rtlCol="0" anchor="ctr"/>
          <a:lstStyle/>
          <a:p>
            <a:pPr algn="r" indent="0" marL="0">
              <a:buNone/>
            </a:pPr>
            <a:r>
              <a:rPr lang="en-US" sz="1100" dirty="0">
                <a:solidFill>
                  <a:srgbClr val="5F5F5F"/>
                </a:solidFill>
                <a:latin typeface="Arial" pitchFamily="34" charset="0"/>
                <a:ea typeface="Arial" pitchFamily="34" charset="-122"/>
                <a:cs typeface="Arial" pitchFamily="34" charset="-120"/>
              </a:rPr>
              <a:t>Hukum Internasional | Pertemuan 1</a:t>
            </a:r>
            <a:endParaRPr lang="en-US" sz="1100" dirty="0"/>
          </a:p>
        </p:txBody>
      </p:sp>
      <p:sp>
        <p:nvSpPr>
          <p:cNvPr id="5" name="Shape 2"/>
          <p:cNvSpPr/>
          <p:nvPr/>
        </p:nvSpPr>
        <p:spPr>
          <a:xfrm>
            <a:off x="502920" y="749808"/>
            <a:ext cx="11183112" cy="0"/>
          </a:xfrm>
          <a:prstGeom prst="line">
            <a:avLst/>
          </a:prstGeom>
          <a:noFill/>
          <a:ln w="12700">
            <a:solidFill>
              <a:srgbClr val="D9D2CB"/>
            </a:solidFill>
            <a:prstDash val="solid"/>
          </a:ln>
        </p:spPr>
      </p:sp>
      <p:sp>
        <p:nvSpPr>
          <p:cNvPr id="6" name="Shape 3"/>
          <p:cNvSpPr/>
          <p:nvPr/>
        </p:nvSpPr>
        <p:spPr>
          <a:xfrm>
            <a:off x="502920" y="6400800"/>
            <a:ext cx="11183112" cy="0"/>
          </a:xfrm>
          <a:prstGeom prst="line">
            <a:avLst/>
          </a:prstGeom>
          <a:noFill/>
          <a:ln w="12700">
            <a:solidFill>
              <a:srgbClr val="D9D2CB"/>
            </a:solidFill>
            <a:prstDash val="solid"/>
          </a:ln>
        </p:spPr>
      </p:sp>
      <p:sp>
        <p:nvSpPr>
          <p:cNvPr id="7" name="Text 4"/>
          <p:cNvSpPr/>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F5F5F"/>
                </a:solidFill>
                <a:latin typeface="Arial" pitchFamily="34" charset="0"/>
                <a:ea typeface="Arial" pitchFamily="34" charset="-122"/>
                <a:cs typeface="Arial" pitchFamily="34" charset="-120"/>
              </a:rPr>
              <a:t>Aditya Noviyansyah, S.H., M.H.</a:t>
            </a:r>
            <a:endParaRPr lang="en-US" sz="10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40080"/>
            <a:ext cx="0" cy="5577840"/>
          </a:xfrm>
          <a:prstGeom prst="line">
            <a:avLst/>
          </a:prstGeom>
          <a:noFill/>
          <a:ln w="28575">
            <a:solidFill>
              <a:srgbClr val="7A1220"/>
            </a:solidFill>
            <a:prstDash val="solid"/>
          </a:ln>
        </p:spPr>
      </p:sp>
      <p:pic>
        <p:nvPicPr>
          <p:cNvPr id="3" name="Image 0" descr="/tmp/claude-0/-home-claude/1d55af17-4c07-5715-bc68-ec714a3707f7/scratchpad/pptx-hi/logo-besar.png">    </p:cNvPr>
          <p:cNvPicPr>
            <a:picLocks noChangeAspect="1"/>
          </p:cNvPicPr>
          <p:nvPr/>
        </p:nvPicPr>
        <p:blipFill>
          <a:blip r:embed="rId1"/>
          <a:stretch>
            <a:fillRect/>
          </a:stretch>
        </p:blipFill>
        <p:spPr>
          <a:xfrm>
            <a:off x="1051560" y="685800"/>
            <a:ext cx="1143000" cy="1097280"/>
          </a:xfrm>
          <a:prstGeom prst="rect">
            <a:avLst/>
          </a:prstGeom>
        </p:spPr>
      </p:pic>
      <p:sp>
        <p:nvSpPr>
          <p:cNvPr id="4" name="Text 1"/>
          <p:cNvSpPr txBox="1"/>
          <p:nvPr/>
        </p:nvSpPr>
        <p:spPr>
          <a:xfrm>
            <a:off x="1051560" y="2011680"/>
            <a:ext cx="8229600" cy="365760"/>
          </a:xfrm>
          <a:prstGeom prst="rect">
            <a:avLst/>
          </a:prstGeom>
          <a:noFill/>
          <a:ln/>
        </p:spPr>
        <p:txBody>
          <a:bodyPr wrap="square" lIns="0" tIns="0" rIns="0" bIns="0" rtlCol="0" anchor="t"/>
          <a:lstStyle/>
          <a:p>
            <a:pPr indent="0" marL="0">
              <a:spcAft>
                <a:spcPts val="600"/>
              </a:spcAft>
              <a:buNone/>
            </a:pPr>
            <a:r>
              <a:rPr lang="en-US" sz="1400" b="1" spc="200" kern="0" dirty="0">
                <a:solidFill>
                  <a:srgbClr val="5F5F5F"/>
                </a:solidFill>
                <a:latin typeface="Arial" pitchFamily="34" charset="0"/>
                <a:ea typeface="Arial" pitchFamily="34" charset="-122"/>
                <a:cs typeface="Arial" pitchFamily="34" charset="-120"/>
              </a:rPr>
              <a:t>MATA KULIAH HUKUM INTERNASIONAL</a:t>
            </a:r>
            <a:endParaRPr lang="en-US" sz="1400" dirty="0"/>
          </a:p>
        </p:txBody>
      </p:sp>
      <p:sp>
        <p:nvSpPr>
          <p:cNvPr id="5" name="Text 2"/>
          <p:cNvSpPr txBox="1"/>
          <p:nvPr/>
        </p:nvSpPr>
        <p:spPr>
          <a:xfrm>
            <a:off x="1051560" y="2395728"/>
            <a:ext cx="10424160" cy="1508760"/>
          </a:xfrm>
          <a:prstGeom prst="rect">
            <a:avLst/>
          </a:prstGeom>
          <a:noFill/>
          <a:ln/>
        </p:spPr>
        <p:txBody>
          <a:bodyPr wrap="square" lIns="0" tIns="0" rIns="0" bIns="0" rtlCol="0" anchor="t"/>
          <a:lstStyle/>
          <a:p>
            <a:pPr indent="0" marL="0">
              <a:lnSpc>
                <a:spcPct val="100000"/>
              </a:lnSpc>
              <a:buNone/>
            </a:pPr>
            <a:r>
              <a:rPr lang="en-US" sz="4400" b="1" dirty="0">
                <a:solidFill>
                  <a:srgbClr val="7A1220"/>
                </a:solidFill>
                <a:latin typeface="Georgia" pitchFamily="34" charset="0"/>
                <a:ea typeface="Georgia" pitchFamily="34" charset="-122"/>
                <a:cs typeface="Georgia" pitchFamily="34" charset="-120"/>
              </a:rPr>
              <a:t>Pengertian dan Sejarah</a:t>
            </a:r>
            <a:endParaRPr lang="en-US" sz="4400" dirty="0"/>
          </a:p>
          <a:p>
            <a:pPr indent="0" marL="0">
              <a:lnSpc>
                <a:spcPct val="100000"/>
              </a:lnSpc>
              <a:buNone/>
            </a:pPr>
            <a:r>
              <a:rPr lang="en-US" sz="4400" b="1" dirty="0">
                <a:solidFill>
                  <a:srgbClr val="7A1220"/>
                </a:solidFill>
                <a:latin typeface="Georgia" pitchFamily="34" charset="0"/>
                <a:ea typeface="Georgia" pitchFamily="34" charset="-122"/>
                <a:cs typeface="Georgia" pitchFamily="34" charset="-120"/>
              </a:rPr>
              <a:t>Hukum Internasional</a:t>
            </a:r>
            <a:endParaRPr lang="en-US" sz="4400" dirty="0"/>
          </a:p>
        </p:txBody>
      </p:sp>
      <p:sp>
        <p:nvSpPr>
          <p:cNvPr id="6" name="Text 3"/>
          <p:cNvSpPr txBox="1"/>
          <p:nvPr/>
        </p:nvSpPr>
        <p:spPr>
          <a:xfrm>
            <a:off x="1051560" y="4005072"/>
            <a:ext cx="9875520" cy="777240"/>
          </a:xfrm>
          <a:prstGeom prst="rect">
            <a:avLst/>
          </a:prstGeom>
          <a:noFill/>
          <a:ln/>
        </p:spPr>
        <p:txBody>
          <a:bodyPr wrap="square" lIns="0" tIns="0" rIns="0" bIns="0" rtlCol="0" anchor="t"/>
          <a:lstStyle/>
          <a:p>
            <a:pPr indent="0" marL="0">
              <a:spcAft>
                <a:spcPts val="600"/>
              </a:spcAft>
              <a:buNone/>
            </a:pPr>
            <a:r>
              <a:rPr lang="en-US" sz="2000" i="1" dirty="0">
                <a:solidFill>
                  <a:srgbClr val="2B2B2B"/>
                </a:solidFill>
                <a:latin typeface="Georgia" pitchFamily="34" charset="0"/>
                <a:ea typeface="Georgia" pitchFamily="34" charset="-122"/>
                <a:cs typeface="Georgia" pitchFamily="34" charset="-120"/>
              </a:rPr>
              <a:t>Tidak ada polisi dunia. Lalu kenapa negara-negara tetap patuh?</a:t>
            </a:r>
            <a:endParaRPr lang="en-US" sz="2000" dirty="0"/>
          </a:p>
        </p:txBody>
      </p:sp>
      <p:sp>
        <p:nvSpPr>
          <p:cNvPr id="7" name="Shape 4"/>
          <p:cNvSpPr/>
          <p:nvPr/>
        </p:nvSpPr>
        <p:spPr>
          <a:xfrm>
            <a:off x="1051560" y="4937760"/>
            <a:ext cx="2926080" cy="0"/>
          </a:xfrm>
          <a:prstGeom prst="line">
            <a:avLst/>
          </a:prstGeom>
          <a:noFill/>
          <a:ln w="12700">
            <a:solidFill>
              <a:srgbClr val="D9D2CB"/>
            </a:solidFill>
            <a:prstDash val="solid"/>
          </a:ln>
        </p:spPr>
      </p:sp>
      <p:sp>
        <p:nvSpPr>
          <p:cNvPr id="8" name="Text 5"/>
          <p:cNvSpPr txBox="1"/>
          <p:nvPr/>
        </p:nvSpPr>
        <p:spPr>
          <a:xfrm>
            <a:off x="1051560" y="5074920"/>
            <a:ext cx="7315200" cy="1188720"/>
          </a:xfrm>
          <a:prstGeom prst="rect">
            <a:avLst/>
          </a:prstGeom>
          <a:noFill/>
          <a:ln/>
        </p:spPr>
        <p:txBody>
          <a:bodyPr wrap="square" lIns="0" tIns="0" rIns="0" bIns="0" rtlCol="0" anchor="t"/>
          <a:lstStyle/>
          <a:p>
            <a:pPr indent="0" marL="0">
              <a:spcAft>
                <a:spcPts val="200"/>
              </a:spcAft>
              <a:buNone/>
            </a:pPr>
            <a:r>
              <a:rPr lang="en-US" sz="1400" b="1" dirty="0">
                <a:solidFill>
                  <a:srgbClr val="5F5F5F"/>
                </a:solidFill>
                <a:latin typeface="Arial" pitchFamily="34" charset="0"/>
                <a:ea typeface="Arial" pitchFamily="34" charset="-122"/>
                <a:cs typeface="Arial" pitchFamily="34" charset="-120"/>
              </a:rPr>
              <a:t>Aditya Noviyansyah, S.H., M.H.</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Program Studi S1 Ilmu Hukum, Fakultas Hukum</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Universitas Islam Sultan Agung Semarang</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Pertemuan 1 | Semester Gasal 2026/2027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MULAI DARI YANG DEKAT</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Tanpa Sadar, Kamu Sudah Memakainya Hari Ini</a:t>
            </a:r>
            <a:endParaRPr lang="en-US" sz="2800" dirty="0"/>
          </a:p>
        </p:txBody>
      </p:sp>
      <p:sp>
        <p:nvSpPr>
          <p:cNvPr id="4" name="Text 2"/>
          <p:cNvSpPr txBox="1"/>
          <p:nvPr/>
        </p:nvSpPr>
        <p:spPr>
          <a:xfrm>
            <a:off x="502920" y="2011680"/>
            <a:ext cx="2560320" cy="640080"/>
          </a:xfrm>
          <a:prstGeom prst="rect">
            <a:avLst/>
          </a:prstGeom>
          <a:noFill/>
          <a:ln/>
        </p:spPr>
        <p:txBody>
          <a:bodyPr wrap="square" lIns="0" tIns="0" rIns="0" bIns="0" rtlCol="0" anchor="t"/>
          <a:lstStyle/>
          <a:p>
            <a:pPr indent="0" marL="0">
              <a:spcAft>
                <a:spcPts val="600"/>
              </a:spcAft>
              <a:buNone/>
            </a:pPr>
            <a:r>
              <a:rPr lang="en-US" sz="3600" b="1" dirty="0">
                <a:solidFill>
                  <a:srgbClr val="7A1220"/>
                </a:solidFill>
                <a:latin typeface="Georgia" pitchFamily="34" charset="0"/>
                <a:ea typeface="Georgia" pitchFamily="34" charset="-122"/>
                <a:cs typeface="Georgia" pitchFamily="34" charset="-120"/>
              </a:rPr>
              <a:t>1865</a:t>
            </a:r>
            <a:endParaRPr lang="en-US" sz="3600" dirty="0"/>
          </a:p>
        </p:txBody>
      </p:sp>
      <p:sp>
        <p:nvSpPr>
          <p:cNvPr id="5" name="Text 3"/>
          <p:cNvSpPr txBox="1"/>
          <p:nvPr/>
        </p:nvSpPr>
        <p:spPr>
          <a:xfrm>
            <a:off x="502920" y="2743200"/>
            <a:ext cx="2560320" cy="365760"/>
          </a:xfrm>
          <a:prstGeom prst="rect">
            <a:avLst/>
          </a:prstGeom>
          <a:noFill/>
          <a:ln/>
        </p:spPr>
        <p:txBody>
          <a:bodyPr wrap="square" lIns="0" tIns="0" rIns="0" bIns="0" rtlCol="0" anchor="t"/>
          <a:lstStyle/>
          <a:p>
            <a:pPr indent="0" marL="0">
              <a:spcAft>
                <a:spcPts val="600"/>
              </a:spcAft>
              <a:buNone/>
            </a:pPr>
            <a:r>
              <a:rPr lang="en-US" sz="1700" b="1" dirty="0">
                <a:solidFill>
                  <a:srgbClr val="2B2B2B"/>
                </a:solidFill>
                <a:latin typeface="Arial" pitchFamily="34" charset="0"/>
                <a:ea typeface="Arial" pitchFamily="34" charset="-122"/>
                <a:cs typeface="Arial" pitchFamily="34" charset="-120"/>
              </a:rPr>
              <a:t>Sinyal dan roaming</a:t>
            </a:r>
            <a:endParaRPr lang="en-US" sz="1700" dirty="0"/>
          </a:p>
        </p:txBody>
      </p:sp>
      <p:sp>
        <p:nvSpPr>
          <p:cNvPr id="6" name="Text 4"/>
          <p:cNvSpPr txBox="1"/>
          <p:nvPr/>
        </p:nvSpPr>
        <p:spPr>
          <a:xfrm>
            <a:off x="502920" y="3154680"/>
            <a:ext cx="2560320" cy="210312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Frekuensi dan jaringan antarnegara diatur bersama lewat International Telecommunication Union (ITU), salah satu organisasi internasional tertua.</a:t>
            </a:r>
            <a:endParaRPr lang="en-US" sz="1500" dirty="0"/>
          </a:p>
        </p:txBody>
      </p:sp>
      <p:sp>
        <p:nvSpPr>
          <p:cNvPr id="7" name="Shape 5"/>
          <p:cNvSpPr/>
          <p:nvPr/>
        </p:nvSpPr>
        <p:spPr>
          <a:xfrm>
            <a:off x="3182112" y="2103120"/>
            <a:ext cx="0" cy="3017520"/>
          </a:xfrm>
          <a:prstGeom prst="line">
            <a:avLst/>
          </a:prstGeom>
          <a:noFill/>
          <a:ln w="12700">
            <a:solidFill>
              <a:srgbClr val="D9D2CB"/>
            </a:solidFill>
            <a:prstDash val="solid"/>
          </a:ln>
        </p:spPr>
      </p:sp>
      <p:sp>
        <p:nvSpPr>
          <p:cNvPr id="8" name="Text 6"/>
          <p:cNvSpPr txBox="1"/>
          <p:nvPr/>
        </p:nvSpPr>
        <p:spPr>
          <a:xfrm>
            <a:off x="3346704" y="2011680"/>
            <a:ext cx="2560320" cy="640080"/>
          </a:xfrm>
          <a:prstGeom prst="rect">
            <a:avLst/>
          </a:prstGeom>
          <a:noFill/>
          <a:ln/>
        </p:spPr>
        <p:txBody>
          <a:bodyPr wrap="square" lIns="0" tIns="0" rIns="0" bIns="0" rtlCol="0" anchor="t"/>
          <a:lstStyle/>
          <a:p>
            <a:pPr indent="0" marL="0">
              <a:spcAft>
                <a:spcPts val="600"/>
              </a:spcAft>
              <a:buNone/>
            </a:pPr>
            <a:r>
              <a:rPr lang="en-US" sz="3600" b="1" dirty="0">
                <a:solidFill>
                  <a:srgbClr val="7A1220"/>
                </a:solidFill>
                <a:latin typeface="Georgia" pitchFamily="34" charset="0"/>
                <a:ea typeface="Georgia" pitchFamily="34" charset="-122"/>
                <a:cs typeface="Georgia" pitchFamily="34" charset="-120"/>
              </a:rPr>
              <a:t>1874</a:t>
            </a:r>
            <a:endParaRPr lang="en-US" sz="3600" dirty="0"/>
          </a:p>
        </p:txBody>
      </p:sp>
      <p:sp>
        <p:nvSpPr>
          <p:cNvPr id="9" name="Text 7"/>
          <p:cNvSpPr txBox="1"/>
          <p:nvPr/>
        </p:nvSpPr>
        <p:spPr>
          <a:xfrm>
            <a:off x="3346704" y="2743200"/>
            <a:ext cx="2560320" cy="365760"/>
          </a:xfrm>
          <a:prstGeom prst="rect">
            <a:avLst/>
          </a:prstGeom>
          <a:noFill/>
          <a:ln/>
        </p:spPr>
        <p:txBody>
          <a:bodyPr wrap="square" lIns="0" tIns="0" rIns="0" bIns="0" rtlCol="0" anchor="t"/>
          <a:lstStyle/>
          <a:p>
            <a:pPr indent="0" marL="0">
              <a:spcAft>
                <a:spcPts val="600"/>
              </a:spcAft>
              <a:buNone/>
            </a:pPr>
            <a:r>
              <a:rPr lang="en-US" sz="1700" b="1" dirty="0">
                <a:solidFill>
                  <a:srgbClr val="2B2B2B"/>
                </a:solidFill>
                <a:latin typeface="Arial" pitchFamily="34" charset="0"/>
                <a:ea typeface="Arial" pitchFamily="34" charset="-122"/>
                <a:cs typeface="Arial" pitchFamily="34" charset="-120"/>
              </a:rPr>
              <a:t>Paket dari luar negeri</a:t>
            </a:r>
            <a:endParaRPr lang="en-US" sz="1700" dirty="0"/>
          </a:p>
        </p:txBody>
      </p:sp>
      <p:sp>
        <p:nvSpPr>
          <p:cNvPr id="10" name="Text 8"/>
          <p:cNvSpPr txBox="1"/>
          <p:nvPr/>
        </p:nvSpPr>
        <p:spPr>
          <a:xfrm>
            <a:off x="3346704" y="3154680"/>
            <a:ext cx="2560320" cy="210312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Universal Postal Union menyatukan aturan pos, sehingga kiriman bisa melewati banyak negara dengan satu sistem.</a:t>
            </a:r>
            <a:endParaRPr lang="en-US" sz="1500" dirty="0"/>
          </a:p>
        </p:txBody>
      </p:sp>
      <p:sp>
        <p:nvSpPr>
          <p:cNvPr id="11" name="Shape 9"/>
          <p:cNvSpPr/>
          <p:nvPr/>
        </p:nvSpPr>
        <p:spPr>
          <a:xfrm>
            <a:off x="6025896" y="2103120"/>
            <a:ext cx="0" cy="3017520"/>
          </a:xfrm>
          <a:prstGeom prst="line">
            <a:avLst/>
          </a:prstGeom>
          <a:noFill/>
          <a:ln w="12700">
            <a:solidFill>
              <a:srgbClr val="D9D2CB"/>
            </a:solidFill>
            <a:prstDash val="solid"/>
          </a:ln>
        </p:spPr>
      </p:sp>
      <p:sp>
        <p:nvSpPr>
          <p:cNvPr id="12" name="Text 10"/>
          <p:cNvSpPr txBox="1"/>
          <p:nvPr/>
        </p:nvSpPr>
        <p:spPr>
          <a:xfrm>
            <a:off x="6190488" y="2011680"/>
            <a:ext cx="2560320" cy="640080"/>
          </a:xfrm>
          <a:prstGeom prst="rect">
            <a:avLst/>
          </a:prstGeom>
          <a:noFill/>
          <a:ln/>
        </p:spPr>
        <p:txBody>
          <a:bodyPr wrap="square" lIns="0" tIns="0" rIns="0" bIns="0" rtlCol="0" anchor="t"/>
          <a:lstStyle/>
          <a:p>
            <a:pPr indent="0" marL="0">
              <a:spcAft>
                <a:spcPts val="600"/>
              </a:spcAft>
              <a:buNone/>
            </a:pPr>
            <a:r>
              <a:rPr lang="en-US" sz="3600" b="1" dirty="0">
                <a:solidFill>
                  <a:srgbClr val="7A1220"/>
                </a:solidFill>
                <a:latin typeface="Georgia" pitchFamily="34" charset="0"/>
                <a:ea typeface="Georgia" pitchFamily="34" charset="-122"/>
                <a:cs typeface="Georgia" pitchFamily="34" charset="-120"/>
              </a:rPr>
              <a:t>1944</a:t>
            </a:r>
            <a:endParaRPr lang="en-US" sz="3600" dirty="0"/>
          </a:p>
        </p:txBody>
      </p:sp>
      <p:sp>
        <p:nvSpPr>
          <p:cNvPr id="13" name="Text 11"/>
          <p:cNvSpPr txBox="1"/>
          <p:nvPr/>
        </p:nvSpPr>
        <p:spPr>
          <a:xfrm>
            <a:off x="6190488" y="2743200"/>
            <a:ext cx="2560320" cy="365760"/>
          </a:xfrm>
          <a:prstGeom prst="rect">
            <a:avLst/>
          </a:prstGeom>
          <a:noFill/>
          <a:ln/>
        </p:spPr>
        <p:txBody>
          <a:bodyPr wrap="square" lIns="0" tIns="0" rIns="0" bIns="0" rtlCol="0" anchor="t"/>
          <a:lstStyle/>
          <a:p>
            <a:pPr indent="0" marL="0">
              <a:spcAft>
                <a:spcPts val="600"/>
              </a:spcAft>
              <a:buNone/>
            </a:pPr>
            <a:r>
              <a:rPr lang="en-US" sz="1700" b="1" dirty="0">
                <a:solidFill>
                  <a:srgbClr val="2B2B2B"/>
                </a:solidFill>
                <a:latin typeface="Arial" pitchFamily="34" charset="0"/>
                <a:ea typeface="Arial" pitchFamily="34" charset="-122"/>
                <a:cs typeface="Arial" pitchFamily="34" charset="-120"/>
              </a:rPr>
              <a:t>Paspor dan pesawat</a:t>
            </a:r>
            <a:endParaRPr lang="en-US" sz="1700" dirty="0"/>
          </a:p>
        </p:txBody>
      </p:sp>
      <p:sp>
        <p:nvSpPr>
          <p:cNvPr id="14" name="Text 12"/>
          <p:cNvSpPr txBox="1"/>
          <p:nvPr/>
        </p:nvSpPr>
        <p:spPr>
          <a:xfrm>
            <a:off x="6190488" y="3154680"/>
            <a:ext cx="2560320" cy="210312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Konvensi Chicago 1944 melahirkan ICAO. Standar paspor yang bisa dibaca mesin di bandara juga dari ICAO.</a:t>
            </a:r>
            <a:endParaRPr lang="en-US" sz="1500" dirty="0"/>
          </a:p>
        </p:txBody>
      </p:sp>
      <p:sp>
        <p:nvSpPr>
          <p:cNvPr id="15" name="Shape 13"/>
          <p:cNvSpPr/>
          <p:nvPr/>
        </p:nvSpPr>
        <p:spPr>
          <a:xfrm>
            <a:off x="8869680" y="2103120"/>
            <a:ext cx="0" cy="3017520"/>
          </a:xfrm>
          <a:prstGeom prst="line">
            <a:avLst/>
          </a:prstGeom>
          <a:noFill/>
          <a:ln w="12700">
            <a:solidFill>
              <a:srgbClr val="D9D2CB"/>
            </a:solidFill>
            <a:prstDash val="solid"/>
          </a:ln>
        </p:spPr>
      </p:sp>
      <p:sp>
        <p:nvSpPr>
          <p:cNvPr id="16" name="Text 14"/>
          <p:cNvSpPr txBox="1"/>
          <p:nvPr/>
        </p:nvSpPr>
        <p:spPr>
          <a:xfrm>
            <a:off x="9034272" y="2011680"/>
            <a:ext cx="2560320" cy="640080"/>
          </a:xfrm>
          <a:prstGeom prst="rect">
            <a:avLst/>
          </a:prstGeom>
          <a:noFill/>
          <a:ln/>
        </p:spPr>
        <p:txBody>
          <a:bodyPr wrap="square" lIns="0" tIns="0" rIns="0" bIns="0" rtlCol="0" anchor="t"/>
          <a:lstStyle/>
          <a:p>
            <a:pPr indent="0" marL="0">
              <a:spcAft>
                <a:spcPts val="600"/>
              </a:spcAft>
              <a:buNone/>
            </a:pPr>
            <a:r>
              <a:rPr lang="en-US" sz="3600" b="1" dirty="0">
                <a:solidFill>
                  <a:srgbClr val="7A1220"/>
                </a:solidFill>
                <a:latin typeface="Georgia" pitchFamily="34" charset="0"/>
                <a:ea typeface="Georgia" pitchFamily="34" charset="-122"/>
                <a:cs typeface="Georgia" pitchFamily="34" charset="-120"/>
              </a:rPr>
              <a:t>1982</a:t>
            </a:r>
            <a:endParaRPr lang="en-US" sz="3600" dirty="0"/>
          </a:p>
        </p:txBody>
      </p:sp>
      <p:sp>
        <p:nvSpPr>
          <p:cNvPr id="17" name="Text 15"/>
          <p:cNvSpPr txBox="1"/>
          <p:nvPr/>
        </p:nvSpPr>
        <p:spPr>
          <a:xfrm>
            <a:off x="9034272" y="2743200"/>
            <a:ext cx="2560320" cy="365760"/>
          </a:xfrm>
          <a:prstGeom prst="rect">
            <a:avLst/>
          </a:prstGeom>
          <a:noFill/>
          <a:ln/>
        </p:spPr>
        <p:txBody>
          <a:bodyPr wrap="square" lIns="0" tIns="0" rIns="0" bIns="0" rtlCol="0" anchor="t"/>
          <a:lstStyle/>
          <a:p>
            <a:pPr indent="0" marL="0">
              <a:spcAft>
                <a:spcPts val="600"/>
              </a:spcAft>
              <a:buNone/>
            </a:pPr>
            <a:r>
              <a:rPr lang="en-US" sz="1700" b="1" dirty="0">
                <a:solidFill>
                  <a:srgbClr val="2B2B2B"/>
                </a:solidFill>
                <a:latin typeface="Arial" pitchFamily="34" charset="0"/>
                <a:ea typeface="Arial" pitchFamily="34" charset="-122"/>
                <a:cs typeface="Arial" pitchFamily="34" charset="-120"/>
              </a:rPr>
              <a:t>Ikan di piringmu</a:t>
            </a:r>
            <a:endParaRPr lang="en-US" sz="1700" dirty="0"/>
          </a:p>
        </p:txBody>
      </p:sp>
      <p:sp>
        <p:nvSpPr>
          <p:cNvPr id="18" name="Text 16"/>
          <p:cNvSpPr txBox="1"/>
          <p:nvPr/>
        </p:nvSpPr>
        <p:spPr>
          <a:xfrm>
            <a:off x="9034272" y="3154680"/>
            <a:ext cx="2560320" cy="210312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UNCLOS memberi Indonesia hak berdaulat atas ikan di zona ekonomi eksklusif sampai 200 mil laut.</a:t>
            </a:r>
            <a:endParaRPr lang="en-US" sz="1500" dirty="0"/>
          </a:p>
        </p:txBody>
      </p:sp>
      <p:sp>
        <p:nvSpPr>
          <p:cNvPr id="19" name="Shape 17"/>
          <p:cNvSpPr/>
          <p:nvPr/>
        </p:nvSpPr>
        <p:spPr>
          <a:xfrm>
            <a:off x="502920" y="5349240"/>
            <a:ext cx="11183112" cy="0"/>
          </a:xfrm>
          <a:prstGeom prst="line">
            <a:avLst/>
          </a:prstGeom>
          <a:noFill/>
          <a:ln w="12700">
            <a:solidFill>
              <a:srgbClr val="D9D2CB"/>
            </a:solidFill>
            <a:prstDash val="solid"/>
          </a:ln>
        </p:spPr>
      </p:sp>
      <p:sp>
        <p:nvSpPr>
          <p:cNvPr id="20" name="Text 18"/>
          <p:cNvSpPr txBox="1"/>
          <p:nvPr/>
        </p:nvSpPr>
        <p:spPr>
          <a:xfrm>
            <a:off x="502920" y="5486400"/>
            <a:ext cx="11155680" cy="731520"/>
          </a:xfrm>
          <a:prstGeom prst="rect">
            <a:avLst/>
          </a:prstGeom>
          <a:noFill/>
          <a:ln/>
        </p:spPr>
        <p:txBody>
          <a:bodyPr wrap="square" lIns="0" tIns="0" rIns="0" bIns="0" rtlCol="0" anchor="t"/>
          <a:lstStyle/>
          <a:p>
            <a:pPr indent="0" marL="0">
              <a:spcAft>
                <a:spcPts val="600"/>
              </a:spcAft>
              <a:buNone/>
            </a:pPr>
            <a:r>
              <a:rPr lang="en-US" sz="1900" i="1" dirty="0">
                <a:solidFill>
                  <a:srgbClr val="7A1220"/>
                </a:solidFill>
                <a:latin typeface="Georgia" pitchFamily="34" charset="0"/>
                <a:ea typeface="Georgia" pitchFamily="34" charset="-122"/>
                <a:cs typeface="Georgia" pitchFamily="34" charset="-120"/>
              </a:rPr>
              <a:t>Hukum internasional bukan hanya urusan perang dan PBB. Setiap urusan yang melintasi batas negara butuh aturan bersama.</a:t>
            </a:r>
            <a:endParaRPr lang="en-US" sz="19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PENGERTIAN</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Apa Itu Hukum Internasional?</a:t>
            </a:r>
            <a:endParaRPr lang="en-US" sz="2800" dirty="0"/>
          </a:p>
        </p:txBody>
      </p:sp>
      <p:sp>
        <p:nvSpPr>
          <p:cNvPr id="4" name="Shape 2"/>
          <p:cNvSpPr/>
          <p:nvPr/>
        </p:nvSpPr>
        <p:spPr>
          <a:xfrm>
            <a:off x="548640" y="2057400"/>
            <a:ext cx="0" cy="2148840"/>
          </a:xfrm>
          <a:prstGeom prst="line">
            <a:avLst/>
          </a:prstGeom>
          <a:noFill/>
          <a:ln w="38100">
            <a:solidFill>
              <a:srgbClr val="7A1220"/>
            </a:solidFill>
            <a:prstDash val="solid"/>
          </a:ln>
        </p:spPr>
      </p:sp>
      <p:sp>
        <p:nvSpPr>
          <p:cNvPr id="5" name="Text 3"/>
          <p:cNvSpPr txBox="1"/>
          <p:nvPr/>
        </p:nvSpPr>
        <p:spPr>
          <a:xfrm>
            <a:off x="822960" y="2011680"/>
            <a:ext cx="6035040" cy="1828800"/>
          </a:xfrm>
          <a:prstGeom prst="rect">
            <a:avLst/>
          </a:prstGeom>
          <a:noFill/>
          <a:ln/>
        </p:spPr>
        <p:txBody>
          <a:bodyPr wrap="square" lIns="0" tIns="0" rIns="0" bIns="0" rtlCol="0" anchor="t"/>
          <a:lstStyle/>
          <a:p>
            <a:pPr indent="0" marL="0">
              <a:lnSpc>
                <a:spcPct val="110000"/>
              </a:lnSpc>
              <a:spcAft>
                <a:spcPts val="600"/>
              </a:spcAft>
              <a:buNone/>
            </a:pPr>
            <a:r>
              <a:rPr lang="en-US" sz="2000" dirty="0">
                <a:solidFill>
                  <a:srgbClr val="2B2B2B"/>
                </a:solidFill>
                <a:latin typeface="Georgia" pitchFamily="34" charset="0"/>
                <a:ea typeface="Georgia" pitchFamily="34" charset="-122"/>
                <a:cs typeface="Georgia" pitchFamily="34" charset="-120"/>
              </a:rPr>
              <a:t>Keseluruhan kaidah dan asas hukum yang mengatur hubungan atau persoalan yang melintasi batas negara: antara negara dengan negara, negara dengan subjek hukum lain, atau antarsubjek hukum bukan negara.</a:t>
            </a:r>
            <a:endParaRPr lang="en-US" sz="2000" dirty="0"/>
          </a:p>
        </p:txBody>
      </p:sp>
      <p:sp>
        <p:nvSpPr>
          <p:cNvPr id="6" name="Text 4"/>
          <p:cNvSpPr txBox="1"/>
          <p:nvPr/>
        </p:nvSpPr>
        <p:spPr>
          <a:xfrm>
            <a:off x="822960" y="3931920"/>
            <a:ext cx="6035040" cy="320040"/>
          </a:xfrm>
          <a:prstGeom prst="rect">
            <a:avLst/>
          </a:prstGeom>
          <a:noFill/>
          <a:ln/>
        </p:spPr>
        <p:txBody>
          <a:bodyPr wrap="square" lIns="0" tIns="0" rIns="0" bIns="0" rtlCol="0" anchor="t"/>
          <a:lstStyle/>
          <a:p>
            <a:pPr indent="0" marL="0">
              <a:spcAft>
                <a:spcPts val="600"/>
              </a:spcAft>
              <a:buNone/>
            </a:pPr>
            <a:r>
              <a:rPr lang="en-US" sz="1300" i="1" dirty="0">
                <a:solidFill>
                  <a:srgbClr val="5F5F5F"/>
                </a:solidFill>
                <a:latin typeface="Arial" pitchFamily="34" charset="0"/>
                <a:ea typeface="Arial" pitchFamily="34" charset="-122"/>
                <a:cs typeface="Arial" pitchFamily="34" charset="-120"/>
              </a:rPr>
              <a:t>Diringkas dari Mochtar Kusumaatmadja, Pengantar Hukum Internasional</a:t>
            </a:r>
            <a:endParaRPr lang="en-US" sz="1300" dirty="0"/>
          </a:p>
        </p:txBody>
      </p:sp>
      <p:sp>
        <p:nvSpPr>
          <p:cNvPr id="7" name="Text 5"/>
          <p:cNvSpPr txBox="1"/>
          <p:nvPr/>
        </p:nvSpPr>
        <p:spPr>
          <a:xfrm>
            <a:off x="822960" y="4663440"/>
            <a:ext cx="6035040" cy="731520"/>
          </a:xfrm>
          <a:prstGeom prst="rect">
            <a:avLst/>
          </a:prstGeom>
          <a:noFill/>
          <a:ln/>
        </p:spPr>
        <p:txBody>
          <a:bodyPr wrap="square" lIns="0" tIns="0" rIns="0" bIns="0" rtlCol="0" anchor="t"/>
          <a:lstStyle/>
          <a:p>
            <a:pPr indent="0" marL="0">
              <a:spcAft>
                <a:spcPts val="600"/>
              </a:spcAft>
              <a:buNone/>
            </a:pPr>
            <a:r>
              <a:rPr lang="en-US" sz="1700" b="1" dirty="0">
                <a:solidFill>
                  <a:srgbClr val="2B2B2B"/>
                </a:solidFill>
                <a:latin typeface="Arial" pitchFamily="34" charset="0"/>
                <a:ea typeface="Arial" pitchFamily="34" charset="-122"/>
                <a:cs typeface="Arial" pitchFamily="34" charset="-120"/>
              </a:rPr>
              <a:t>Kata kuncinya: </a:t>
            </a:r>
            <a:pPr indent="0" marL="0">
              <a:spcAft>
                <a:spcPts val="600"/>
              </a:spcAft>
              <a:buNone/>
            </a:pPr>
            <a:r>
              <a:rPr lang="en-US" sz="1700" b="1" dirty="0">
                <a:solidFill>
                  <a:srgbClr val="7A1220"/>
                </a:solidFill>
                <a:latin typeface="Arial" pitchFamily="34" charset="0"/>
                <a:ea typeface="Arial" pitchFamily="34" charset="-122"/>
                <a:cs typeface="Arial" pitchFamily="34" charset="-120"/>
              </a:rPr>
              <a:t>melintasi batas negara</a:t>
            </a:r>
            <a:pPr indent="0" marL="0">
              <a:spcAft>
                <a:spcPts val="600"/>
              </a:spcAft>
              <a:buNone/>
            </a:pPr>
            <a:r>
              <a:rPr lang="en-US" sz="1700" dirty="0">
                <a:solidFill>
                  <a:srgbClr val="2B2B2B"/>
                </a:solidFill>
                <a:latin typeface="Arial" pitchFamily="34" charset="0"/>
                <a:ea typeface="Arial" pitchFamily="34" charset="-122"/>
                <a:cs typeface="Arial" pitchFamily="34" charset="-120"/>
              </a:rPr>
              <a:t>. Pelakunya tidak selalu negara.</a:t>
            </a:r>
            <a:endParaRPr lang="en-US" sz="1700" dirty="0"/>
          </a:p>
        </p:txBody>
      </p:sp>
      <p:sp>
        <p:nvSpPr>
          <p:cNvPr id="8" name="Shape 6"/>
          <p:cNvSpPr/>
          <p:nvPr/>
        </p:nvSpPr>
        <p:spPr>
          <a:xfrm>
            <a:off x="7269480" y="2011680"/>
            <a:ext cx="0" cy="4206240"/>
          </a:xfrm>
          <a:prstGeom prst="line">
            <a:avLst/>
          </a:prstGeom>
          <a:noFill/>
          <a:ln w="12700">
            <a:solidFill>
              <a:srgbClr val="D9D2CB"/>
            </a:solidFill>
            <a:prstDash val="solid"/>
          </a:ln>
        </p:spPr>
      </p:sp>
      <p:sp>
        <p:nvSpPr>
          <p:cNvPr id="9" name="Text 7"/>
          <p:cNvSpPr txBox="1"/>
          <p:nvPr/>
        </p:nvSpPr>
        <p:spPr>
          <a:xfrm>
            <a:off x="7589520" y="2011680"/>
            <a:ext cx="4023360" cy="320040"/>
          </a:xfrm>
          <a:prstGeom prst="rect">
            <a:avLst/>
          </a:prstGeom>
          <a:noFill/>
          <a:ln/>
        </p:spPr>
        <p:txBody>
          <a:bodyPr wrap="square" lIns="0" tIns="0" rIns="0" bIns="0" rtlCol="0" anchor="t"/>
          <a:lstStyle/>
          <a:p>
            <a:pPr indent="0" marL="0">
              <a:spcAft>
                <a:spcPts val="600"/>
              </a:spcAft>
              <a:buNone/>
            </a:pPr>
            <a:r>
              <a:rPr lang="en-US" sz="1200" b="1" spc="200" kern="0" dirty="0">
                <a:solidFill>
                  <a:srgbClr val="5F5F5F"/>
                </a:solidFill>
                <a:latin typeface="Arial" pitchFamily="34" charset="0"/>
                <a:ea typeface="Arial" pitchFamily="34" charset="-122"/>
                <a:cs typeface="Arial" pitchFamily="34" charset="-120"/>
              </a:rPr>
              <a:t>JANGAN TERTUKAR</a:t>
            </a:r>
            <a:endParaRPr lang="en-US" sz="1200" dirty="0"/>
          </a:p>
        </p:txBody>
      </p:sp>
      <p:sp>
        <p:nvSpPr>
          <p:cNvPr id="10" name="Text 8"/>
          <p:cNvSpPr txBox="1"/>
          <p:nvPr/>
        </p:nvSpPr>
        <p:spPr>
          <a:xfrm>
            <a:off x="7589520" y="2423160"/>
            <a:ext cx="4069080" cy="160020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Hukum internasional publik</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Mengatur hubungan yang tidak bersifat perdata. Contoh: sengketa Pulau Sipadan dan Ligitan antara Indonesia dan Malaysia.</a:t>
            </a:r>
            <a:endParaRPr lang="en-US" sz="1500" dirty="0"/>
          </a:p>
        </p:txBody>
      </p:sp>
      <p:sp>
        <p:nvSpPr>
          <p:cNvPr id="11" name="Shape 9"/>
          <p:cNvSpPr/>
          <p:nvPr/>
        </p:nvSpPr>
        <p:spPr>
          <a:xfrm>
            <a:off x="7589520" y="4114800"/>
            <a:ext cx="4069080" cy="0"/>
          </a:xfrm>
          <a:prstGeom prst="line">
            <a:avLst/>
          </a:prstGeom>
          <a:noFill/>
          <a:ln w="12700">
            <a:solidFill>
              <a:srgbClr val="D9D2CB"/>
            </a:solidFill>
            <a:prstDash val="solid"/>
          </a:ln>
        </p:spPr>
      </p:sp>
      <p:sp>
        <p:nvSpPr>
          <p:cNvPr id="12" name="Text 10"/>
          <p:cNvSpPr txBox="1"/>
          <p:nvPr/>
        </p:nvSpPr>
        <p:spPr>
          <a:xfrm>
            <a:off x="7589520" y="4251960"/>
            <a:ext cx="4069080" cy="173736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Hukum perdata internasional</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Mengatur hubungan perdata yang melintasi batas negara. Contoh: WNI menikah dengan warga Jepang, hukum negara mana yang dipakai?</a:t>
            </a:r>
            <a:endParaRPr lang="en-US" sz="15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CIRI KHAS</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Horizontal, Bukan Vertikal</a:t>
            </a:r>
            <a:endParaRPr lang="en-US" sz="2800" dirty="0"/>
          </a:p>
        </p:txBody>
      </p:sp>
      <p:sp>
        <p:nvSpPr>
          <p:cNvPr id="4" name="Text 2"/>
          <p:cNvSpPr txBox="1"/>
          <p:nvPr/>
        </p:nvSpPr>
        <p:spPr>
          <a:xfrm>
            <a:off x="2880360" y="1920240"/>
            <a:ext cx="4206240" cy="411480"/>
          </a:xfrm>
          <a:prstGeom prst="rect">
            <a:avLst/>
          </a:prstGeom>
          <a:noFill/>
          <a:ln/>
        </p:spPr>
        <p:txBody>
          <a:bodyPr wrap="square" lIns="0" tIns="0" rIns="0" bIns="0" rtlCol="0" anchor="t"/>
          <a:lstStyle/>
          <a:p>
            <a:pPr indent="0" marL="0">
              <a:spcAft>
                <a:spcPts val="600"/>
              </a:spcAft>
              <a:buNone/>
            </a:pPr>
            <a:r>
              <a:rPr lang="en-US" sz="1900" b="1" dirty="0">
                <a:solidFill>
                  <a:srgbClr val="5F5F5F"/>
                </a:solidFill>
                <a:latin typeface="Georgia" pitchFamily="34" charset="0"/>
                <a:ea typeface="Georgia" pitchFamily="34" charset="-122"/>
                <a:cs typeface="Georgia" pitchFamily="34" charset="-120"/>
              </a:rPr>
              <a:t>Hukum nasional</a:t>
            </a:r>
            <a:endParaRPr lang="en-US" sz="1900" dirty="0"/>
          </a:p>
        </p:txBody>
      </p:sp>
      <p:sp>
        <p:nvSpPr>
          <p:cNvPr id="5" name="Text 3"/>
          <p:cNvSpPr txBox="1"/>
          <p:nvPr/>
        </p:nvSpPr>
        <p:spPr>
          <a:xfrm>
            <a:off x="7269480" y="1920240"/>
            <a:ext cx="4416552" cy="411480"/>
          </a:xfrm>
          <a:prstGeom prst="rect">
            <a:avLst/>
          </a:prstGeom>
          <a:noFill/>
          <a:ln/>
        </p:spPr>
        <p:txBody>
          <a:bodyPr wrap="square" lIns="0" tIns="0" rIns="0" bIns="0" rtlCol="0" anchor="t"/>
          <a:lstStyle/>
          <a:p>
            <a:pPr indent="0" marL="0">
              <a:spcAft>
                <a:spcPts val="600"/>
              </a:spcAft>
              <a:buNone/>
            </a:pPr>
            <a:r>
              <a:rPr lang="en-US" sz="1900" b="1" dirty="0">
                <a:solidFill>
                  <a:srgbClr val="7A1220"/>
                </a:solidFill>
                <a:latin typeface="Georgia" pitchFamily="34" charset="0"/>
                <a:ea typeface="Georgia" pitchFamily="34" charset="-122"/>
                <a:cs typeface="Georgia" pitchFamily="34" charset="-120"/>
              </a:rPr>
              <a:t>Hukum internasional</a:t>
            </a:r>
            <a:endParaRPr lang="en-US" sz="1900" dirty="0"/>
          </a:p>
        </p:txBody>
      </p:sp>
      <p:sp>
        <p:nvSpPr>
          <p:cNvPr id="6" name="Shape 4"/>
          <p:cNvSpPr/>
          <p:nvPr/>
        </p:nvSpPr>
        <p:spPr>
          <a:xfrm>
            <a:off x="502920" y="2395728"/>
            <a:ext cx="11183112" cy="0"/>
          </a:xfrm>
          <a:prstGeom prst="line">
            <a:avLst/>
          </a:prstGeom>
          <a:noFill/>
          <a:ln w="12700">
            <a:solidFill>
              <a:srgbClr val="D9D2CB"/>
            </a:solidFill>
            <a:prstDash val="solid"/>
          </a:ln>
        </p:spPr>
      </p:sp>
      <p:sp>
        <p:nvSpPr>
          <p:cNvPr id="7" name="Text 5"/>
          <p:cNvSpPr txBox="1"/>
          <p:nvPr/>
        </p:nvSpPr>
        <p:spPr>
          <a:xfrm>
            <a:off x="502920" y="2487168"/>
            <a:ext cx="2240280" cy="640080"/>
          </a:xfrm>
          <a:prstGeom prst="rect">
            <a:avLst/>
          </a:prstGeom>
          <a:noFill/>
          <a:ln/>
        </p:spPr>
        <p:txBody>
          <a:bodyPr wrap="square" lIns="0" tIns="0" rIns="0" bIns="0" rtlCol="0" anchor="t"/>
          <a:lstStyle/>
          <a:p>
            <a:pPr indent="0" marL="0">
              <a:spcAft>
                <a:spcPts val="600"/>
              </a:spcAft>
              <a:buNone/>
            </a:pPr>
            <a:r>
              <a:rPr lang="en-US" sz="1500" b="1" dirty="0">
                <a:solidFill>
                  <a:srgbClr val="5F5F5F"/>
                </a:solidFill>
                <a:latin typeface="Arial" pitchFamily="34" charset="0"/>
                <a:ea typeface="Arial" pitchFamily="34" charset="-122"/>
                <a:cs typeface="Arial" pitchFamily="34" charset="-120"/>
              </a:rPr>
              <a:t>Pembuat aturan</a:t>
            </a:r>
            <a:endParaRPr lang="en-US" sz="1500" dirty="0"/>
          </a:p>
        </p:txBody>
      </p:sp>
      <p:sp>
        <p:nvSpPr>
          <p:cNvPr id="8" name="Text 6"/>
          <p:cNvSpPr txBox="1"/>
          <p:nvPr/>
        </p:nvSpPr>
        <p:spPr>
          <a:xfrm>
            <a:off x="2880360" y="2487168"/>
            <a:ext cx="4206240" cy="64008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DPR bersama Presiden membentuk undang-undang</a:t>
            </a:r>
            <a:endParaRPr lang="en-US" sz="1500" dirty="0"/>
          </a:p>
        </p:txBody>
      </p:sp>
      <p:sp>
        <p:nvSpPr>
          <p:cNvPr id="9" name="Text 7"/>
          <p:cNvSpPr txBox="1"/>
          <p:nvPr/>
        </p:nvSpPr>
        <p:spPr>
          <a:xfrm>
            <a:off x="7269480" y="2487168"/>
            <a:ext cx="4416552" cy="64008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Tidak ada parlemen dunia. Negara sendiri yang membuat aturan lewat perjanjian dan kebiasaan</a:t>
            </a:r>
            <a:endParaRPr lang="en-US" sz="1500" dirty="0"/>
          </a:p>
        </p:txBody>
      </p:sp>
      <p:sp>
        <p:nvSpPr>
          <p:cNvPr id="10" name="Shape 8"/>
          <p:cNvSpPr/>
          <p:nvPr/>
        </p:nvSpPr>
        <p:spPr>
          <a:xfrm>
            <a:off x="502920" y="3154680"/>
            <a:ext cx="11183112" cy="0"/>
          </a:xfrm>
          <a:prstGeom prst="line">
            <a:avLst/>
          </a:prstGeom>
          <a:noFill/>
          <a:ln w="12700">
            <a:solidFill>
              <a:srgbClr val="D9D2CB"/>
            </a:solidFill>
            <a:prstDash val="solid"/>
          </a:ln>
        </p:spPr>
      </p:sp>
      <p:sp>
        <p:nvSpPr>
          <p:cNvPr id="11" name="Text 9"/>
          <p:cNvSpPr txBox="1"/>
          <p:nvPr/>
        </p:nvSpPr>
        <p:spPr>
          <a:xfrm>
            <a:off x="502920" y="3246120"/>
            <a:ext cx="2240280" cy="640080"/>
          </a:xfrm>
          <a:prstGeom prst="rect">
            <a:avLst/>
          </a:prstGeom>
          <a:noFill/>
          <a:ln/>
        </p:spPr>
        <p:txBody>
          <a:bodyPr wrap="square" lIns="0" tIns="0" rIns="0" bIns="0" rtlCol="0" anchor="t"/>
          <a:lstStyle/>
          <a:p>
            <a:pPr indent="0" marL="0">
              <a:spcAft>
                <a:spcPts val="600"/>
              </a:spcAft>
              <a:buNone/>
            </a:pPr>
            <a:r>
              <a:rPr lang="en-US" sz="1500" b="1" dirty="0">
                <a:solidFill>
                  <a:srgbClr val="5F5F5F"/>
                </a:solidFill>
                <a:latin typeface="Arial" pitchFamily="34" charset="0"/>
                <a:ea typeface="Arial" pitchFamily="34" charset="-122"/>
                <a:cs typeface="Arial" pitchFamily="34" charset="-120"/>
              </a:rPr>
              <a:t>Pengadilan</a:t>
            </a:r>
            <a:endParaRPr lang="en-US" sz="1500" dirty="0"/>
          </a:p>
        </p:txBody>
      </p:sp>
      <p:sp>
        <p:nvSpPr>
          <p:cNvPr id="12" name="Text 10"/>
          <p:cNvSpPr txBox="1"/>
          <p:nvPr/>
        </p:nvSpPr>
        <p:spPr>
          <a:xfrm>
            <a:off x="2880360" y="3246120"/>
            <a:ext cx="4206240" cy="64008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Wajib. Tergugat yang dipanggil harus datang</a:t>
            </a:r>
            <a:endParaRPr lang="en-US" sz="1500" dirty="0"/>
          </a:p>
        </p:txBody>
      </p:sp>
      <p:sp>
        <p:nvSpPr>
          <p:cNvPr id="13" name="Text 11"/>
          <p:cNvSpPr txBox="1"/>
          <p:nvPr/>
        </p:nvSpPr>
        <p:spPr>
          <a:xfrm>
            <a:off x="7269480" y="3246120"/>
            <a:ext cx="4416552" cy="64008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MI hanya mengadili bila negara yang bersengketa setuju (Pasal 36 Statuta MI)</a:t>
            </a:r>
            <a:endParaRPr lang="en-US" sz="1500" dirty="0"/>
          </a:p>
        </p:txBody>
      </p:sp>
      <p:sp>
        <p:nvSpPr>
          <p:cNvPr id="14" name="Shape 12"/>
          <p:cNvSpPr/>
          <p:nvPr/>
        </p:nvSpPr>
        <p:spPr>
          <a:xfrm>
            <a:off x="502920" y="3913632"/>
            <a:ext cx="11183112" cy="0"/>
          </a:xfrm>
          <a:prstGeom prst="line">
            <a:avLst/>
          </a:prstGeom>
          <a:noFill/>
          <a:ln w="12700">
            <a:solidFill>
              <a:srgbClr val="D9D2CB"/>
            </a:solidFill>
            <a:prstDash val="solid"/>
          </a:ln>
        </p:spPr>
      </p:sp>
      <p:sp>
        <p:nvSpPr>
          <p:cNvPr id="15" name="Text 13"/>
          <p:cNvSpPr txBox="1"/>
          <p:nvPr/>
        </p:nvSpPr>
        <p:spPr>
          <a:xfrm>
            <a:off x="502920" y="4005072"/>
            <a:ext cx="2240280" cy="640080"/>
          </a:xfrm>
          <a:prstGeom prst="rect">
            <a:avLst/>
          </a:prstGeom>
          <a:noFill/>
          <a:ln/>
        </p:spPr>
        <p:txBody>
          <a:bodyPr wrap="square" lIns="0" tIns="0" rIns="0" bIns="0" rtlCol="0" anchor="t"/>
          <a:lstStyle/>
          <a:p>
            <a:pPr indent="0" marL="0">
              <a:spcAft>
                <a:spcPts val="600"/>
              </a:spcAft>
              <a:buNone/>
            </a:pPr>
            <a:r>
              <a:rPr lang="en-US" sz="1500" b="1" dirty="0">
                <a:solidFill>
                  <a:srgbClr val="5F5F5F"/>
                </a:solidFill>
                <a:latin typeface="Arial" pitchFamily="34" charset="0"/>
                <a:ea typeface="Arial" pitchFamily="34" charset="-122"/>
                <a:cs typeface="Arial" pitchFamily="34" charset="-120"/>
              </a:rPr>
              <a:t>Penegakan</a:t>
            </a:r>
            <a:endParaRPr lang="en-US" sz="1500" dirty="0"/>
          </a:p>
        </p:txBody>
      </p:sp>
      <p:sp>
        <p:nvSpPr>
          <p:cNvPr id="16" name="Text 14"/>
          <p:cNvSpPr txBox="1"/>
          <p:nvPr/>
        </p:nvSpPr>
        <p:spPr>
          <a:xfrm>
            <a:off x="2880360" y="4005072"/>
            <a:ext cx="4206240" cy="64008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Polisi, jaksa, juru sita</a:t>
            </a:r>
            <a:endParaRPr lang="en-US" sz="1500" dirty="0"/>
          </a:p>
        </p:txBody>
      </p:sp>
      <p:sp>
        <p:nvSpPr>
          <p:cNvPr id="17" name="Text 15"/>
          <p:cNvSpPr txBox="1"/>
          <p:nvPr/>
        </p:nvSpPr>
        <p:spPr>
          <a:xfrm>
            <a:off x="7269480" y="4005072"/>
            <a:ext cx="4416552" cy="64008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Sanksi Dewan Keamanan (Bab VII Piagam PBB), tindakan balasan, tekanan diplomatik, reputasi</a:t>
            </a:r>
            <a:endParaRPr lang="en-US" sz="1500" dirty="0"/>
          </a:p>
        </p:txBody>
      </p:sp>
      <p:sp>
        <p:nvSpPr>
          <p:cNvPr id="18" name="Shape 16"/>
          <p:cNvSpPr/>
          <p:nvPr/>
        </p:nvSpPr>
        <p:spPr>
          <a:xfrm>
            <a:off x="502920" y="4672584"/>
            <a:ext cx="11183112" cy="0"/>
          </a:xfrm>
          <a:prstGeom prst="line">
            <a:avLst/>
          </a:prstGeom>
          <a:noFill/>
          <a:ln w="12700">
            <a:solidFill>
              <a:srgbClr val="D9D2CB"/>
            </a:solidFill>
            <a:prstDash val="solid"/>
          </a:ln>
        </p:spPr>
      </p:sp>
      <p:sp>
        <p:nvSpPr>
          <p:cNvPr id="19" name="Text 17"/>
          <p:cNvSpPr txBox="1"/>
          <p:nvPr/>
        </p:nvSpPr>
        <p:spPr>
          <a:xfrm>
            <a:off x="502920" y="4764024"/>
            <a:ext cx="2240280" cy="640080"/>
          </a:xfrm>
          <a:prstGeom prst="rect">
            <a:avLst/>
          </a:prstGeom>
          <a:noFill/>
          <a:ln/>
        </p:spPr>
        <p:txBody>
          <a:bodyPr wrap="square" lIns="0" tIns="0" rIns="0" bIns="0" rtlCol="0" anchor="t"/>
          <a:lstStyle/>
          <a:p>
            <a:pPr indent="0" marL="0">
              <a:spcAft>
                <a:spcPts val="600"/>
              </a:spcAft>
              <a:buNone/>
            </a:pPr>
            <a:r>
              <a:rPr lang="en-US" sz="1500" b="1" dirty="0">
                <a:solidFill>
                  <a:srgbClr val="5F5F5F"/>
                </a:solidFill>
                <a:latin typeface="Arial" pitchFamily="34" charset="0"/>
                <a:ea typeface="Arial" pitchFamily="34" charset="-122"/>
                <a:cs typeface="Arial" pitchFamily="34" charset="-120"/>
              </a:rPr>
              <a:t>Pola hubungan</a:t>
            </a:r>
            <a:endParaRPr lang="en-US" sz="1500" dirty="0"/>
          </a:p>
        </p:txBody>
      </p:sp>
      <p:sp>
        <p:nvSpPr>
          <p:cNvPr id="20" name="Text 18"/>
          <p:cNvSpPr txBox="1"/>
          <p:nvPr/>
        </p:nvSpPr>
        <p:spPr>
          <a:xfrm>
            <a:off x="2880360" y="4764024"/>
            <a:ext cx="4206240" cy="64008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Vertikal: negara di atas warganya</a:t>
            </a:r>
            <a:endParaRPr lang="en-US" sz="1500" dirty="0"/>
          </a:p>
        </p:txBody>
      </p:sp>
      <p:sp>
        <p:nvSpPr>
          <p:cNvPr id="21" name="Text 19"/>
          <p:cNvSpPr txBox="1"/>
          <p:nvPr/>
        </p:nvSpPr>
        <p:spPr>
          <a:xfrm>
            <a:off x="7269480" y="4764024"/>
            <a:ext cx="4416552" cy="64008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Horizontal: negara-negara sederajat (Pasal 2 ayat (1) Piagam PBB)</a:t>
            </a:r>
            <a:endParaRPr lang="en-US" sz="1500" dirty="0"/>
          </a:p>
        </p:txBody>
      </p:sp>
      <p:sp>
        <p:nvSpPr>
          <p:cNvPr id="22" name="Shape 20"/>
          <p:cNvSpPr/>
          <p:nvPr/>
        </p:nvSpPr>
        <p:spPr>
          <a:xfrm>
            <a:off x="502920" y="5431536"/>
            <a:ext cx="11183112" cy="0"/>
          </a:xfrm>
          <a:prstGeom prst="line">
            <a:avLst/>
          </a:prstGeom>
          <a:noFill/>
          <a:ln w="12700">
            <a:solidFill>
              <a:srgbClr val="D9D2CB"/>
            </a:solidFill>
            <a:prstDash val="solid"/>
          </a:ln>
        </p:spPr>
      </p:sp>
      <p:sp>
        <p:nvSpPr>
          <p:cNvPr id="23" name="Text 21"/>
          <p:cNvSpPr txBox="1"/>
          <p:nvPr/>
        </p:nvSpPr>
        <p:spPr>
          <a:xfrm>
            <a:off x="502920" y="5559552"/>
            <a:ext cx="5394960" cy="7315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Mitos  </a:t>
            </a:r>
            <a:pPr indent="0" marL="0">
              <a:spcAft>
                <a:spcPts val="600"/>
              </a:spcAft>
              <a:buNone/>
            </a:pPr>
            <a:r>
              <a:rPr lang="en-US" sz="1400" dirty="0">
                <a:solidFill>
                  <a:srgbClr val="2B2B2B"/>
                </a:solidFill>
                <a:latin typeface="Arial" pitchFamily="34" charset="0"/>
                <a:ea typeface="Arial" pitchFamily="34" charset="-122"/>
                <a:cs typeface="Arial" pitchFamily="34" charset="-120"/>
              </a:rPr>
              <a:t>Tanpa polisi dunia, hukum internasional hanya moral. John Austin menyebutnya positive morality.</a:t>
            </a:r>
            <a:endParaRPr lang="en-US" sz="1400" dirty="0"/>
          </a:p>
        </p:txBody>
      </p:sp>
      <p:sp>
        <p:nvSpPr>
          <p:cNvPr id="24" name="Text 22"/>
          <p:cNvSpPr txBox="1"/>
          <p:nvPr/>
        </p:nvSpPr>
        <p:spPr>
          <a:xfrm>
            <a:off x="6263640" y="5559552"/>
            <a:ext cx="5394960" cy="7315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Fakta  </a:t>
            </a:r>
            <a:pPr indent="0" marL="0">
              <a:spcAft>
                <a:spcPts val="600"/>
              </a:spcAft>
              <a:buNone/>
            </a:pPr>
            <a:r>
              <a:rPr lang="en-US" sz="1400" dirty="0">
                <a:solidFill>
                  <a:srgbClr val="2B2B2B"/>
                </a:solidFill>
                <a:latin typeface="Arial" pitchFamily="34" charset="0"/>
                <a:ea typeface="Arial" pitchFamily="34" charset="-122"/>
                <a:cs typeface="Arial" pitchFamily="34" charset="-120"/>
              </a:rPr>
              <a:t>Negara mematuhinya hampir setiap hari, karena butuh kepastian dan tidak mau kehilangan kepercayaan negara lain.</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SEJARAH SINGKAT</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Dari Kitab Siyar sampai Perjanjian Soal AI</a:t>
            </a:r>
            <a:endParaRPr lang="en-US" sz="2800" dirty="0"/>
          </a:p>
        </p:txBody>
      </p:sp>
      <p:sp>
        <p:nvSpPr>
          <p:cNvPr id="4" name="Shape 2"/>
          <p:cNvSpPr/>
          <p:nvPr/>
        </p:nvSpPr>
        <p:spPr>
          <a:xfrm>
            <a:off x="1810512" y="2103120"/>
            <a:ext cx="0" cy="4023360"/>
          </a:xfrm>
          <a:prstGeom prst="line">
            <a:avLst/>
          </a:prstGeom>
          <a:noFill/>
          <a:ln w="12700">
            <a:solidFill>
              <a:srgbClr val="D9D2CB"/>
            </a:solidFill>
            <a:prstDash val="solid"/>
          </a:ln>
        </p:spPr>
      </p:sp>
      <p:sp>
        <p:nvSpPr>
          <p:cNvPr id="5" name="Text 3"/>
          <p:cNvSpPr txBox="1"/>
          <p:nvPr/>
        </p:nvSpPr>
        <p:spPr>
          <a:xfrm>
            <a:off x="502920" y="1965960"/>
            <a:ext cx="1097280" cy="365760"/>
          </a:xfrm>
          <a:prstGeom prst="rect">
            <a:avLst/>
          </a:prstGeom>
          <a:noFill/>
          <a:ln/>
        </p:spPr>
        <p:txBody>
          <a:bodyPr wrap="square" lIns="0" tIns="0" rIns="0" bIns="0" rtlCol="0" anchor="t"/>
          <a:lstStyle/>
          <a:p>
            <a:pPr algn="r" indent="0" marL="0">
              <a:spcAft>
                <a:spcPts val="600"/>
              </a:spcAft>
              <a:buNone/>
            </a:pPr>
            <a:r>
              <a:rPr lang="en-US" sz="1700" b="1" dirty="0">
                <a:solidFill>
                  <a:srgbClr val="7A1220"/>
                </a:solidFill>
                <a:latin typeface="Georgia" pitchFamily="34" charset="0"/>
                <a:ea typeface="Georgia" pitchFamily="34" charset="-122"/>
                <a:cs typeface="Georgia" pitchFamily="34" charset="-120"/>
              </a:rPr>
              <a:t>Abad 8</a:t>
            </a:r>
            <a:endParaRPr lang="en-US" sz="1700" dirty="0"/>
          </a:p>
        </p:txBody>
      </p:sp>
      <p:sp>
        <p:nvSpPr>
          <p:cNvPr id="6" name="Shape 4"/>
          <p:cNvSpPr/>
          <p:nvPr/>
        </p:nvSpPr>
        <p:spPr>
          <a:xfrm>
            <a:off x="1719072" y="2066544"/>
            <a:ext cx="182880" cy="182880"/>
          </a:xfrm>
          <a:prstGeom prst="ellipse">
            <a:avLst/>
          </a:prstGeom>
          <a:solidFill>
            <a:srgbClr val="7A1220"/>
          </a:solidFill>
          <a:ln w="12700">
            <a:solidFill>
              <a:srgbClr val="7A1220"/>
            </a:solidFill>
            <a:prstDash val="solid"/>
          </a:ln>
        </p:spPr>
      </p:sp>
      <p:sp>
        <p:nvSpPr>
          <p:cNvPr id="7" name="Text 5"/>
          <p:cNvSpPr txBox="1"/>
          <p:nvPr/>
        </p:nvSpPr>
        <p:spPr>
          <a:xfrm>
            <a:off x="2103120" y="1984248"/>
            <a:ext cx="4983480" cy="658368"/>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Al-Syaibani menulis Kitab al-Siyar al-Kabir tentang hubungan negara Islam dengan bangsa lain, termasuk etika perang.</a:t>
            </a:r>
            <a:endParaRPr lang="en-US" sz="1400" dirty="0"/>
          </a:p>
        </p:txBody>
      </p:sp>
      <p:sp>
        <p:nvSpPr>
          <p:cNvPr id="8" name="Text 6"/>
          <p:cNvSpPr txBox="1"/>
          <p:nvPr/>
        </p:nvSpPr>
        <p:spPr>
          <a:xfrm>
            <a:off x="502920" y="2670048"/>
            <a:ext cx="1097280" cy="365760"/>
          </a:xfrm>
          <a:prstGeom prst="rect">
            <a:avLst/>
          </a:prstGeom>
          <a:noFill/>
          <a:ln/>
        </p:spPr>
        <p:txBody>
          <a:bodyPr wrap="square" lIns="0" tIns="0" rIns="0" bIns="0" rtlCol="0" anchor="t"/>
          <a:lstStyle/>
          <a:p>
            <a:pPr algn="r" indent="0" marL="0">
              <a:spcAft>
                <a:spcPts val="600"/>
              </a:spcAft>
              <a:buNone/>
            </a:pPr>
            <a:r>
              <a:rPr lang="en-US" sz="1700" b="1" dirty="0">
                <a:solidFill>
                  <a:srgbClr val="7A1220"/>
                </a:solidFill>
                <a:latin typeface="Georgia" pitchFamily="34" charset="0"/>
                <a:ea typeface="Georgia" pitchFamily="34" charset="-122"/>
                <a:cs typeface="Georgia" pitchFamily="34" charset="-120"/>
              </a:rPr>
              <a:t>1625</a:t>
            </a:r>
            <a:endParaRPr lang="en-US" sz="1700" dirty="0"/>
          </a:p>
        </p:txBody>
      </p:sp>
      <p:sp>
        <p:nvSpPr>
          <p:cNvPr id="9" name="Shape 7"/>
          <p:cNvSpPr/>
          <p:nvPr/>
        </p:nvSpPr>
        <p:spPr>
          <a:xfrm>
            <a:off x="1719072" y="2770632"/>
            <a:ext cx="182880" cy="182880"/>
          </a:xfrm>
          <a:prstGeom prst="ellipse">
            <a:avLst/>
          </a:prstGeom>
          <a:solidFill>
            <a:srgbClr val="7A1220"/>
          </a:solidFill>
          <a:ln w="12700">
            <a:solidFill>
              <a:srgbClr val="7A1220"/>
            </a:solidFill>
            <a:prstDash val="solid"/>
          </a:ln>
        </p:spPr>
      </p:sp>
      <p:sp>
        <p:nvSpPr>
          <p:cNvPr id="10" name="Text 8"/>
          <p:cNvSpPr txBox="1"/>
          <p:nvPr/>
        </p:nvSpPr>
        <p:spPr>
          <a:xfrm>
            <a:off x="2103120" y="2688336"/>
            <a:ext cx="4983480" cy="658368"/>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Hugo Grotius menerbitkan De Jure Belli ac Pacis. Ia sering disebut bapak hukum internasional.</a:t>
            </a:r>
            <a:endParaRPr lang="en-US" sz="1400" dirty="0"/>
          </a:p>
        </p:txBody>
      </p:sp>
      <p:sp>
        <p:nvSpPr>
          <p:cNvPr id="11" name="Text 9"/>
          <p:cNvSpPr txBox="1"/>
          <p:nvPr/>
        </p:nvSpPr>
        <p:spPr>
          <a:xfrm>
            <a:off x="502920" y="3374136"/>
            <a:ext cx="1097280" cy="365760"/>
          </a:xfrm>
          <a:prstGeom prst="rect">
            <a:avLst/>
          </a:prstGeom>
          <a:noFill/>
          <a:ln/>
        </p:spPr>
        <p:txBody>
          <a:bodyPr wrap="square" lIns="0" tIns="0" rIns="0" bIns="0" rtlCol="0" anchor="t"/>
          <a:lstStyle/>
          <a:p>
            <a:pPr algn="r" indent="0" marL="0">
              <a:spcAft>
                <a:spcPts val="600"/>
              </a:spcAft>
              <a:buNone/>
            </a:pPr>
            <a:r>
              <a:rPr lang="en-US" sz="1700" b="1" dirty="0">
                <a:solidFill>
                  <a:srgbClr val="7A1220"/>
                </a:solidFill>
                <a:latin typeface="Georgia" pitchFamily="34" charset="0"/>
                <a:ea typeface="Georgia" pitchFamily="34" charset="-122"/>
                <a:cs typeface="Georgia" pitchFamily="34" charset="-120"/>
              </a:rPr>
              <a:t>1648</a:t>
            </a:r>
            <a:endParaRPr lang="en-US" sz="1700" dirty="0"/>
          </a:p>
        </p:txBody>
      </p:sp>
      <p:sp>
        <p:nvSpPr>
          <p:cNvPr id="12" name="Shape 10"/>
          <p:cNvSpPr/>
          <p:nvPr/>
        </p:nvSpPr>
        <p:spPr>
          <a:xfrm>
            <a:off x="1719072" y="3474720"/>
            <a:ext cx="182880" cy="182880"/>
          </a:xfrm>
          <a:prstGeom prst="ellipse">
            <a:avLst/>
          </a:prstGeom>
          <a:solidFill>
            <a:srgbClr val="7A1220"/>
          </a:solidFill>
          <a:ln w="12700">
            <a:solidFill>
              <a:srgbClr val="7A1220"/>
            </a:solidFill>
            <a:prstDash val="solid"/>
          </a:ln>
        </p:spPr>
      </p:sp>
      <p:sp>
        <p:nvSpPr>
          <p:cNvPr id="13" name="Text 11"/>
          <p:cNvSpPr txBox="1"/>
          <p:nvPr/>
        </p:nvSpPr>
        <p:spPr>
          <a:xfrm>
            <a:off x="2103120" y="3392424"/>
            <a:ext cx="4983480" cy="658368"/>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Perdamaian Westphalia mengakhiri Perang Tiga Puluh Tahun. Lahir gagasan negara berdaulat yang sederajat.</a:t>
            </a:r>
            <a:endParaRPr lang="en-US" sz="1400" dirty="0"/>
          </a:p>
        </p:txBody>
      </p:sp>
      <p:sp>
        <p:nvSpPr>
          <p:cNvPr id="14" name="Text 12"/>
          <p:cNvSpPr txBox="1"/>
          <p:nvPr/>
        </p:nvSpPr>
        <p:spPr>
          <a:xfrm>
            <a:off x="502920" y="4078224"/>
            <a:ext cx="1097280" cy="365760"/>
          </a:xfrm>
          <a:prstGeom prst="rect">
            <a:avLst/>
          </a:prstGeom>
          <a:noFill/>
          <a:ln/>
        </p:spPr>
        <p:txBody>
          <a:bodyPr wrap="square" lIns="0" tIns="0" rIns="0" bIns="0" rtlCol="0" anchor="t"/>
          <a:lstStyle/>
          <a:p>
            <a:pPr algn="r" indent="0" marL="0">
              <a:spcAft>
                <a:spcPts val="600"/>
              </a:spcAft>
              <a:buNone/>
            </a:pPr>
            <a:r>
              <a:rPr lang="en-US" sz="1700" b="1" dirty="0">
                <a:solidFill>
                  <a:srgbClr val="7A1220"/>
                </a:solidFill>
                <a:latin typeface="Georgia" pitchFamily="34" charset="0"/>
                <a:ea typeface="Georgia" pitchFamily="34" charset="-122"/>
                <a:cs typeface="Georgia" pitchFamily="34" charset="-120"/>
              </a:rPr>
              <a:t>1920</a:t>
            </a:r>
            <a:endParaRPr lang="en-US" sz="1700" dirty="0"/>
          </a:p>
        </p:txBody>
      </p:sp>
      <p:sp>
        <p:nvSpPr>
          <p:cNvPr id="15" name="Shape 13"/>
          <p:cNvSpPr/>
          <p:nvPr/>
        </p:nvSpPr>
        <p:spPr>
          <a:xfrm>
            <a:off x="1719072" y="4178808"/>
            <a:ext cx="182880" cy="182880"/>
          </a:xfrm>
          <a:prstGeom prst="ellipse">
            <a:avLst/>
          </a:prstGeom>
          <a:solidFill>
            <a:srgbClr val="7A1220"/>
          </a:solidFill>
          <a:ln w="12700">
            <a:solidFill>
              <a:srgbClr val="7A1220"/>
            </a:solidFill>
            <a:prstDash val="solid"/>
          </a:ln>
        </p:spPr>
      </p:sp>
      <p:sp>
        <p:nvSpPr>
          <p:cNvPr id="16" name="Text 14"/>
          <p:cNvSpPr txBox="1"/>
          <p:nvPr/>
        </p:nvSpPr>
        <p:spPr>
          <a:xfrm>
            <a:off x="2103120" y="4096512"/>
            <a:ext cx="4983480" cy="658368"/>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Liga Bangsa-Bangsa berdiri, tetapi gagal mencegah Perang Dunia II.</a:t>
            </a:r>
            <a:endParaRPr lang="en-US" sz="1400" dirty="0"/>
          </a:p>
        </p:txBody>
      </p:sp>
      <p:sp>
        <p:nvSpPr>
          <p:cNvPr id="17" name="Text 15"/>
          <p:cNvSpPr txBox="1"/>
          <p:nvPr/>
        </p:nvSpPr>
        <p:spPr>
          <a:xfrm>
            <a:off x="502920" y="4782312"/>
            <a:ext cx="1097280" cy="365760"/>
          </a:xfrm>
          <a:prstGeom prst="rect">
            <a:avLst/>
          </a:prstGeom>
          <a:noFill/>
          <a:ln/>
        </p:spPr>
        <p:txBody>
          <a:bodyPr wrap="square" lIns="0" tIns="0" rIns="0" bIns="0" rtlCol="0" anchor="t"/>
          <a:lstStyle/>
          <a:p>
            <a:pPr algn="r" indent="0" marL="0">
              <a:spcAft>
                <a:spcPts val="600"/>
              </a:spcAft>
              <a:buNone/>
            </a:pPr>
            <a:r>
              <a:rPr lang="en-US" sz="1700" b="1" dirty="0">
                <a:solidFill>
                  <a:srgbClr val="7A1220"/>
                </a:solidFill>
                <a:latin typeface="Georgia" pitchFamily="34" charset="0"/>
                <a:ea typeface="Georgia" pitchFamily="34" charset="-122"/>
                <a:cs typeface="Georgia" pitchFamily="34" charset="-120"/>
              </a:rPr>
              <a:t>1945</a:t>
            </a:r>
            <a:endParaRPr lang="en-US" sz="1700" dirty="0"/>
          </a:p>
        </p:txBody>
      </p:sp>
      <p:sp>
        <p:nvSpPr>
          <p:cNvPr id="18" name="Shape 16"/>
          <p:cNvSpPr/>
          <p:nvPr/>
        </p:nvSpPr>
        <p:spPr>
          <a:xfrm>
            <a:off x="1719072" y="4882896"/>
            <a:ext cx="182880" cy="182880"/>
          </a:xfrm>
          <a:prstGeom prst="ellipse">
            <a:avLst/>
          </a:prstGeom>
          <a:solidFill>
            <a:srgbClr val="7A1220"/>
          </a:solidFill>
          <a:ln w="12700">
            <a:solidFill>
              <a:srgbClr val="7A1220"/>
            </a:solidFill>
            <a:prstDash val="solid"/>
          </a:ln>
        </p:spPr>
      </p:sp>
      <p:sp>
        <p:nvSpPr>
          <p:cNvPr id="19" name="Text 17"/>
          <p:cNvSpPr txBox="1"/>
          <p:nvPr/>
        </p:nvSpPr>
        <p:spPr>
          <a:xfrm>
            <a:off x="2103120" y="4800600"/>
            <a:ext cx="4983480" cy="658368"/>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PBB berdiri. Piagam PBB melarang ancaman dan penggunaan kekerasan (Pasal 2 ayat (4)).</a:t>
            </a:r>
            <a:endParaRPr lang="en-US" sz="1400" dirty="0"/>
          </a:p>
        </p:txBody>
      </p:sp>
      <p:sp>
        <p:nvSpPr>
          <p:cNvPr id="20" name="Text 18"/>
          <p:cNvSpPr txBox="1"/>
          <p:nvPr/>
        </p:nvSpPr>
        <p:spPr>
          <a:xfrm>
            <a:off x="502920" y="5486400"/>
            <a:ext cx="1097280" cy="365760"/>
          </a:xfrm>
          <a:prstGeom prst="rect">
            <a:avLst/>
          </a:prstGeom>
          <a:noFill/>
          <a:ln/>
        </p:spPr>
        <p:txBody>
          <a:bodyPr wrap="square" lIns="0" tIns="0" rIns="0" bIns="0" rtlCol="0" anchor="t"/>
          <a:lstStyle/>
          <a:p>
            <a:pPr algn="r" indent="0" marL="0">
              <a:spcAft>
                <a:spcPts val="600"/>
              </a:spcAft>
              <a:buNone/>
            </a:pPr>
            <a:r>
              <a:rPr lang="en-US" sz="1700" b="1" dirty="0">
                <a:solidFill>
                  <a:srgbClr val="7A1220"/>
                </a:solidFill>
                <a:latin typeface="Georgia" pitchFamily="34" charset="0"/>
                <a:ea typeface="Georgia" pitchFamily="34" charset="-122"/>
                <a:cs typeface="Georgia" pitchFamily="34" charset="-120"/>
              </a:rPr>
              <a:t>1955</a:t>
            </a:r>
            <a:endParaRPr lang="en-US" sz="1700" dirty="0"/>
          </a:p>
        </p:txBody>
      </p:sp>
      <p:sp>
        <p:nvSpPr>
          <p:cNvPr id="21" name="Shape 19"/>
          <p:cNvSpPr/>
          <p:nvPr/>
        </p:nvSpPr>
        <p:spPr>
          <a:xfrm>
            <a:off x="1719072" y="5586984"/>
            <a:ext cx="182880" cy="182880"/>
          </a:xfrm>
          <a:prstGeom prst="ellipse">
            <a:avLst/>
          </a:prstGeom>
          <a:solidFill>
            <a:srgbClr val="7A1220"/>
          </a:solidFill>
          <a:ln w="12700">
            <a:solidFill>
              <a:srgbClr val="7A1220"/>
            </a:solidFill>
            <a:prstDash val="solid"/>
          </a:ln>
        </p:spPr>
      </p:sp>
      <p:sp>
        <p:nvSpPr>
          <p:cNvPr id="22" name="Text 20"/>
          <p:cNvSpPr txBox="1"/>
          <p:nvPr/>
        </p:nvSpPr>
        <p:spPr>
          <a:xfrm>
            <a:off x="2103120" y="5504688"/>
            <a:ext cx="4983480" cy="658368"/>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Konferensi Asia Afrika di Bandung. Negara yang baru merdeka ikut menentukan arah hukum internasional.</a:t>
            </a:r>
            <a:endParaRPr lang="en-US" sz="1400" dirty="0"/>
          </a:p>
        </p:txBody>
      </p:sp>
      <p:sp>
        <p:nvSpPr>
          <p:cNvPr id="23" name="Shape 21"/>
          <p:cNvSpPr/>
          <p:nvPr/>
        </p:nvSpPr>
        <p:spPr>
          <a:xfrm>
            <a:off x="7406640" y="1965960"/>
            <a:ext cx="0" cy="4251960"/>
          </a:xfrm>
          <a:prstGeom prst="line">
            <a:avLst/>
          </a:prstGeom>
          <a:noFill/>
          <a:ln w="12700">
            <a:solidFill>
              <a:srgbClr val="D9D2CB"/>
            </a:solidFill>
            <a:prstDash val="solid"/>
          </a:ln>
        </p:spPr>
      </p:sp>
      <p:sp>
        <p:nvSpPr>
          <p:cNvPr id="24" name="Text 22"/>
          <p:cNvSpPr txBox="1"/>
          <p:nvPr/>
        </p:nvSpPr>
        <p:spPr>
          <a:xfrm>
            <a:off x="7680960" y="1965960"/>
            <a:ext cx="4023360" cy="320040"/>
          </a:xfrm>
          <a:prstGeom prst="rect">
            <a:avLst/>
          </a:prstGeom>
          <a:noFill/>
          <a:ln/>
        </p:spPr>
        <p:txBody>
          <a:bodyPr wrap="square" lIns="0" tIns="0" rIns="0" bIns="0" rtlCol="0" anchor="t"/>
          <a:lstStyle/>
          <a:p>
            <a:pPr indent="0" marL="0">
              <a:spcAft>
                <a:spcPts val="600"/>
              </a:spcAft>
              <a:buNone/>
            </a:pPr>
            <a:r>
              <a:rPr lang="en-US" sz="1200" b="1" spc="200" kern="0" dirty="0">
                <a:solidFill>
                  <a:srgbClr val="5F5F5F"/>
                </a:solidFill>
                <a:latin typeface="Arial" pitchFamily="34" charset="0"/>
                <a:ea typeface="Arial" pitchFamily="34" charset="-122"/>
                <a:cs typeface="Arial" pitchFamily="34" charset="-120"/>
              </a:rPr>
              <a:t>ERA KONTEMPORER: ISU BARU</a:t>
            </a:r>
            <a:endParaRPr lang="en-US" sz="1200" dirty="0"/>
          </a:p>
        </p:txBody>
      </p:sp>
      <p:sp>
        <p:nvSpPr>
          <p:cNvPr id="25" name="Text 23"/>
          <p:cNvSpPr txBox="1"/>
          <p:nvPr/>
        </p:nvSpPr>
        <p:spPr>
          <a:xfrm>
            <a:off x="7680960" y="2377440"/>
            <a:ext cx="1097280" cy="365760"/>
          </a:xfrm>
          <a:prstGeom prst="rect">
            <a:avLst/>
          </a:prstGeom>
          <a:noFill/>
          <a:ln/>
        </p:spPr>
        <p:txBody>
          <a:bodyPr wrap="square" lIns="0" tIns="0" rIns="0" bIns="0" rtlCol="0" anchor="t"/>
          <a:lstStyle/>
          <a:p>
            <a:pPr indent="0" marL="0">
              <a:spcAft>
                <a:spcPts val="600"/>
              </a:spcAft>
              <a:buNone/>
            </a:pPr>
            <a:r>
              <a:rPr lang="en-US" sz="1700" b="1" dirty="0">
                <a:solidFill>
                  <a:srgbClr val="7A1220"/>
                </a:solidFill>
                <a:latin typeface="Georgia" pitchFamily="34" charset="0"/>
                <a:ea typeface="Georgia" pitchFamily="34" charset="-122"/>
                <a:cs typeface="Georgia" pitchFamily="34" charset="-120"/>
              </a:rPr>
              <a:t>2024</a:t>
            </a:r>
            <a:endParaRPr lang="en-US" sz="1700" dirty="0"/>
          </a:p>
        </p:txBody>
      </p:sp>
      <p:sp>
        <p:nvSpPr>
          <p:cNvPr id="26" name="Text 24"/>
          <p:cNvSpPr txBox="1"/>
          <p:nvPr/>
        </p:nvSpPr>
        <p:spPr>
          <a:xfrm>
            <a:off x="7680960" y="2761488"/>
            <a:ext cx="3977640" cy="8686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Dewan Eropa membuka penandatanganan Konvensi Kerangka tentang Kecerdasan Artifisial, perjanjian mengikat pertama soal AI.</a:t>
            </a:r>
            <a:endParaRPr lang="en-US" sz="1400" dirty="0"/>
          </a:p>
        </p:txBody>
      </p:sp>
      <p:sp>
        <p:nvSpPr>
          <p:cNvPr id="27" name="Text 25"/>
          <p:cNvSpPr txBox="1"/>
          <p:nvPr/>
        </p:nvSpPr>
        <p:spPr>
          <a:xfrm>
            <a:off x="7680960" y="3675888"/>
            <a:ext cx="1097280" cy="365760"/>
          </a:xfrm>
          <a:prstGeom prst="rect">
            <a:avLst/>
          </a:prstGeom>
          <a:noFill/>
          <a:ln/>
        </p:spPr>
        <p:txBody>
          <a:bodyPr wrap="square" lIns="0" tIns="0" rIns="0" bIns="0" rtlCol="0" anchor="t"/>
          <a:lstStyle/>
          <a:p>
            <a:pPr indent="0" marL="0">
              <a:spcAft>
                <a:spcPts val="600"/>
              </a:spcAft>
              <a:buNone/>
            </a:pPr>
            <a:r>
              <a:rPr lang="en-US" sz="1700" b="1" dirty="0">
                <a:solidFill>
                  <a:srgbClr val="7A1220"/>
                </a:solidFill>
                <a:latin typeface="Georgia" pitchFamily="34" charset="0"/>
                <a:ea typeface="Georgia" pitchFamily="34" charset="-122"/>
                <a:cs typeface="Georgia" pitchFamily="34" charset="-120"/>
              </a:rPr>
              <a:t>2025</a:t>
            </a:r>
            <a:endParaRPr lang="en-US" sz="1700" dirty="0"/>
          </a:p>
        </p:txBody>
      </p:sp>
      <p:sp>
        <p:nvSpPr>
          <p:cNvPr id="28" name="Text 26"/>
          <p:cNvSpPr txBox="1"/>
          <p:nvPr/>
        </p:nvSpPr>
        <p:spPr>
          <a:xfrm>
            <a:off x="7680960" y="4059936"/>
            <a:ext cx="3977640" cy="8686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MI menyampaikan advisory opinion soal perubahan iklim (23 Juli 2025): negara wajib mencegah kerusakan sistem iklim.</a:t>
            </a:r>
            <a:endParaRPr lang="en-US" sz="1400" dirty="0"/>
          </a:p>
        </p:txBody>
      </p:sp>
      <p:sp>
        <p:nvSpPr>
          <p:cNvPr id="29" name="Text 27"/>
          <p:cNvSpPr txBox="1"/>
          <p:nvPr/>
        </p:nvSpPr>
        <p:spPr>
          <a:xfrm>
            <a:off x="7680960" y="4974336"/>
            <a:ext cx="1097280" cy="365760"/>
          </a:xfrm>
          <a:prstGeom prst="rect">
            <a:avLst/>
          </a:prstGeom>
          <a:noFill/>
          <a:ln/>
        </p:spPr>
        <p:txBody>
          <a:bodyPr wrap="square" lIns="0" tIns="0" rIns="0" bIns="0" rtlCol="0" anchor="t"/>
          <a:lstStyle/>
          <a:p>
            <a:pPr indent="0" marL="0">
              <a:spcAft>
                <a:spcPts val="600"/>
              </a:spcAft>
              <a:buNone/>
            </a:pPr>
            <a:r>
              <a:rPr lang="en-US" sz="1700" b="1" dirty="0">
                <a:solidFill>
                  <a:srgbClr val="7A1220"/>
                </a:solidFill>
                <a:latin typeface="Georgia" pitchFamily="34" charset="0"/>
                <a:ea typeface="Georgia" pitchFamily="34" charset="-122"/>
                <a:cs typeface="Georgia" pitchFamily="34" charset="-120"/>
              </a:rPr>
              <a:t>2026</a:t>
            </a:r>
            <a:endParaRPr lang="en-US" sz="1700" dirty="0"/>
          </a:p>
        </p:txBody>
      </p:sp>
      <p:sp>
        <p:nvSpPr>
          <p:cNvPr id="30" name="Text 28"/>
          <p:cNvSpPr txBox="1"/>
          <p:nvPr/>
        </p:nvSpPr>
        <p:spPr>
          <a:xfrm>
            <a:off x="7680960" y="5358384"/>
            <a:ext cx="3977640" cy="8686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Perjanjian Laut Lepas (BBNJ) berlaku sejak 17 Januari 2026.</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NILAI KEMANUSIAAN</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Banyak Aturannya Lahir Setelah Tragedi</a:t>
            </a:r>
            <a:endParaRPr lang="en-US" sz="2800" dirty="0"/>
          </a:p>
        </p:txBody>
      </p:sp>
      <p:sp>
        <p:nvSpPr>
          <p:cNvPr id="4" name="Text 2"/>
          <p:cNvSpPr txBox="1"/>
          <p:nvPr/>
        </p:nvSpPr>
        <p:spPr>
          <a:xfrm>
            <a:off x="502920" y="1920240"/>
            <a:ext cx="4206240" cy="274320"/>
          </a:xfrm>
          <a:prstGeom prst="rect">
            <a:avLst/>
          </a:prstGeom>
          <a:noFill/>
          <a:ln/>
        </p:spPr>
        <p:txBody>
          <a:bodyPr wrap="square" lIns="0" tIns="0" rIns="0" bIns="0" rtlCol="0" anchor="t"/>
          <a:lstStyle/>
          <a:p>
            <a:pPr indent="0" marL="0">
              <a:spcAft>
                <a:spcPts val="600"/>
              </a:spcAft>
              <a:buNone/>
            </a:pPr>
            <a:r>
              <a:rPr lang="en-US" sz="1200" b="1" spc="200" kern="0" dirty="0">
                <a:solidFill>
                  <a:srgbClr val="5F5F5F"/>
                </a:solidFill>
                <a:latin typeface="Arial" pitchFamily="34" charset="0"/>
                <a:ea typeface="Arial" pitchFamily="34" charset="-122"/>
                <a:cs typeface="Arial" pitchFamily="34" charset="-120"/>
              </a:rPr>
              <a:t>PERISTIWA</a:t>
            </a:r>
            <a:endParaRPr lang="en-US" sz="1200" dirty="0"/>
          </a:p>
        </p:txBody>
      </p:sp>
      <p:sp>
        <p:nvSpPr>
          <p:cNvPr id="5" name="Text 3"/>
          <p:cNvSpPr txBox="1"/>
          <p:nvPr/>
        </p:nvSpPr>
        <p:spPr>
          <a:xfrm>
            <a:off x="5532120" y="1920240"/>
            <a:ext cx="6126480" cy="274320"/>
          </a:xfrm>
          <a:prstGeom prst="rect">
            <a:avLst/>
          </a:prstGeom>
          <a:noFill/>
          <a:ln/>
        </p:spPr>
        <p:txBody>
          <a:bodyPr wrap="square" lIns="0" tIns="0" rIns="0" bIns="0" rtlCol="0" anchor="t"/>
          <a:lstStyle/>
          <a:p>
            <a:pPr indent="0" marL="0">
              <a:spcAft>
                <a:spcPts val="600"/>
              </a:spcAft>
              <a:buNone/>
            </a:pPr>
            <a:r>
              <a:rPr lang="en-US" sz="1200" b="1" spc="200" kern="0" dirty="0">
                <a:solidFill>
                  <a:srgbClr val="5F5F5F"/>
                </a:solidFill>
                <a:latin typeface="Arial" pitchFamily="34" charset="0"/>
                <a:ea typeface="Arial" pitchFamily="34" charset="-122"/>
                <a:cs typeface="Arial" pitchFamily="34" charset="-120"/>
              </a:rPr>
              <a:t>ATURAN YANG LAHIR</a:t>
            </a:r>
            <a:endParaRPr lang="en-US" sz="1200" dirty="0"/>
          </a:p>
        </p:txBody>
      </p:sp>
      <p:sp>
        <p:nvSpPr>
          <p:cNvPr id="6" name="Text 4"/>
          <p:cNvSpPr txBox="1"/>
          <p:nvPr/>
        </p:nvSpPr>
        <p:spPr>
          <a:xfrm>
            <a:off x="502920" y="2286000"/>
            <a:ext cx="4343400" cy="868680"/>
          </a:xfrm>
          <a:prstGeom prst="rect">
            <a:avLst/>
          </a:prstGeom>
          <a:noFill/>
          <a:ln/>
        </p:spPr>
        <p:txBody>
          <a:bodyPr wrap="square" lIns="0" tIns="0" rIns="0" bIns="0" rtlCol="0" anchor="t"/>
          <a:lstStyle/>
          <a:p>
            <a:pPr indent="0" marL="0">
              <a:spcAft>
                <a:spcPts val="600"/>
              </a:spcAft>
              <a:buNone/>
            </a:pPr>
            <a:r>
              <a:rPr lang="en-US" sz="1400" b="1" dirty="0">
                <a:solidFill>
                  <a:srgbClr val="2B2B2B"/>
                </a:solidFill>
                <a:latin typeface="Arial" pitchFamily="34" charset="0"/>
                <a:ea typeface="Arial" pitchFamily="34" charset="-122"/>
                <a:cs typeface="Arial" pitchFamily="34" charset="-120"/>
              </a:rPr>
              <a:t>1859, Solferino</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Ribuan tentara terluka dibiarkan tanpa perawatan. Henry Dunant menuliskan kesaksiannya.</a:t>
            </a:r>
            <a:endParaRPr lang="en-US" sz="1400" dirty="0"/>
          </a:p>
        </p:txBody>
      </p:sp>
      <p:sp>
        <p:nvSpPr>
          <p:cNvPr id="7" name="Shape 5"/>
          <p:cNvSpPr/>
          <p:nvPr/>
        </p:nvSpPr>
        <p:spPr>
          <a:xfrm>
            <a:off x="4983480" y="2514600"/>
            <a:ext cx="384048" cy="237744"/>
          </a:xfrm>
          <a:prstGeom prst="rightArrow">
            <a:avLst/>
          </a:prstGeom>
          <a:solidFill>
            <a:srgbClr val="D9D2CB"/>
          </a:solidFill>
          <a:ln w="12700">
            <a:solidFill>
              <a:srgbClr val="D9D2CB"/>
            </a:solidFill>
            <a:prstDash val="solid"/>
          </a:ln>
        </p:spPr>
      </p:sp>
      <p:sp>
        <p:nvSpPr>
          <p:cNvPr id="8" name="Text 6"/>
          <p:cNvSpPr txBox="1"/>
          <p:nvPr/>
        </p:nvSpPr>
        <p:spPr>
          <a:xfrm>
            <a:off x="5532120" y="2267712"/>
            <a:ext cx="914400" cy="411480"/>
          </a:xfrm>
          <a:prstGeom prst="rect">
            <a:avLst/>
          </a:prstGeom>
          <a:noFill/>
          <a:ln/>
        </p:spPr>
        <p:txBody>
          <a:bodyPr wrap="square" lIns="0" tIns="0" rIns="0" bIns="0" rtlCol="0" anchor="t"/>
          <a:lstStyle/>
          <a:p>
            <a:pPr indent="0" marL="0">
              <a:spcAft>
                <a:spcPts val="600"/>
              </a:spcAft>
              <a:buNone/>
            </a:pPr>
            <a:r>
              <a:rPr lang="en-US" sz="2000" b="1" dirty="0">
                <a:solidFill>
                  <a:srgbClr val="7A1220"/>
                </a:solidFill>
                <a:latin typeface="Georgia" pitchFamily="34" charset="0"/>
                <a:ea typeface="Georgia" pitchFamily="34" charset="-122"/>
                <a:cs typeface="Georgia" pitchFamily="34" charset="-120"/>
              </a:rPr>
              <a:t>1864</a:t>
            </a:r>
            <a:endParaRPr lang="en-US" sz="2000" dirty="0"/>
          </a:p>
        </p:txBody>
      </p:sp>
      <p:sp>
        <p:nvSpPr>
          <p:cNvPr id="9" name="Text 7"/>
          <p:cNvSpPr txBox="1"/>
          <p:nvPr/>
        </p:nvSpPr>
        <p:spPr>
          <a:xfrm>
            <a:off x="6446520" y="2286000"/>
            <a:ext cx="5212080" cy="8686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Konvensi Jenewa pertama melindungi tentara yang terluka dan petugas medis. Gerakan Palang Merah lahir.</a:t>
            </a:r>
            <a:endParaRPr lang="en-US" sz="1400" dirty="0"/>
          </a:p>
        </p:txBody>
      </p:sp>
      <p:sp>
        <p:nvSpPr>
          <p:cNvPr id="10" name="Text 8"/>
          <p:cNvSpPr txBox="1"/>
          <p:nvPr/>
        </p:nvSpPr>
        <p:spPr>
          <a:xfrm>
            <a:off x="502920" y="3246120"/>
            <a:ext cx="4343400" cy="868680"/>
          </a:xfrm>
          <a:prstGeom prst="rect">
            <a:avLst/>
          </a:prstGeom>
          <a:noFill/>
          <a:ln/>
        </p:spPr>
        <p:txBody>
          <a:bodyPr wrap="square" lIns="0" tIns="0" rIns="0" bIns="0" rtlCol="0" anchor="t"/>
          <a:lstStyle/>
          <a:p>
            <a:pPr indent="0" marL="0">
              <a:spcAft>
                <a:spcPts val="600"/>
              </a:spcAft>
              <a:buNone/>
            </a:pPr>
            <a:r>
              <a:rPr lang="en-US" sz="1400" b="1" dirty="0">
                <a:solidFill>
                  <a:srgbClr val="2B2B2B"/>
                </a:solidFill>
                <a:latin typeface="Arial" pitchFamily="34" charset="0"/>
                <a:ea typeface="Arial" pitchFamily="34" charset="-122"/>
                <a:cs typeface="Arial" pitchFamily="34" charset="-120"/>
              </a:rPr>
              <a:t>1939–1945, Perang Dunia II</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Kejahatan massal terhadap warga sipil, termasuk Holokaus.</a:t>
            </a:r>
            <a:endParaRPr lang="en-US" sz="1400" dirty="0"/>
          </a:p>
        </p:txBody>
      </p:sp>
      <p:sp>
        <p:nvSpPr>
          <p:cNvPr id="11" name="Shape 9"/>
          <p:cNvSpPr/>
          <p:nvPr/>
        </p:nvSpPr>
        <p:spPr>
          <a:xfrm>
            <a:off x="4983480" y="3474720"/>
            <a:ext cx="384048" cy="237744"/>
          </a:xfrm>
          <a:prstGeom prst="rightArrow">
            <a:avLst/>
          </a:prstGeom>
          <a:solidFill>
            <a:srgbClr val="D9D2CB"/>
          </a:solidFill>
          <a:ln w="12700">
            <a:solidFill>
              <a:srgbClr val="D9D2CB"/>
            </a:solidFill>
            <a:prstDash val="solid"/>
          </a:ln>
        </p:spPr>
      </p:sp>
      <p:sp>
        <p:nvSpPr>
          <p:cNvPr id="12" name="Text 10"/>
          <p:cNvSpPr txBox="1"/>
          <p:nvPr/>
        </p:nvSpPr>
        <p:spPr>
          <a:xfrm>
            <a:off x="5532120" y="3227832"/>
            <a:ext cx="914400" cy="411480"/>
          </a:xfrm>
          <a:prstGeom prst="rect">
            <a:avLst/>
          </a:prstGeom>
          <a:noFill/>
          <a:ln/>
        </p:spPr>
        <p:txBody>
          <a:bodyPr wrap="square" lIns="0" tIns="0" rIns="0" bIns="0" rtlCol="0" anchor="t"/>
          <a:lstStyle/>
          <a:p>
            <a:pPr indent="0" marL="0">
              <a:spcAft>
                <a:spcPts val="600"/>
              </a:spcAft>
              <a:buNone/>
            </a:pPr>
            <a:r>
              <a:rPr lang="en-US" sz="2000" b="1" dirty="0">
                <a:solidFill>
                  <a:srgbClr val="7A1220"/>
                </a:solidFill>
                <a:latin typeface="Georgia" pitchFamily="34" charset="0"/>
                <a:ea typeface="Georgia" pitchFamily="34" charset="-122"/>
                <a:cs typeface="Georgia" pitchFamily="34" charset="-120"/>
              </a:rPr>
              <a:t>1945</a:t>
            </a:r>
            <a:endParaRPr lang="en-US" sz="2000" dirty="0"/>
          </a:p>
        </p:txBody>
      </p:sp>
      <p:sp>
        <p:nvSpPr>
          <p:cNvPr id="13" name="Text 11"/>
          <p:cNvSpPr txBox="1"/>
          <p:nvPr/>
        </p:nvSpPr>
        <p:spPr>
          <a:xfrm>
            <a:off x="6446520" y="3246120"/>
            <a:ext cx="5212080" cy="8686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Pengadilan Nuremberg: individu dapat dipidana atas kejahatan internasional.</a:t>
            </a:r>
            <a:endParaRPr lang="en-US" sz="1400" dirty="0"/>
          </a:p>
        </p:txBody>
      </p:sp>
      <p:sp>
        <p:nvSpPr>
          <p:cNvPr id="14" name="Text 12"/>
          <p:cNvSpPr txBox="1"/>
          <p:nvPr/>
        </p:nvSpPr>
        <p:spPr>
          <a:xfrm>
            <a:off x="502920" y="4206240"/>
            <a:ext cx="4343400" cy="868680"/>
          </a:xfrm>
          <a:prstGeom prst="rect">
            <a:avLst/>
          </a:prstGeom>
          <a:noFill/>
          <a:ln/>
        </p:spPr>
        <p:txBody>
          <a:bodyPr wrap="square" lIns="0" tIns="0" rIns="0" bIns="0" rtlCol="0" anchor="t"/>
          <a:lstStyle/>
          <a:p>
            <a:pPr indent="0" marL="0">
              <a:spcAft>
                <a:spcPts val="600"/>
              </a:spcAft>
              <a:buNone/>
            </a:pPr>
            <a:r>
              <a:rPr lang="en-US" sz="1400" b="1" dirty="0">
                <a:solidFill>
                  <a:srgbClr val="2B2B2B"/>
                </a:solidFill>
                <a:latin typeface="Arial" pitchFamily="34" charset="0"/>
                <a:ea typeface="Arial" pitchFamily="34" charset="-122"/>
                <a:cs typeface="Arial" pitchFamily="34" charset="-120"/>
              </a:rPr>
              <a:t>1994, Rwanda</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Genosida menewaskan ratusan ribu orang dalam sekitar seratus hari.</a:t>
            </a:r>
            <a:endParaRPr lang="en-US" sz="1400" dirty="0"/>
          </a:p>
        </p:txBody>
      </p:sp>
      <p:sp>
        <p:nvSpPr>
          <p:cNvPr id="15" name="Shape 13"/>
          <p:cNvSpPr/>
          <p:nvPr/>
        </p:nvSpPr>
        <p:spPr>
          <a:xfrm>
            <a:off x="4983480" y="4434840"/>
            <a:ext cx="384048" cy="237744"/>
          </a:xfrm>
          <a:prstGeom prst="rightArrow">
            <a:avLst/>
          </a:prstGeom>
          <a:solidFill>
            <a:srgbClr val="D9D2CB"/>
          </a:solidFill>
          <a:ln w="12700">
            <a:solidFill>
              <a:srgbClr val="D9D2CB"/>
            </a:solidFill>
            <a:prstDash val="solid"/>
          </a:ln>
        </p:spPr>
      </p:sp>
      <p:sp>
        <p:nvSpPr>
          <p:cNvPr id="16" name="Text 14"/>
          <p:cNvSpPr txBox="1"/>
          <p:nvPr/>
        </p:nvSpPr>
        <p:spPr>
          <a:xfrm>
            <a:off x="5532120" y="4187952"/>
            <a:ext cx="914400" cy="411480"/>
          </a:xfrm>
          <a:prstGeom prst="rect">
            <a:avLst/>
          </a:prstGeom>
          <a:noFill/>
          <a:ln/>
        </p:spPr>
        <p:txBody>
          <a:bodyPr wrap="square" lIns="0" tIns="0" rIns="0" bIns="0" rtlCol="0" anchor="t"/>
          <a:lstStyle/>
          <a:p>
            <a:pPr indent="0" marL="0">
              <a:spcAft>
                <a:spcPts val="600"/>
              </a:spcAft>
              <a:buNone/>
            </a:pPr>
            <a:r>
              <a:rPr lang="en-US" sz="2000" b="1" dirty="0">
                <a:solidFill>
                  <a:srgbClr val="7A1220"/>
                </a:solidFill>
                <a:latin typeface="Georgia" pitchFamily="34" charset="0"/>
                <a:ea typeface="Georgia" pitchFamily="34" charset="-122"/>
                <a:cs typeface="Georgia" pitchFamily="34" charset="-120"/>
              </a:rPr>
              <a:t>1998</a:t>
            </a:r>
            <a:endParaRPr lang="en-US" sz="2000" dirty="0"/>
          </a:p>
        </p:txBody>
      </p:sp>
      <p:sp>
        <p:nvSpPr>
          <p:cNvPr id="17" name="Text 15"/>
          <p:cNvSpPr txBox="1"/>
          <p:nvPr/>
        </p:nvSpPr>
        <p:spPr>
          <a:xfrm>
            <a:off x="6446520" y="4206240"/>
            <a:ext cx="5212080" cy="8686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Statuta Roma membentuk Mahkamah Pidana Internasional (ICC), bekerja sejak 2002.</a:t>
            </a:r>
            <a:endParaRPr lang="en-US" sz="1400" dirty="0"/>
          </a:p>
        </p:txBody>
      </p:sp>
      <p:sp>
        <p:nvSpPr>
          <p:cNvPr id="18" name="Shape 16"/>
          <p:cNvSpPr/>
          <p:nvPr/>
        </p:nvSpPr>
        <p:spPr>
          <a:xfrm>
            <a:off x="502920" y="5212080"/>
            <a:ext cx="11183112" cy="0"/>
          </a:xfrm>
          <a:prstGeom prst="line">
            <a:avLst/>
          </a:prstGeom>
          <a:noFill/>
          <a:ln w="12700">
            <a:solidFill>
              <a:srgbClr val="D9D2CB"/>
            </a:solidFill>
            <a:prstDash val="solid"/>
          </a:ln>
        </p:spPr>
      </p:sp>
      <p:sp>
        <p:nvSpPr>
          <p:cNvPr id="19" name="Text 17"/>
          <p:cNvSpPr txBox="1"/>
          <p:nvPr/>
        </p:nvSpPr>
        <p:spPr>
          <a:xfrm>
            <a:off x="502920" y="5321808"/>
            <a:ext cx="5440680" cy="1005840"/>
          </a:xfrm>
          <a:prstGeom prst="rect">
            <a:avLst/>
          </a:prstGeom>
          <a:noFill/>
          <a:ln/>
        </p:spPr>
        <p:txBody>
          <a:bodyPr wrap="square" lIns="0" tIns="0" rIns="0" bIns="0" rtlCol="0" anchor="t"/>
          <a:lstStyle/>
          <a:p>
            <a:pPr indent="0" marL="0">
              <a:spcAft>
                <a:spcPts val="600"/>
              </a:spcAft>
              <a:buNone/>
            </a:pPr>
            <a:r>
              <a:rPr lang="en-US" sz="1300" b="1" dirty="0">
                <a:solidFill>
                  <a:srgbClr val="7A1220"/>
                </a:solidFill>
                <a:latin typeface="Arial" pitchFamily="34" charset="0"/>
                <a:ea typeface="Arial" pitchFamily="34" charset="-122"/>
                <a:cs typeface="Arial" pitchFamily="34" charset="-120"/>
              </a:rPr>
              <a:t>Dalam tradisi Islam</a:t>
            </a:r>
            <a:endParaRPr lang="en-US" sz="1300" dirty="0"/>
          </a:p>
          <a:p>
            <a:pPr indent="0" marL="0">
              <a:spcAft>
                <a:spcPts val="600"/>
              </a:spcAft>
              <a:buNone/>
            </a:pPr>
            <a:r>
              <a:rPr lang="en-US" sz="1300" dirty="0">
                <a:solidFill>
                  <a:srgbClr val="2B2B2B"/>
                </a:solidFill>
                <a:latin typeface="Arial" pitchFamily="34" charset="0"/>
                <a:ea typeface="Arial" pitchFamily="34" charset="-122"/>
                <a:cs typeface="Arial" pitchFamily="34" charset="-120"/>
              </a:rPr>
              <a:t>Pesan Abu Bakar kepada pasukannya: jangan membunuh anak, perempuan, dan orang tua, dan jangan menebang pohon yang berbuah (al-Muwatta, Imam Malik).</a:t>
            </a:r>
            <a:endParaRPr lang="en-US" sz="1300" dirty="0"/>
          </a:p>
        </p:txBody>
      </p:sp>
      <p:sp>
        <p:nvSpPr>
          <p:cNvPr id="20" name="Text 18"/>
          <p:cNvSpPr txBox="1"/>
          <p:nvPr/>
        </p:nvSpPr>
        <p:spPr>
          <a:xfrm>
            <a:off x="6263640" y="5321808"/>
            <a:ext cx="5394960" cy="1005840"/>
          </a:xfrm>
          <a:prstGeom prst="rect">
            <a:avLst/>
          </a:prstGeom>
          <a:noFill/>
          <a:ln/>
        </p:spPr>
        <p:txBody>
          <a:bodyPr wrap="square" lIns="0" tIns="0" rIns="0" bIns="0" rtlCol="0" anchor="t"/>
          <a:lstStyle/>
          <a:p>
            <a:pPr indent="0" marL="0">
              <a:spcAft>
                <a:spcPts val="600"/>
              </a:spcAft>
              <a:buNone/>
            </a:pPr>
            <a:r>
              <a:rPr lang="en-US" sz="1300" b="1" dirty="0">
                <a:solidFill>
                  <a:srgbClr val="7A1220"/>
                </a:solidFill>
                <a:latin typeface="Arial" pitchFamily="34" charset="0"/>
                <a:ea typeface="Arial" pitchFamily="34" charset="-122"/>
                <a:cs typeface="Arial" pitchFamily="34" charset="-120"/>
              </a:rPr>
              <a:t>Dalam konstitusi kita</a:t>
            </a:r>
            <a:endParaRPr lang="en-US" sz="1300" dirty="0"/>
          </a:p>
          <a:p>
            <a:pPr indent="0" marL="0">
              <a:spcAft>
                <a:spcPts val="600"/>
              </a:spcAft>
              <a:buNone/>
            </a:pPr>
            <a:r>
              <a:rPr lang="en-US" sz="1300" dirty="0">
                <a:solidFill>
                  <a:srgbClr val="2B2B2B"/>
                </a:solidFill>
                <a:latin typeface="Arial" pitchFamily="34" charset="0"/>
                <a:ea typeface="Arial" pitchFamily="34" charset="-122"/>
                <a:cs typeface="Arial" pitchFamily="34" charset="-120"/>
              </a:rPr>
              <a:t>Pembukaan UUD 1945 alinea keempat: ikut melaksanakan ketertiban dunia berdasarkan kemerdekaan, perdamaian abadi, dan keadilan sosial.</a:t>
            </a:r>
            <a:endParaRPr lang="en-US" sz="13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SEBELUM PULANG</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Cek Pemahaman</a:t>
            </a:r>
            <a:endParaRPr lang="en-US" sz="2800" dirty="0"/>
          </a:p>
        </p:txBody>
      </p:sp>
      <p:sp>
        <p:nvSpPr>
          <p:cNvPr id="4" name="Text 2"/>
          <p:cNvSpPr txBox="1"/>
          <p:nvPr/>
        </p:nvSpPr>
        <p:spPr>
          <a:xfrm>
            <a:off x="502920" y="19659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1</a:t>
            </a:r>
            <a:endParaRPr lang="en-US" sz="3000" dirty="0"/>
          </a:p>
        </p:txBody>
      </p:sp>
      <p:sp>
        <p:nvSpPr>
          <p:cNvPr id="5" name="Text 3"/>
          <p:cNvSpPr txBox="1"/>
          <p:nvPr/>
        </p:nvSpPr>
        <p:spPr>
          <a:xfrm>
            <a:off x="1051560" y="20116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Benar atau salah: hukum internasional bukan hukum karena tidak punya polisi. Beri satu alasan.</a:t>
            </a:r>
            <a:endParaRPr lang="en-US" sz="1600" dirty="0"/>
          </a:p>
        </p:txBody>
      </p:sp>
      <p:sp>
        <p:nvSpPr>
          <p:cNvPr id="6" name="Text 4"/>
          <p:cNvSpPr txBox="1"/>
          <p:nvPr/>
        </p:nvSpPr>
        <p:spPr>
          <a:xfrm>
            <a:off x="502920" y="33375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2</a:t>
            </a:r>
            <a:endParaRPr lang="en-US" sz="3000" dirty="0"/>
          </a:p>
        </p:txBody>
      </p:sp>
      <p:sp>
        <p:nvSpPr>
          <p:cNvPr id="7" name="Text 5"/>
          <p:cNvSpPr txBox="1"/>
          <p:nvPr/>
        </p:nvSpPr>
        <p:spPr>
          <a:xfrm>
            <a:off x="1051560" y="33832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Seorang WNI mewarisi rumah di Belanda. Ini urusan hukum internasional publik atau hukum perdata internasional?</a:t>
            </a:r>
            <a:endParaRPr lang="en-US" sz="1600" dirty="0"/>
          </a:p>
        </p:txBody>
      </p:sp>
      <p:sp>
        <p:nvSpPr>
          <p:cNvPr id="8" name="Text 6"/>
          <p:cNvSpPr txBox="1"/>
          <p:nvPr/>
        </p:nvSpPr>
        <p:spPr>
          <a:xfrm>
            <a:off x="502920" y="47091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3</a:t>
            </a:r>
            <a:endParaRPr lang="en-US" sz="3000" dirty="0"/>
          </a:p>
        </p:txBody>
      </p:sp>
      <p:sp>
        <p:nvSpPr>
          <p:cNvPr id="9" name="Text 7"/>
          <p:cNvSpPr txBox="1"/>
          <p:nvPr/>
        </p:nvSpPr>
        <p:spPr>
          <a:xfrm>
            <a:off x="1051560" y="47548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Mengapa Perdamaian Westphalia 1648 dianggap titik awal hukum internasional modern?</a:t>
            </a:r>
            <a:endParaRPr lang="en-US" sz="1600" dirty="0"/>
          </a:p>
        </p:txBody>
      </p:sp>
      <p:sp>
        <p:nvSpPr>
          <p:cNvPr id="10" name="Shape 8"/>
          <p:cNvSpPr/>
          <p:nvPr/>
        </p:nvSpPr>
        <p:spPr>
          <a:xfrm>
            <a:off x="7589520" y="2011680"/>
            <a:ext cx="0" cy="4160520"/>
          </a:xfrm>
          <a:prstGeom prst="line">
            <a:avLst/>
          </a:prstGeom>
          <a:noFill/>
          <a:ln w="12700">
            <a:solidFill>
              <a:srgbClr val="D9D2CB"/>
            </a:solidFill>
            <a:prstDash val="solid"/>
          </a:ln>
        </p:spPr>
      </p:sp>
      <p:sp>
        <p:nvSpPr>
          <p:cNvPr id="11" name="Text 9"/>
          <p:cNvSpPr txBox="1"/>
          <p:nvPr/>
        </p:nvSpPr>
        <p:spPr>
          <a:xfrm>
            <a:off x="7863840" y="2011680"/>
            <a:ext cx="3822192" cy="2286000"/>
          </a:xfrm>
          <a:prstGeom prst="rect">
            <a:avLst/>
          </a:prstGeom>
          <a:noFill/>
          <a:ln/>
        </p:spPr>
        <p:txBody>
          <a:bodyPr wrap="square" lIns="0" tIns="0" rIns="0" bIns="0" rtlCol="0" anchor="t"/>
          <a:lstStyle/>
          <a:p>
            <a:pPr indent="0" marL="0">
              <a:spcAft>
                <a:spcPts val="400"/>
              </a:spcAft>
              <a:buNone/>
            </a:pPr>
            <a:r>
              <a:rPr lang="en-US" sz="1400" b="1" dirty="0">
                <a:solidFill>
                  <a:srgbClr val="7A1220"/>
                </a:solidFill>
                <a:latin typeface="Arial" pitchFamily="34" charset="0"/>
                <a:ea typeface="Arial" pitchFamily="34" charset="-122"/>
                <a:cs typeface="Arial" pitchFamily="34" charset="-120"/>
              </a:rPr>
              <a:t>Bacaan</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Dixon (2013), Textbook on International Law, Bab 1 dan 2</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Purnomo (2021), Hukum Internasional: Suatu Pengantar, Bab 1</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Kusumaatmadja (2019), Pengantar Hukum Internasional</a:t>
            </a:r>
            <a:endParaRPr lang="en-US" sz="1400" dirty="0"/>
          </a:p>
        </p:txBody>
      </p:sp>
      <p:sp>
        <p:nvSpPr>
          <p:cNvPr id="12" name="Text 10"/>
          <p:cNvSpPr txBox="1"/>
          <p:nvPr/>
        </p:nvSpPr>
        <p:spPr>
          <a:xfrm>
            <a:off x="7863840" y="4526280"/>
            <a:ext cx="3822192" cy="16459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Pertemuan berikutnya</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Subjek dan sumber hukum internasional: siapa saja pemainnya, dan dari mana aturannya berasal.</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FH UNISSULA">
  <a:themeElements>
    <a:clrScheme name="FH UNISSULA">
      <a:dk1>
        <a:srgbClr val="2B2B2B"/>
      </a:dk1>
      <a:lt1>
        <a:srgbClr val="FFFFFF"/>
      </a:lt1>
      <a:dk2>
        <a:srgbClr val="7A1220"/>
      </a:dk2>
      <a:lt2>
        <a:srgbClr val="F7F4F0"/>
      </a:lt2>
      <a:accent1>
        <a:srgbClr val="7A1220"/>
      </a:accent1>
      <a:accent2>
        <a:srgbClr val="9C6B4E"/>
      </a:accent2>
      <a:accent3>
        <a:srgbClr val="4F6D7A"/>
      </a:accent3>
      <a:accent4>
        <a:srgbClr val="B08D57"/>
      </a:accent4>
      <a:accent5>
        <a:srgbClr val="6B6B6B"/>
      </a:accent5>
      <a:accent6>
        <a:srgbClr val="3E5641"/>
      </a:accent6>
      <a:hlink>
        <a:srgbClr val="7A1220"/>
      </a:hlink>
      <a:folHlink>
        <a:srgbClr val="5F5F5F"/>
      </a:folHlink>
    </a:clrScheme>
    <a:fontScheme name="FH UNISSUL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Fakultas Hukum UNISSULA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Pengertian dan Sejarah Hukum Internasional</dc:title>
  <dc:subject>Hukum Internasional, Pertemuan 1</dc:subject>
  <dc:creator>Aditya Noviyansyah, S.H., M.H.</dc:creator>
  <cp:lastModifiedBy>Aditya Noviyansyah, S.H., M.H.</cp:lastModifiedBy>
  <cp:revision>1</cp:revision>
  <dcterms:created xsi:type="dcterms:W3CDTF">2026-10-21T16:42:15Z</dcterms:created>
  <dcterms:modified xsi:type="dcterms:W3CDTF">2026-10-21T16:42:15Z</dcterms:modified>
</cp:coreProperties>
</file>