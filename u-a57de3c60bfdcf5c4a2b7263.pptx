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membuka peta di HP dan mencari Kepulauan Natuna. Tanyakan: sampai mana laut Indonesia di sekitar Natuna? Jawabannya dibangun lewat slide 2 dan 3.
Tujuan (Sub-CPMK5): mahasiswa mampu menganalisis pengaturan zona maritim dalam UNCLOS 1982 dan dasar-dasar hukum organisasi internasional.
Waktu kira-kira: zona maritim 35 menit, Natuna 25 menit, hak lintas 20 menit, organisasi internasional 30 menit, kuis 15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jarak diukur dari garis pangkal. Bagi Indonesia sebagai negara kepulauan, garis pangkalnya menghubungkan titik terluar pulau-pulau terluar (Pasal 47), sehingga perairan di dalamnya menjadi perairan kepulauan.
Bedakan kedaulatan dan hak berdaulat. Ini kunci untuk memahami kasus Natuna di slide berikut.
Landas kontinen bisa melewati 200 mil bila tepian kontinennya memang memanjang, dengan batas 350 mil atau 100 mil dari kedalaman 2.500 meter (Pasal 76).
Dasar hukum nasional: UU 17/1985 (pengesahan UNCLOS), UU 6/1996 tentang Perairan Indonesia, UU 5/1983 tentang ZEE Indonesia, UU 32/2014 tentang Kelautan.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Jawaban pertanyaan sampul: kapal asing yang menangkap ikan di ZEE Natuna tanpa izin melanggar hak berdaulat Indonesia, walaupun perairan itu bukan laut teritorial.
Putusan arbitrase 12 Juli 2016 dibentuk berdasarkan Lampiran VII UNCLOS. Tiongkok menolak ikut dan menolak putusannya. Indonesia bukan pihak perkara, tetapi putusan itu memperkuat posisi Indonesia.
Pasal 73 ayat (3) UNCLOS: hukuman atas pelanggaran perikanan di ZEE tidak boleh berupa penjara, kecuali ada perjanjian lain. Ini bahan diskusi menarik soal kebijakan penenggelaman kapal.
Pernyataan bersama 9 November 2024 butir 9 menyebut pengembangan bersama di area klaim tumpang tindih. Kemlu menjelaskan pada 11 November 2024 bahwa kerja sama itu tidak berarti pengakuan atas klaim Tiongkok.
Studi kasus untuk presentasi: minta kelompok menyusun argumen hukum Indonesia dalam satu halaman.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Huruf di kanan sengaja mengikuti huruf asli Pasal 19 ayat (2), jadi ada yang dilompati. Minta mahasiswa membuka pasalnya dan membaca sisanya.
Lintas damai berlaku di laut teritorial. Di ZEE berlaku kebebasan berlayar.
Tiga ALKI: ALKI I melalui Laut Natuna, Selat Karimata, dan Selat Sunda; ALKI II melalui Selat Makassar dan Selat Lombok; ALKI III melalui perairan Maluku menuju Laut Sawu dan sekitarnya. Rincian koordinatnya ada di PP 37/2002.
Pertanyaan: kapal riset asing berhenti dan mengambil sampel air di laut teritorial Indonesia. Lintas damai atau bukan? (Bukan, huruf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kiri menghubungkan dua topik hari ini: UNCLOS bukan hanya aturan, tetapi juga membentuk lembaga.
ISA berkedudukan di Kingston, Jamaika; ITLOS di Hamburg, Jerman; CLCS bersidang di Markas Besar PBB, New York.
Empat unsur di kanan adalah ringkasan umum dari literatur. Personalitas hukum organisasi internasional ditegaskan MI dalam Reparation for Injuries (1949), yang sudah kita bahas di Pertemuan 2.
Indonesia menyatakan keluar dari PBB lewat surat 20 Januari 1965 sebagai protes atas terpilihnya Malaysia di Dewan Keamanan, dan kembali pada 28 September 1966. Diskusi: Piagam PBB tidak mengatur penarikan diri. Lalu apa dasar hukumnya?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BBNJ: Agreement under UNCLOS on the Conservation and Sustainable Use of Marine Biological Diversity of Areas beyond National Jurisdiction, sering disebut Perjanjian Laut Lepas. Diadopsi Juni 2023, mulai berlaku 17 Januari 2026 setelah melewati 60 ratifikasi.
Empat pilar di kanan adalah isi utama perjanjian.
Kaitkan dengan Pertemuan 5: perjanjian ini menyangkut lingkungan hidup (Pasal 10 huruf d UU 24/2000), tetapi disahkan dengan perpres. Biarkan mahasiswa berdebat singkat.
Kaitkan juga dengan Pertemuan 1: hukum internasional terus menjawab masalah 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Kunci: (1) ZEE; hak berdaulat atas sumber daya ikan (Pasal 56 UNCLOS); (2) bukan, Pasal 19 ayat (2) huruf b; (3) dibentuk dengan perjanjian, anggotanya negara, organ tetap, personalitas hukum; contoh PBB atau ASEAN.
Untuk Pertemuan 7, bagi kelas menjadi dua delegasi dan satu tim mediator sejak sekarang.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ONTEN">
    <p:bg>
      <p:bgPr>
        <a:solidFill>
          <a:srgbClr val="FFFFFF"/>
        </a:solidFill>
      </p:bgPr>
    </p:bg>
    <p:spTree>
      <p:nvGrpSpPr>
        <p:cNvPr id="1" name=""/>
        <p:cNvGrpSpPr/>
        <p:nvPr/>
      </p:nvGrpSpPr>
      <p:grpSpPr>
        <a:xfrm>
          <a:off x="0" y="0"/>
          <a:ext cx="0" cy="0"/>
          <a:chOff x="0" y="0"/>
          <a:chExt cx="0" cy="0"/>
        </a:xfrm>
      </p:grpSpPr>
      <p:pic>
        <p:nvPicPr>
          <p:cNvPr id="2" name="Image 0" descr="/tmp/claude-0/-home-claude/1d55af17-4c07-5715-bc68-ec714a3707f7/scratchpad/pptx-hi/logo-kecil.png">    </p:cNvPr>
          <p:cNvPicPr>
            <a:picLocks noChangeAspect="1"/>
          </p:cNvPicPr>
          <p:nvPr/>
        </p:nvPicPr>
        <p:blipFill>
          <a:blip r:embed="rId1"/>
          <a:stretch>
            <a:fillRect/>
          </a:stretch>
        </p:blipFill>
        <p:spPr>
          <a:xfrm>
            <a:off x="502920" y="256032"/>
            <a:ext cx="384048" cy="365760"/>
          </a:xfrm>
          <a:prstGeom prst="rect">
            <a:avLst/>
          </a:prstGeom>
        </p:spPr>
      </p:pic>
      <p:sp>
        <p:nvSpPr>
          <p:cNvPr id="3" name="Text 0"/>
          <p:cNvSpPr/>
          <p:nvPr/>
        </p:nvSpPr>
        <p:spPr>
          <a:xfrm>
            <a:off x="978408" y="274320"/>
            <a:ext cx="5486400" cy="329184"/>
          </a:xfrm>
          <a:prstGeom prst="rect">
            <a:avLst/>
          </a:prstGeom>
          <a:noFill/>
          <a:ln/>
        </p:spPr>
        <p:txBody>
          <a:bodyPr wrap="square" lIns="0" tIns="0" rIns="0" bIns="0" rtlCol="0" anchor="ctr"/>
          <a:lstStyle/>
          <a:p>
            <a:pPr indent="0" marL="0">
              <a:buNone/>
            </a:pPr>
            <a:r>
              <a:rPr lang="en-US" sz="1100" dirty="0">
                <a:solidFill>
                  <a:srgbClr val="5F5F5F"/>
                </a:solidFill>
                <a:latin typeface="Arial" pitchFamily="34" charset="0"/>
                <a:ea typeface="Arial" pitchFamily="34" charset="-122"/>
                <a:cs typeface="Arial" pitchFamily="34" charset="-120"/>
              </a:rPr>
              <a:t>Fakultas Hukum Universitas Islam Sultan Agung</a:t>
            </a:r>
            <a:endParaRPr lang="en-US" sz="1100" dirty="0"/>
          </a:p>
        </p:txBody>
      </p:sp>
      <p:sp>
        <p:nvSpPr>
          <p:cNvPr id="4" name="Text 1"/>
          <p:cNvSpPr/>
          <p:nvPr/>
        </p:nvSpPr>
        <p:spPr>
          <a:xfrm>
            <a:off x="6675120" y="274320"/>
            <a:ext cx="5010912" cy="329184"/>
          </a:xfrm>
          <a:prstGeom prst="rect">
            <a:avLst/>
          </a:prstGeom>
          <a:noFill/>
          <a:ln/>
        </p:spPr>
        <p:txBody>
          <a:bodyPr wrap="square" lIns="0" tIns="0" rIns="0" bIns="0" rtlCol="0" anchor="ctr"/>
          <a:lstStyle/>
          <a:p>
            <a:pPr algn="r" indent="0" marL="0">
              <a:buNone/>
            </a:pPr>
            <a:r>
              <a:rPr lang="en-US" sz="1100" dirty="0">
                <a:solidFill>
                  <a:srgbClr val="5F5F5F"/>
                </a:solidFill>
                <a:latin typeface="Arial" pitchFamily="34" charset="0"/>
                <a:ea typeface="Arial" pitchFamily="34" charset="-122"/>
                <a:cs typeface="Arial" pitchFamily="34" charset="-120"/>
              </a:rPr>
              <a:t>Hukum Internasional | Pertemuan 6</a:t>
            </a:r>
            <a:endParaRPr lang="en-US" sz="1100" dirty="0"/>
          </a:p>
        </p:txBody>
      </p:sp>
      <p:sp>
        <p:nvSpPr>
          <p:cNvPr id="5" name="Shape 2"/>
          <p:cNvSpPr/>
          <p:nvPr/>
        </p:nvSpPr>
        <p:spPr>
          <a:xfrm>
            <a:off x="502920" y="749808"/>
            <a:ext cx="11183112" cy="0"/>
          </a:xfrm>
          <a:prstGeom prst="line">
            <a:avLst/>
          </a:prstGeom>
          <a:noFill/>
          <a:ln w="12700">
            <a:solidFill>
              <a:srgbClr val="D9D2CB"/>
            </a:solidFill>
            <a:prstDash val="solid"/>
          </a:ln>
        </p:spPr>
      </p:sp>
      <p:sp>
        <p:nvSpPr>
          <p:cNvPr id="6" name="Shape 3"/>
          <p:cNvSpPr/>
          <p:nvPr/>
        </p:nvSpPr>
        <p:spPr>
          <a:xfrm>
            <a:off x="502920" y="6400800"/>
            <a:ext cx="11183112" cy="0"/>
          </a:xfrm>
          <a:prstGeom prst="line">
            <a:avLst/>
          </a:prstGeom>
          <a:noFill/>
          <a:ln w="12700">
            <a:solidFill>
              <a:srgbClr val="D9D2CB"/>
            </a:solidFill>
            <a:prstDash val="solid"/>
          </a:ln>
        </p:spPr>
      </p:sp>
      <p:sp>
        <p:nvSpPr>
          <p:cNvPr id="7" name="Text 4"/>
          <p:cNvSpPr/>
          <p:nvPr/>
        </p:nvSpPr>
        <p:spPr>
          <a:xfrm>
            <a:off x="502920" y="6446520"/>
            <a:ext cx="5486400" cy="274320"/>
          </a:xfrm>
          <a:prstGeom prst="rect">
            <a:avLst/>
          </a:prstGeom>
          <a:noFill/>
          <a:ln/>
        </p:spPr>
        <p:txBody>
          <a:bodyPr wrap="square" lIns="0" tIns="0" rIns="0" bIns="0" rtlCol="0" anchor="ctr"/>
          <a:lstStyle/>
          <a:p>
            <a:pPr indent="0" marL="0">
              <a:buNone/>
            </a:pPr>
            <a:r>
              <a:rPr lang="en-US" sz="1000" dirty="0">
                <a:solidFill>
                  <a:srgbClr val="5F5F5F"/>
                </a:solidFill>
                <a:latin typeface="Arial" pitchFamily="34" charset="0"/>
                <a:ea typeface="Arial" pitchFamily="34" charset="-122"/>
                <a:cs typeface="Arial" pitchFamily="34" charset="-120"/>
              </a:rPr>
              <a:t>Aditya Noviyansyah, S.H., M.H.</a:t>
            </a:r>
            <a:endParaRPr lang="en-US" sz="10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40080"/>
            <a:ext cx="0" cy="5577840"/>
          </a:xfrm>
          <a:prstGeom prst="line">
            <a:avLst/>
          </a:prstGeom>
          <a:noFill/>
          <a:ln w="28575">
            <a:solidFill>
              <a:srgbClr val="7A1220"/>
            </a:solidFill>
            <a:prstDash val="solid"/>
          </a:ln>
        </p:spPr>
      </p:sp>
      <p:pic>
        <p:nvPicPr>
          <p:cNvPr id="3" name="Image 0" descr="/tmp/claude-0/-home-claude/1d55af17-4c07-5715-bc68-ec714a3707f7/scratchpad/pptx-hi/logo-besar.png">    </p:cNvPr>
          <p:cNvPicPr>
            <a:picLocks noChangeAspect="1"/>
          </p:cNvPicPr>
          <p:nvPr/>
        </p:nvPicPr>
        <p:blipFill>
          <a:blip r:embed="rId1"/>
          <a:stretch>
            <a:fillRect/>
          </a:stretch>
        </p:blipFill>
        <p:spPr>
          <a:xfrm>
            <a:off x="1051560" y="685800"/>
            <a:ext cx="1143000" cy="1097280"/>
          </a:xfrm>
          <a:prstGeom prst="rect">
            <a:avLst/>
          </a:prstGeom>
        </p:spPr>
      </p:pic>
      <p:sp>
        <p:nvSpPr>
          <p:cNvPr id="4" name="Text 1"/>
          <p:cNvSpPr txBox="1"/>
          <p:nvPr/>
        </p:nvSpPr>
        <p:spPr>
          <a:xfrm>
            <a:off x="1051560" y="2011680"/>
            <a:ext cx="8229600" cy="365760"/>
          </a:xfrm>
          <a:prstGeom prst="rect">
            <a:avLst/>
          </a:prstGeom>
          <a:noFill/>
          <a:ln/>
        </p:spPr>
        <p:txBody>
          <a:bodyPr wrap="square" lIns="0" tIns="0" rIns="0" bIns="0" rtlCol="0" anchor="t"/>
          <a:lstStyle/>
          <a:p>
            <a:pPr indent="0" marL="0">
              <a:spcAft>
                <a:spcPts val="600"/>
              </a:spcAft>
              <a:buNone/>
            </a:pPr>
            <a:r>
              <a:rPr lang="en-US" sz="1400" b="1" spc="200" kern="0" dirty="0">
                <a:solidFill>
                  <a:srgbClr val="5F5F5F"/>
                </a:solidFill>
                <a:latin typeface="Arial" pitchFamily="34" charset="0"/>
                <a:ea typeface="Arial" pitchFamily="34" charset="-122"/>
                <a:cs typeface="Arial" pitchFamily="34" charset="-120"/>
              </a:rPr>
              <a:t>MATA KULIAH HUKUM INTERNASIONAL</a:t>
            </a:r>
            <a:endParaRPr lang="en-US" sz="1400" dirty="0"/>
          </a:p>
        </p:txBody>
      </p:sp>
      <p:sp>
        <p:nvSpPr>
          <p:cNvPr id="5" name="Text 2"/>
          <p:cNvSpPr txBox="1"/>
          <p:nvPr/>
        </p:nvSpPr>
        <p:spPr>
          <a:xfrm>
            <a:off x="1051560" y="2395728"/>
            <a:ext cx="10424160" cy="1508760"/>
          </a:xfrm>
          <a:prstGeom prst="rect">
            <a:avLst/>
          </a:prstGeom>
          <a:noFill/>
          <a:ln/>
        </p:spPr>
        <p:txBody>
          <a:bodyPr wrap="square" lIns="0" tIns="0" rIns="0" bIns="0" rtlCol="0" anchor="t"/>
          <a:lstStyle/>
          <a:p>
            <a:pPr indent="0" marL="0">
              <a:lnSpc>
                <a:spcPct val="100000"/>
              </a:lnSpc>
              <a:buNone/>
            </a:pPr>
            <a:r>
              <a:rPr lang="en-US" sz="4400" b="1" dirty="0">
                <a:solidFill>
                  <a:srgbClr val="7A1220"/>
                </a:solidFill>
                <a:latin typeface="Georgia" pitchFamily="34" charset="0"/>
                <a:ea typeface="Georgia" pitchFamily="34" charset="-122"/>
                <a:cs typeface="Georgia" pitchFamily="34" charset="-120"/>
              </a:rPr>
              <a:t>Hukum Laut (UNCLOS 1982)</a:t>
            </a:r>
            <a:endParaRPr lang="en-US" sz="4400" dirty="0"/>
          </a:p>
          <a:p>
            <a:pPr indent="0" marL="0">
              <a:lnSpc>
                <a:spcPct val="100000"/>
              </a:lnSpc>
              <a:buNone/>
            </a:pPr>
            <a:r>
              <a:rPr lang="en-US" sz="4400" b="1" dirty="0">
                <a:solidFill>
                  <a:srgbClr val="7A1220"/>
                </a:solidFill>
                <a:latin typeface="Georgia" pitchFamily="34" charset="0"/>
                <a:ea typeface="Georgia" pitchFamily="34" charset="-122"/>
                <a:cs typeface="Georgia" pitchFamily="34" charset="-120"/>
              </a:rPr>
              <a:t>dan Organisasi Internasional</a:t>
            </a:r>
            <a:endParaRPr lang="en-US" sz="4400" dirty="0"/>
          </a:p>
        </p:txBody>
      </p:sp>
      <p:sp>
        <p:nvSpPr>
          <p:cNvPr id="6" name="Text 3"/>
          <p:cNvSpPr txBox="1"/>
          <p:nvPr/>
        </p:nvSpPr>
        <p:spPr>
          <a:xfrm>
            <a:off x="1051560" y="4005072"/>
            <a:ext cx="9875520" cy="777240"/>
          </a:xfrm>
          <a:prstGeom prst="rect">
            <a:avLst/>
          </a:prstGeom>
          <a:noFill/>
          <a:ln/>
        </p:spPr>
        <p:txBody>
          <a:bodyPr wrap="square" lIns="0" tIns="0" rIns="0" bIns="0" rtlCol="0" anchor="t"/>
          <a:lstStyle/>
          <a:p>
            <a:pPr indent="0" marL="0">
              <a:spcAft>
                <a:spcPts val="600"/>
              </a:spcAft>
              <a:buNone/>
            </a:pPr>
            <a:r>
              <a:rPr lang="en-US" sz="2000" i="1" dirty="0">
                <a:solidFill>
                  <a:srgbClr val="2B2B2B"/>
                </a:solidFill>
                <a:latin typeface="Georgia" pitchFamily="34" charset="0"/>
                <a:ea typeface="Georgia" pitchFamily="34" charset="-122"/>
                <a:cs typeface="Georgia" pitchFamily="34" charset="-120"/>
              </a:rPr>
              <a:t>Kapal ikan asing di Laut Natuna Utara: masuk wilayah kita atau bukan?</a:t>
            </a:r>
            <a:endParaRPr lang="en-US" sz="2000" dirty="0"/>
          </a:p>
        </p:txBody>
      </p:sp>
      <p:sp>
        <p:nvSpPr>
          <p:cNvPr id="7" name="Shape 4"/>
          <p:cNvSpPr/>
          <p:nvPr/>
        </p:nvSpPr>
        <p:spPr>
          <a:xfrm>
            <a:off x="1051560" y="4937760"/>
            <a:ext cx="2926080" cy="0"/>
          </a:xfrm>
          <a:prstGeom prst="line">
            <a:avLst/>
          </a:prstGeom>
          <a:noFill/>
          <a:ln w="12700">
            <a:solidFill>
              <a:srgbClr val="D9D2CB"/>
            </a:solidFill>
            <a:prstDash val="solid"/>
          </a:ln>
        </p:spPr>
      </p:sp>
      <p:sp>
        <p:nvSpPr>
          <p:cNvPr id="8" name="Text 5"/>
          <p:cNvSpPr txBox="1"/>
          <p:nvPr/>
        </p:nvSpPr>
        <p:spPr>
          <a:xfrm>
            <a:off x="1051560" y="5074920"/>
            <a:ext cx="7315200" cy="1188720"/>
          </a:xfrm>
          <a:prstGeom prst="rect">
            <a:avLst/>
          </a:prstGeom>
          <a:noFill/>
          <a:ln/>
        </p:spPr>
        <p:txBody>
          <a:bodyPr wrap="square" lIns="0" tIns="0" rIns="0" bIns="0" rtlCol="0" anchor="t"/>
          <a:lstStyle/>
          <a:p>
            <a:pPr indent="0" marL="0">
              <a:spcAft>
                <a:spcPts val="200"/>
              </a:spcAft>
              <a:buNone/>
            </a:pPr>
            <a:r>
              <a:rPr lang="en-US" sz="1400" b="1" dirty="0">
                <a:solidFill>
                  <a:srgbClr val="5F5F5F"/>
                </a:solidFill>
                <a:latin typeface="Arial" pitchFamily="34" charset="0"/>
                <a:ea typeface="Arial" pitchFamily="34" charset="-122"/>
                <a:cs typeface="Arial" pitchFamily="34" charset="-120"/>
              </a:rPr>
              <a:t>Aditya Noviyansyah, S.H., M.H.</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Program Studi S1 Ilmu Hukum, Fakultas Hukum</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Universitas Islam Sultan Agung Semarang</a:t>
            </a:r>
            <a:endParaRPr lang="en-US" sz="1400" dirty="0"/>
          </a:p>
          <a:p>
            <a:pPr indent="0" marL="0">
              <a:spcAft>
                <a:spcPts val="200"/>
              </a:spcAft>
              <a:buNone/>
            </a:pPr>
            <a:r>
              <a:rPr lang="en-US" sz="1400" dirty="0">
                <a:solidFill>
                  <a:srgbClr val="5F5F5F"/>
                </a:solidFill>
                <a:latin typeface="Arial" pitchFamily="34" charset="0"/>
                <a:ea typeface="Arial" pitchFamily="34" charset="-122"/>
                <a:cs typeface="Arial" pitchFamily="34" charset="-120"/>
              </a:rPr>
              <a:t>Pertemuan 6 | Semester Gasal 2026/2027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ZONA MARITIM</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Laut Itu Berlapis-lapis</a:t>
            </a:r>
            <a:endParaRPr lang="en-US" sz="2800" dirty="0"/>
          </a:p>
        </p:txBody>
      </p:sp>
      <p:sp>
        <p:nvSpPr>
          <p:cNvPr id="4" name="Text 2"/>
          <p:cNvSpPr/>
          <p:nvPr/>
        </p:nvSpPr>
        <p:spPr>
          <a:xfrm>
            <a:off x="502920" y="2377440"/>
            <a:ext cx="868680" cy="1965960"/>
          </a:xfrm>
          <a:prstGeom prst="rect">
            <a:avLst/>
          </a:prstGeom>
          <a:solidFill>
            <a:srgbClr val="D9D2CB"/>
          </a:solidFill>
          <a:ln>
            <a:solidFill>
              <a:srgbClr val="D9D2CB"/>
            </a:solidFill>
          </a:ln>
        </p:spPr>
        <p:txBody>
          <a:bodyPr wrap="square" lIns="0" tIns="0" rIns="0" bIns="0" rtlCol="0" anchor="ctr"/>
          <a:lstStyle/>
          <a:p>
            <a:pPr algn="ctr" indent="0" marL="0">
              <a:buNone/>
            </a:pPr>
            <a:r>
              <a:rPr lang="en-US" sz="1100" b="1" spc="100" kern="0" dirty="0">
                <a:solidFill>
                  <a:srgbClr val="5F5F5F"/>
                </a:solidFill>
                <a:latin typeface="Arial" pitchFamily="34" charset="0"/>
                <a:ea typeface="Arial" pitchFamily="34" charset="-122"/>
                <a:cs typeface="Arial" pitchFamily="34" charset="-120"/>
              </a:rPr>
              <a:t>DARAT</a:t>
            </a:r>
            <a:endParaRPr lang="en-US" sz="1100" dirty="0"/>
          </a:p>
        </p:txBody>
      </p:sp>
      <p:sp>
        <p:nvSpPr>
          <p:cNvPr id="5" name="Shape 3"/>
          <p:cNvSpPr/>
          <p:nvPr/>
        </p:nvSpPr>
        <p:spPr>
          <a:xfrm>
            <a:off x="1371600" y="3017520"/>
            <a:ext cx="10314432" cy="1325880"/>
          </a:xfrm>
          <a:prstGeom prst="rect">
            <a:avLst/>
          </a:prstGeom>
          <a:solidFill>
            <a:srgbClr val="F7F4F0"/>
          </a:solidFill>
          <a:ln w="12700">
            <a:solidFill>
              <a:srgbClr val="F7F4F0"/>
            </a:solidFill>
            <a:prstDash val="solid"/>
          </a:ln>
        </p:spPr>
      </p:sp>
      <p:sp>
        <p:nvSpPr>
          <p:cNvPr id="6" name="Shape 4"/>
          <p:cNvSpPr/>
          <p:nvPr/>
        </p:nvSpPr>
        <p:spPr>
          <a:xfrm>
            <a:off x="1371600" y="3017520"/>
            <a:ext cx="10314432" cy="0"/>
          </a:xfrm>
          <a:prstGeom prst="line">
            <a:avLst/>
          </a:prstGeom>
          <a:noFill/>
          <a:ln w="19050">
            <a:solidFill>
              <a:srgbClr val="7A1220"/>
            </a:solidFill>
            <a:prstDash val="solid"/>
          </a:ln>
        </p:spPr>
      </p:sp>
      <p:sp>
        <p:nvSpPr>
          <p:cNvPr id="7" name="Shape 5"/>
          <p:cNvSpPr/>
          <p:nvPr/>
        </p:nvSpPr>
        <p:spPr>
          <a:xfrm>
            <a:off x="1371600" y="4343400"/>
            <a:ext cx="10314432" cy="0"/>
          </a:xfrm>
          <a:prstGeom prst="line">
            <a:avLst/>
          </a:prstGeom>
          <a:noFill/>
          <a:ln w="19050">
            <a:solidFill>
              <a:srgbClr val="5F5F5F"/>
            </a:solidFill>
            <a:prstDash val="solid"/>
          </a:ln>
        </p:spPr>
      </p:sp>
      <p:sp>
        <p:nvSpPr>
          <p:cNvPr id="8" name="Text 6"/>
          <p:cNvSpPr txBox="1"/>
          <p:nvPr/>
        </p:nvSpPr>
        <p:spPr>
          <a:xfrm>
            <a:off x="1463040" y="1938528"/>
            <a:ext cx="1600200" cy="566928"/>
          </a:xfrm>
          <a:prstGeom prst="rect">
            <a:avLst/>
          </a:prstGeom>
          <a:noFill/>
          <a:ln/>
        </p:spPr>
        <p:txBody>
          <a:bodyPr wrap="square" lIns="0" tIns="0" rIns="0" bIns="0" rtlCol="0" anchor="b"/>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Laut teritorial</a:t>
            </a:r>
            <a:endParaRPr lang="en-US" sz="1400" dirty="0"/>
          </a:p>
        </p:txBody>
      </p:sp>
      <p:sp>
        <p:nvSpPr>
          <p:cNvPr id="9" name="Text 7"/>
          <p:cNvSpPr txBox="1"/>
          <p:nvPr/>
        </p:nvSpPr>
        <p:spPr>
          <a:xfrm>
            <a:off x="1463040" y="2560320"/>
            <a:ext cx="1600200" cy="320040"/>
          </a:xfrm>
          <a:prstGeom prst="rect">
            <a:avLst/>
          </a:prstGeom>
          <a:noFill/>
          <a:ln/>
        </p:spPr>
        <p:txBody>
          <a:bodyPr wrap="square" lIns="0" tIns="0" rIns="0" bIns="0" rtlCol="0" anchor="t"/>
          <a:lstStyle/>
          <a:p>
            <a:pPr indent="0" marL="0">
              <a:spcAft>
                <a:spcPts val="600"/>
              </a:spcAft>
              <a:buNone/>
            </a:pPr>
            <a:r>
              <a:rPr lang="en-US" sz="1300" dirty="0">
                <a:solidFill>
                  <a:srgbClr val="5F5F5F"/>
                </a:solidFill>
                <a:latin typeface="Arial" pitchFamily="34" charset="0"/>
                <a:ea typeface="Arial" pitchFamily="34" charset="-122"/>
                <a:cs typeface="Arial" pitchFamily="34" charset="-120"/>
              </a:rPr>
              <a:t>0–12 mil</a:t>
            </a:r>
            <a:endParaRPr lang="en-US" sz="1300" dirty="0"/>
          </a:p>
        </p:txBody>
      </p:sp>
      <p:sp>
        <p:nvSpPr>
          <p:cNvPr id="10" name="Text 8"/>
          <p:cNvSpPr txBox="1"/>
          <p:nvPr/>
        </p:nvSpPr>
        <p:spPr>
          <a:xfrm>
            <a:off x="1463040" y="3108960"/>
            <a:ext cx="1554480" cy="1188720"/>
          </a:xfrm>
          <a:prstGeom prst="rect">
            <a:avLst/>
          </a:prstGeom>
          <a:noFill/>
          <a:ln/>
        </p:spPr>
        <p:txBody>
          <a:bodyPr wrap="square" lIns="0" tIns="0" rIns="0" bIns="0" rtlCol="0" anchor="t"/>
          <a:lstStyle/>
          <a:p>
            <a:pPr indent="0" marL="0">
              <a:spcAft>
                <a:spcPts val="600"/>
              </a:spcAft>
              <a:buNone/>
            </a:pPr>
            <a:r>
              <a:rPr lang="en-US" sz="1300" dirty="0">
                <a:solidFill>
                  <a:srgbClr val="2B2B2B"/>
                </a:solidFill>
                <a:latin typeface="Arial" pitchFamily="34" charset="0"/>
                <a:ea typeface="Arial" pitchFamily="34" charset="-122"/>
                <a:cs typeface="Arial" pitchFamily="34" charset="-120"/>
              </a:rPr>
              <a:t>Kedaulatan penuh; kapal asing punya hak lintas damai (Pasal 2, 3, 17)</a:t>
            </a:r>
            <a:endParaRPr lang="en-US" sz="1300" dirty="0"/>
          </a:p>
        </p:txBody>
      </p:sp>
      <p:sp>
        <p:nvSpPr>
          <p:cNvPr id="11" name="Shape 9"/>
          <p:cNvSpPr/>
          <p:nvPr/>
        </p:nvSpPr>
        <p:spPr>
          <a:xfrm>
            <a:off x="3108960" y="1965960"/>
            <a:ext cx="0" cy="2377440"/>
          </a:xfrm>
          <a:prstGeom prst="line">
            <a:avLst/>
          </a:prstGeom>
          <a:noFill/>
          <a:ln w="12700">
            <a:solidFill>
              <a:srgbClr val="5F5F5F"/>
            </a:solidFill>
            <a:prstDash val="dash"/>
          </a:ln>
        </p:spPr>
      </p:sp>
      <p:sp>
        <p:nvSpPr>
          <p:cNvPr id="12" name="Text 10"/>
          <p:cNvSpPr txBox="1"/>
          <p:nvPr/>
        </p:nvSpPr>
        <p:spPr>
          <a:xfrm>
            <a:off x="3200400" y="1938528"/>
            <a:ext cx="1417320" cy="566928"/>
          </a:xfrm>
          <a:prstGeom prst="rect">
            <a:avLst/>
          </a:prstGeom>
          <a:noFill/>
          <a:ln/>
        </p:spPr>
        <p:txBody>
          <a:bodyPr wrap="square" lIns="0" tIns="0" rIns="0" bIns="0" rtlCol="0" anchor="b"/>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Zona tambahan</a:t>
            </a:r>
            <a:endParaRPr lang="en-US" sz="1400" dirty="0"/>
          </a:p>
        </p:txBody>
      </p:sp>
      <p:sp>
        <p:nvSpPr>
          <p:cNvPr id="13" name="Text 11"/>
          <p:cNvSpPr txBox="1"/>
          <p:nvPr/>
        </p:nvSpPr>
        <p:spPr>
          <a:xfrm>
            <a:off x="3200400" y="2560320"/>
            <a:ext cx="1417320" cy="320040"/>
          </a:xfrm>
          <a:prstGeom prst="rect">
            <a:avLst/>
          </a:prstGeom>
          <a:noFill/>
          <a:ln/>
        </p:spPr>
        <p:txBody>
          <a:bodyPr wrap="square" lIns="0" tIns="0" rIns="0" bIns="0" rtlCol="0" anchor="t"/>
          <a:lstStyle/>
          <a:p>
            <a:pPr indent="0" marL="0">
              <a:spcAft>
                <a:spcPts val="600"/>
              </a:spcAft>
              <a:buNone/>
            </a:pPr>
            <a:r>
              <a:rPr lang="en-US" sz="1300" dirty="0">
                <a:solidFill>
                  <a:srgbClr val="5F5F5F"/>
                </a:solidFill>
                <a:latin typeface="Arial" pitchFamily="34" charset="0"/>
                <a:ea typeface="Arial" pitchFamily="34" charset="-122"/>
                <a:cs typeface="Arial" pitchFamily="34" charset="-120"/>
              </a:rPr>
              <a:t>12–24 mil</a:t>
            </a:r>
            <a:endParaRPr lang="en-US" sz="1300" dirty="0"/>
          </a:p>
        </p:txBody>
      </p:sp>
      <p:sp>
        <p:nvSpPr>
          <p:cNvPr id="14" name="Text 12"/>
          <p:cNvSpPr txBox="1"/>
          <p:nvPr/>
        </p:nvSpPr>
        <p:spPr>
          <a:xfrm>
            <a:off x="3200400" y="3108960"/>
            <a:ext cx="1371600" cy="1188720"/>
          </a:xfrm>
          <a:prstGeom prst="rect">
            <a:avLst/>
          </a:prstGeom>
          <a:noFill/>
          <a:ln/>
        </p:spPr>
        <p:txBody>
          <a:bodyPr wrap="square" lIns="0" tIns="0" rIns="0" bIns="0" rtlCol="0" anchor="t"/>
          <a:lstStyle/>
          <a:p>
            <a:pPr indent="0" marL="0">
              <a:spcAft>
                <a:spcPts val="600"/>
              </a:spcAft>
              <a:buNone/>
            </a:pPr>
            <a:r>
              <a:rPr lang="en-US" sz="1300" dirty="0">
                <a:solidFill>
                  <a:srgbClr val="2B2B2B"/>
                </a:solidFill>
                <a:latin typeface="Arial" pitchFamily="34" charset="0"/>
                <a:ea typeface="Arial" pitchFamily="34" charset="-122"/>
                <a:cs typeface="Arial" pitchFamily="34" charset="-120"/>
              </a:rPr>
              <a:t>Pengawasan bea cukai, imigrasi, karantina (Pasal 33)</a:t>
            </a:r>
            <a:endParaRPr lang="en-US" sz="1300" dirty="0"/>
          </a:p>
        </p:txBody>
      </p:sp>
      <p:sp>
        <p:nvSpPr>
          <p:cNvPr id="15" name="Shape 13"/>
          <p:cNvSpPr/>
          <p:nvPr/>
        </p:nvSpPr>
        <p:spPr>
          <a:xfrm>
            <a:off x="4663440" y="1965960"/>
            <a:ext cx="0" cy="2377440"/>
          </a:xfrm>
          <a:prstGeom prst="line">
            <a:avLst/>
          </a:prstGeom>
          <a:noFill/>
          <a:ln w="12700">
            <a:solidFill>
              <a:srgbClr val="5F5F5F"/>
            </a:solidFill>
            <a:prstDash val="dash"/>
          </a:ln>
        </p:spPr>
      </p:sp>
      <p:sp>
        <p:nvSpPr>
          <p:cNvPr id="16" name="Text 14"/>
          <p:cNvSpPr txBox="1"/>
          <p:nvPr/>
        </p:nvSpPr>
        <p:spPr>
          <a:xfrm>
            <a:off x="4754880" y="1938528"/>
            <a:ext cx="4526280" cy="566928"/>
          </a:xfrm>
          <a:prstGeom prst="rect">
            <a:avLst/>
          </a:prstGeom>
          <a:noFill/>
          <a:ln/>
        </p:spPr>
        <p:txBody>
          <a:bodyPr wrap="square" lIns="0" tIns="0" rIns="0" bIns="0" rtlCol="0" anchor="b"/>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Zona ekonomi eksklusif (ZEE)</a:t>
            </a:r>
            <a:endParaRPr lang="en-US" sz="1400" dirty="0"/>
          </a:p>
        </p:txBody>
      </p:sp>
      <p:sp>
        <p:nvSpPr>
          <p:cNvPr id="17" name="Text 15"/>
          <p:cNvSpPr txBox="1"/>
          <p:nvPr/>
        </p:nvSpPr>
        <p:spPr>
          <a:xfrm>
            <a:off x="4754880" y="2560320"/>
            <a:ext cx="4526280" cy="320040"/>
          </a:xfrm>
          <a:prstGeom prst="rect">
            <a:avLst/>
          </a:prstGeom>
          <a:noFill/>
          <a:ln/>
        </p:spPr>
        <p:txBody>
          <a:bodyPr wrap="square" lIns="0" tIns="0" rIns="0" bIns="0" rtlCol="0" anchor="t"/>
          <a:lstStyle/>
          <a:p>
            <a:pPr indent="0" marL="0">
              <a:spcAft>
                <a:spcPts val="600"/>
              </a:spcAft>
              <a:buNone/>
            </a:pPr>
            <a:r>
              <a:rPr lang="en-US" sz="1300" dirty="0">
                <a:solidFill>
                  <a:srgbClr val="5F5F5F"/>
                </a:solidFill>
                <a:latin typeface="Arial" pitchFamily="34" charset="0"/>
                <a:ea typeface="Arial" pitchFamily="34" charset="-122"/>
                <a:cs typeface="Arial" pitchFamily="34" charset="-120"/>
              </a:rPr>
              <a:t>sampai 200 mil</a:t>
            </a:r>
            <a:endParaRPr lang="en-US" sz="1300" dirty="0"/>
          </a:p>
        </p:txBody>
      </p:sp>
      <p:sp>
        <p:nvSpPr>
          <p:cNvPr id="18" name="Text 16"/>
          <p:cNvSpPr txBox="1"/>
          <p:nvPr/>
        </p:nvSpPr>
        <p:spPr>
          <a:xfrm>
            <a:off x="4754880" y="3108960"/>
            <a:ext cx="4480560" cy="1188720"/>
          </a:xfrm>
          <a:prstGeom prst="rect">
            <a:avLst/>
          </a:prstGeom>
          <a:noFill/>
          <a:ln/>
        </p:spPr>
        <p:txBody>
          <a:bodyPr wrap="square" lIns="0" tIns="0" rIns="0" bIns="0" rtlCol="0" anchor="t"/>
          <a:lstStyle/>
          <a:p>
            <a:pPr indent="0" marL="0">
              <a:spcAft>
                <a:spcPts val="600"/>
              </a:spcAft>
              <a:buNone/>
            </a:pPr>
            <a:r>
              <a:rPr lang="en-US" sz="1300" dirty="0">
                <a:solidFill>
                  <a:srgbClr val="2B2B2B"/>
                </a:solidFill>
                <a:latin typeface="Arial" pitchFamily="34" charset="0"/>
                <a:ea typeface="Arial" pitchFamily="34" charset="-122"/>
                <a:cs typeface="Arial" pitchFamily="34" charset="-120"/>
              </a:rPr>
              <a:t>Hak berdaulat atas ikan, minyak, dan gas. Kapal negara lain tetap bebas berlayar (Pasal 56, 57, 58)</a:t>
            </a:r>
            <a:endParaRPr lang="en-US" sz="1300" dirty="0"/>
          </a:p>
        </p:txBody>
      </p:sp>
      <p:sp>
        <p:nvSpPr>
          <p:cNvPr id="19" name="Shape 17"/>
          <p:cNvSpPr/>
          <p:nvPr/>
        </p:nvSpPr>
        <p:spPr>
          <a:xfrm>
            <a:off x="9326880" y="1965960"/>
            <a:ext cx="0" cy="2377440"/>
          </a:xfrm>
          <a:prstGeom prst="line">
            <a:avLst/>
          </a:prstGeom>
          <a:noFill/>
          <a:ln w="12700">
            <a:solidFill>
              <a:srgbClr val="5F5F5F"/>
            </a:solidFill>
            <a:prstDash val="dash"/>
          </a:ln>
        </p:spPr>
      </p:sp>
      <p:sp>
        <p:nvSpPr>
          <p:cNvPr id="20" name="Text 18"/>
          <p:cNvSpPr txBox="1"/>
          <p:nvPr/>
        </p:nvSpPr>
        <p:spPr>
          <a:xfrm>
            <a:off x="9418320" y="1938528"/>
            <a:ext cx="2221992" cy="566928"/>
          </a:xfrm>
          <a:prstGeom prst="rect">
            <a:avLst/>
          </a:prstGeom>
          <a:noFill/>
          <a:ln/>
        </p:spPr>
        <p:txBody>
          <a:bodyPr wrap="square" lIns="0" tIns="0" rIns="0" bIns="0" rtlCol="0" anchor="b"/>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Laut lepas</a:t>
            </a:r>
            <a:endParaRPr lang="en-US" sz="1400" dirty="0"/>
          </a:p>
        </p:txBody>
      </p:sp>
      <p:sp>
        <p:nvSpPr>
          <p:cNvPr id="21" name="Text 19"/>
          <p:cNvSpPr txBox="1"/>
          <p:nvPr/>
        </p:nvSpPr>
        <p:spPr>
          <a:xfrm>
            <a:off x="9418320" y="2560320"/>
            <a:ext cx="2221992" cy="320040"/>
          </a:xfrm>
          <a:prstGeom prst="rect">
            <a:avLst/>
          </a:prstGeom>
          <a:noFill/>
          <a:ln/>
        </p:spPr>
        <p:txBody>
          <a:bodyPr wrap="square" lIns="0" tIns="0" rIns="0" bIns="0" rtlCol="0" anchor="t"/>
          <a:lstStyle/>
          <a:p>
            <a:pPr indent="0" marL="0">
              <a:spcAft>
                <a:spcPts val="600"/>
              </a:spcAft>
              <a:buNone/>
            </a:pPr>
            <a:r>
              <a:rPr lang="en-US" sz="1300" dirty="0">
                <a:solidFill>
                  <a:srgbClr val="5F5F5F"/>
                </a:solidFill>
                <a:latin typeface="Arial" pitchFamily="34" charset="0"/>
                <a:ea typeface="Arial" pitchFamily="34" charset="-122"/>
                <a:cs typeface="Arial" pitchFamily="34" charset="-120"/>
              </a:rPr>
              <a:t>di luar 200 mil</a:t>
            </a:r>
            <a:endParaRPr lang="en-US" sz="1300" dirty="0"/>
          </a:p>
        </p:txBody>
      </p:sp>
      <p:sp>
        <p:nvSpPr>
          <p:cNvPr id="22" name="Text 20"/>
          <p:cNvSpPr txBox="1"/>
          <p:nvPr/>
        </p:nvSpPr>
        <p:spPr>
          <a:xfrm>
            <a:off x="9418320" y="3108960"/>
            <a:ext cx="2176272" cy="1188720"/>
          </a:xfrm>
          <a:prstGeom prst="rect">
            <a:avLst/>
          </a:prstGeom>
          <a:noFill/>
          <a:ln/>
        </p:spPr>
        <p:txBody>
          <a:bodyPr wrap="square" lIns="0" tIns="0" rIns="0" bIns="0" rtlCol="0" anchor="t"/>
          <a:lstStyle/>
          <a:p>
            <a:pPr indent="0" marL="0">
              <a:spcAft>
                <a:spcPts val="600"/>
              </a:spcAft>
              <a:buNone/>
            </a:pPr>
            <a:r>
              <a:rPr lang="en-US" sz="1300" dirty="0">
                <a:solidFill>
                  <a:srgbClr val="2B2B2B"/>
                </a:solidFill>
                <a:latin typeface="Arial" pitchFamily="34" charset="0"/>
                <a:ea typeface="Arial" pitchFamily="34" charset="-122"/>
                <a:cs typeface="Arial" pitchFamily="34" charset="-120"/>
              </a:rPr>
              <a:t>Terbuka untuk semua negara (Pasal 87)</a:t>
            </a:r>
            <a:endParaRPr lang="en-US" sz="1300" dirty="0"/>
          </a:p>
        </p:txBody>
      </p:sp>
      <p:sp>
        <p:nvSpPr>
          <p:cNvPr id="23" name="Shape 21"/>
          <p:cNvSpPr/>
          <p:nvPr/>
        </p:nvSpPr>
        <p:spPr>
          <a:xfrm>
            <a:off x="1371600" y="1965960"/>
            <a:ext cx="0" cy="2377440"/>
          </a:xfrm>
          <a:prstGeom prst="line">
            <a:avLst/>
          </a:prstGeom>
          <a:noFill/>
          <a:ln w="15875">
            <a:solidFill>
              <a:srgbClr val="2B2B2B"/>
            </a:solidFill>
            <a:prstDash val="solid"/>
          </a:ln>
        </p:spPr>
      </p:sp>
      <p:sp>
        <p:nvSpPr>
          <p:cNvPr id="24" name="Text 22"/>
          <p:cNvSpPr txBox="1"/>
          <p:nvPr/>
        </p:nvSpPr>
        <p:spPr>
          <a:xfrm>
            <a:off x="411480" y="2011680"/>
            <a:ext cx="914400" cy="274320"/>
          </a:xfrm>
          <a:prstGeom prst="rect">
            <a:avLst/>
          </a:prstGeom>
          <a:noFill/>
          <a:ln/>
        </p:spPr>
        <p:txBody>
          <a:bodyPr wrap="square" lIns="0" tIns="0" rIns="0" bIns="0" rtlCol="0" anchor="t"/>
          <a:lstStyle/>
          <a:p>
            <a:pPr algn="r" indent="0" marL="0">
              <a:spcAft>
                <a:spcPts val="600"/>
              </a:spcAft>
              <a:buNone/>
            </a:pPr>
            <a:r>
              <a:rPr lang="en-US" sz="1000" i="1" dirty="0">
                <a:solidFill>
                  <a:srgbClr val="5F5F5F"/>
                </a:solidFill>
                <a:latin typeface="Arial" pitchFamily="34" charset="0"/>
                <a:ea typeface="Arial" pitchFamily="34" charset="-122"/>
                <a:cs typeface="Arial" pitchFamily="34" charset="-120"/>
              </a:rPr>
              <a:t>garis pangkal</a:t>
            </a:r>
            <a:endParaRPr lang="en-US" sz="1000" dirty="0"/>
          </a:p>
        </p:txBody>
      </p:sp>
      <p:sp>
        <p:nvSpPr>
          <p:cNvPr id="25" name="Text 23"/>
          <p:cNvSpPr txBox="1"/>
          <p:nvPr/>
        </p:nvSpPr>
        <p:spPr>
          <a:xfrm>
            <a:off x="1463040" y="4434840"/>
            <a:ext cx="7772400" cy="685800"/>
          </a:xfrm>
          <a:prstGeom prst="rect">
            <a:avLst/>
          </a:prstGeom>
          <a:noFill/>
          <a:ln/>
        </p:spPr>
        <p:txBody>
          <a:bodyPr wrap="square" lIns="0" tIns="0" rIns="0" bIns="0" rtlCol="0" anchor="t"/>
          <a:lstStyle/>
          <a:p>
            <a:pPr indent="0" marL="0">
              <a:spcAft>
                <a:spcPts val="600"/>
              </a:spcAft>
              <a:buNone/>
            </a:pPr>
            <a:r>
              <a:rPr lang="en-US" sz="1300" b="1" dirty="0">
                <a:solidFill>
                  <a:srgbClr val="5F5F5F"/>
                </a:solidFill>
                <a:latin typeface="Arial" pitchFamily="34" charset="0"/>
                <a:ea typeface="Arial" pitchFamily="34" charset="-122"/>
                <a:cs typeface="Arial" pitchFamily="34" charset="-120"/>
              </a:rPr>
              <a:t>Landas kontinen</a:t>
            </a:r>
            <a:endParaRPr lang="en-US" sz="1300" dirty="0"/>
          </a:p>
          <a:p>
            <a:pPr indent="0" marL="0">
              <a:spcAft>
                <a:spcPts val="600"/>
              </a:spcAft>
              <a:buNone/>
            </a:pPr>
            <a:r>
              <a:rPr lang="en-US" sz="1300" dirty="0">
                <a:solidFill>
                  <a:srgbClr val="2B2B2B"/>
                </a:solidFill>
                <a:latin typeface="Arial" pitchFamily="34" charset="0"/>
                <a:ea typeface="Arial" pitchFamily="34" charset="-122"/>
                <a:cs typeface="Arial" pitchFamily="34" charset="-120"/>
              </a:rPr>
              <a:t>Dasar laut dan tanah di bawahnya sampai 200 mil, dapat sampai 350 mil (Pasal 76)</a:t>
            </a:r>
            <a:endParaRPr lang="en-US" sz="1300" dirty="0"/>
          </a:p>
        </p:txBody>
      </p:sp>
      <p:sp>
        <p:nvSpPr>
          <p:cNvPr id="26" name="Text 24"/>
          <p:cNvSpPr txBox="1"/>
          <p:nvPr/>
        </p:nvSpPr>
        <p:spPr>
          <a:xfrm>
            <a:off x="9418320" y="4434840"/>
            <a:ext cx="2240280" cy="731520"/>
          </a:xfrm>
          <a:prstGeom prst="rect">
            <a:avLst/>
          </a:prstGeom>
          <a:noFill/>
          <a:ln/>
        </p:spPr>
        <p:txBody>
          <a:bodyPr wrap="square" lIns="0" tIns="0" rIns="0" bIns="0" rtlCol="0" anchor="t"/>
          <a:lstStyle/>
          <a:p>
            <a:pPr indent="0" marL="0">
              <a:spcAft>
                <a:spcPts val="600"/>
              </a:spcAft>
              <a:buNone/>
            </a:pPr>
            <a:r>
              <a:rPr lang="en-US" sz="1300" b="1" dirty="0">
                <a:solidFill>
                  <a:srgbClr val="5F5F5F"/>
                </a:solidFill>
                <a:latin typeface="Arial" pitchFamily="34" charset="0"/>
                <a:ea typeface="Arial" pitchFamily="34" charset="-122"/>
                <a:cs typeface="Arial" pitchFamily="34" charset="-120"/>
              </a:rPr>
              <a:t>Kawasan (the Area)</a:t>
            </a:r>
            <a:endParaRPr lang="en-US" sz="1300" dirty="0"/>
          </a:p>
          <a:p>
            <a:pPr indent="0" marL="0">
              <a:spcAft>
                <a:spcPts val="600"/>
              </a:spcAft>
              <a:buNone/>
            </a:pPr>
            <a:r>
              <a:rPr lang="en-US" sz="1300" dirty="0">
                <a:solidFill>
                  <a:srgbClr val="2B2B2B"/>
                </a:solidFill>
                <a:latin typeface="Arial" pitchFamily="34" charset="0"/>
                <a:ea typeface="Arial" pitchFamily="34" charset="-122"/>
                <a:cs typeface="Arial" pitchFamily="34" charset="-120"/>
              </a:rPr>
              <a:t>Warisan bersama umat manusia (Pasal 136)</a:t>
            </a:r>
            <a:endParaRPr lang="en-US" sz="1300" dirty="0"/>
          </a:p>
        </p:txBody>
      </p:sp>
      <p:sp>
        <p:nvSpPr>
          <p:cNvPr id="27" name="Shape 25"/>
          <p:cNvSpPr/>
          <p:nvPr/>
        </p:nvSpPr>
        <p:spPr>
          <a:xfrm>
            <a:off x="502920" y="5230368"/>
            <a:ext cx="11183112" cy="0"/>
          </a:xfrm>
          <a:prstGeom prst="line">
            <a:avLst/>
          </a:prstGeom>
          <a:noFill/>
          <a:ln w="12700">
            <a:solidFill>
              <a:srgbClr val="D9D2CB"/>
            </a:solidFill>
            <a:prstDash val="solid"/>
          </a:ln>
        </p:spPr>
      </p:sp>
      <p:sp>
        <p:nvSpPr>
          <p:cNvPr id="28" name="Text 26"/>
          <p:cNvSpPr txBox="1"/>
          <p:nvPr/>
        </p:nvSpPr>
        <p:spPr>
          <a:xfrm>
            <a:off x="502920" y="5349240"/>
            <a:ext cx="5394960" cy="640080"/>
          </a:xfrm>
          <a:prstGeom prst="rect">
            <a:avLst/>
          </a:prstGeom>
          <a:noFill/>
          <a:ln/>
        </p:spPr>
        <p:txBody>
          <a:bodyPr wrap="square" lIns="0" tIns="0" rIns="0" bIns="0" rtlCol="0" anchor="t"/>
          <a:lstStyle/>
          <a:p>
            <a:pPr indent="0" marL="0">
              <a:spcAft>
                <a:spcPts val="600"/>
              </a:spcAft>
              <a:buNone/>
            </a:pPr>
            <a:r>
              <a:rPr lang="en-US" sz="1600" b="1" dirty="0">
                <a:solidFill>
                  <a:srgbClr val="7A1220"/>
                </a:solidFill>
                <a:latin typeface="Arial" pitchFamily="34" charset="0"/>
                <a:ea typeface="Arial" pitchFamily="34" charset="-122"/>
                <a:cs typeface="Arial" pitchFamily="34" charset="-120"/>
              </a:rPr>
              <a:t>Kedaulatan</a:t>
            </a:r>
            <a:pPr indent="0" marL="0">
              <a:spcAft>
                <a:spcPts val="600"/>
              </a:spcAft>
              <a:buNone/>
            </a:pPr>
            <a:r>
              <a:rPr lang="en-US" sz="1600" dirty="0">
                <a:solidFill>
                  <a:srgbClr val="2B2B2B"/>
                </a:solidFill>
                <a:latin typeface="Arial" pitchFamily="34" charset="0"/>
                <a:ea typeface="Arial" pitchFamily="34" charset="-122"/>
                <a:cs typeface="Arial" pitchFamily="34" charset="-120"/>
              </a:rPr>
              <a:t> berarti negara berkuasa penuh, seperti di darat.</a:t>
            </a:r>
            <a:endParaRPr lang="en-US" sz="1600" dirty="0"/>
          </a:p>
        </p:txBody>
      </p:sp>
      <p:sp>
        <p:nvSpPr>
          <p:cNvPr id="29" name="Text 27"/>
          <p:cNvSpPr txBox="1"/>
          <p:nvPr/>
        </p:nvSpPr>
        <p:spPr>
          <a:xfrm>
            <a:off x="6263640" y="5349240"/>
            <a:ext cx="5394960" cy="640080"/>
          </a:xfrm>
          <a:prstGeom prst="rect">
            <a:avLst/>
          </a:prstGeom>
          <a:noFill/>
          <a:ln/>
        </p:spPr>
        <p:txBody>
          <a:bodyPr wrap="square" lIns="0" tIns="0" rIns="0" bIns="0" rtlCol="0" anchor="t"/>
          <a:lstStyle/>
          <a:p>
            <a:pPr indent="0" marL="0">
              <a:spcAft>
                <a:spcPts val="600"/>
              </a:spcAft>
              <a:buNone/>
            </a:pPr>
            <a:r>
              <a:rPr lang="en-US" sz="1600" b="1" dirty="0">
                <a:solidFill>
                  <a:srgbClr val="7A1220"/>
                </a:solidFill>
                <a:latin typeface="Arial" pitchFamily="34" charset="0"/>
                <a:ea typeface="Arial" pitchFamily="34" charset="-122"/>
                <a:cs typeface="Arial" pitchFamily="34" charset="-120"/>
              </a:rPr>
              <a:t>Hak berdaulat</a:t>
            </a:r>
            <a:pPr indent="0" marL="0">
              <a:spcAft>
                <a:spcPts val="600"/>
              </a:spcAft>
              <a:buNone/>
            </a:pPr>
            <a:r>
              <a:rPr lang="en-US" sz="1600" dirty="0">
                <a:solidFill>
                  <a:srgbClr val="2B2B2B"/>
                </a:solidFill>
                <a:latin typeface="Arial" pitchFamily="34" charset="0"/>
                <a:ea typeface="Arial" pitchFamily="34" charset="-122"/>
                <a:cs typeface="Arial" pitchFamily="34" charset="-120"/>
              </a:rPr>
              <a:t> berarti hak khusus atas sumber daya alamnya saja.</a:t>
            </a:r>
            <a:endParaRPr lang="en-US" sz="1600" dirty="0"/>
          </a:p>
        </p:txBody>
      </p:sp>
      <p:sp>
        <p:nvSpPr>
          <p:cNvPr id="30" name="Text 28"/>
          <p:cNvSpPr txBox="1"/>
          <p:nvPr/>
        </p:nvSpPr>
        <p:spPr>
          <a:xfrm>
            <a:off x="502920" y="6016752"/>
            <a:ext cx="11155680" cy="274320"/>
          </a:xfrm>
          <a:prstGeom prst="rect">
            <a:avLst/>
          </a:prstGeom>
          <a:noFill/>
          <a:ln/>
        </p:spPr>
        <p:txBody>
          <a:bodyPr wrap="square" lIns="0" tIns="0" rIns="0" bIns="0" rtlCol="0" anchor="t"/>
          <a:lstStyle/>
          <a:p>
            <a:pPr indent="0" marL="0">
              <a:spcAft>
                <a:spcPts val="600"/>
              </a:spcAft>
              <a:buNone/>
            </a:pPr>
            <a:r>
              <a:rPr lang="en-US" sz="1100" i="1" dirty="0">
                <a:solidFill>
                  <a:srgbClr val="5F5F5F"/>
                </a:solidFill>
                <a:latin typeface="Arial" pitchFamily="34" charset="0"/>
                <a:ea typeface="Arial" pitchFamily="34" charset="-122"/>
                <a:cs typeface="Arial" pitchFamily="34" charset="-120"/>
              </a:rPr>
              <a:t>Skema tidak berskala. 1 mil laut = 1,852 km.</a:t>
            </a:r>
            <a:endParaRPr lang="en-US" sz="11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KASUS KITA SENDIRI</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Natuna: Wilayah Kita atau Bukan?</a:t>
            </a:r>
            <a:endParaRPr lang="en-US" sz="2800" dirty="0"/>
          </a:p>
        </p:txBody>
      </p:sp>
      <p:sp>
        <p:nvSpPr>
          <p:cNvPr id="4" name="Text 2"/>
          <p:cNvSpPr txBox="1"/>
          <p:nvPr/>
        </p:nvSpPr>
        <p:spPr>
          <a:xfrm>
            <a:off x="502920" y="1920240"/>
            <a:ext cx="5120640" cy="1097280"/>
          </a:xfrm>
          <a:prstGeom prst="rect">
            <a:avLst/>
          </a:prstGeom>
          <a:noFill/>
          <a:ln/>
        </p:spPr>
        <p:txBody>
          <a:bodyPr wrap="square" lIns="0" tIns="0" rIns="0" bIns="0" rtlCol="0" anchor="t"/>
          <a:lstStyle/>
          <a:p>
            <a:pPr indent="0" marL="0">
              <a:spcAft>
                <a:spcPts val="600"/>
              </a:spcAft>
              <a:buNone/>
            </a:pPr>
            <a:r>
              <a:rPr lang="en-US" sz="2400" b="1" dirty="0">
                <a:solidFill>
                  <a:srgbClr val="7A1220"/>
                </a:solidFill>
                <a:latin typeface="Georgia" pitchFamily="34" charset="0"/>
                <a:ea typeface="Georgia" pitchFamily="34" charset="-122"/>
                <a:cs typeface="Georgia" pitchFamily="34" charset="-120"/>
              </a:rPr>
              <a:t>Laut Natuna Utara adalah ZEE, bukan laut teritorial.</a:t>
            </a:r>
            <a:endParaRPr lang="en-US" sz="2400" dirty="0"/>
          </a:p>
        </p:txBody>
      </p:sp>
      <p:sp>
        <p:nvSpPr>
          <p:cNvPr id="5" name="Text 3"/>
          <p:cNvSpPr txBox="1"/>
          <p:nvPr/>
        </p:nvSpPr>
        <p:spPr>
          <a:xfrm>
            <a:off x="502920" y="3154680"/>
            <a:ext cx="5120640" cy="173736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Di sana Indonesia punya hak berdaulat atas ikan, minyak, dan gas (Pasal 56 UNCLOS). Kapal asing boleh lewat, tetapi tidak boleh menangkap ikan tanpa izin. Penegakannya berdasar Pasal 73 UNCLOS dan UU Perikanan.</a:t>
            </a:r>
            <a:endParaRPr lang="en-US" sz="1500" dirty="0"/>
          </a:p>
        </p:txBody>
      </p:sp>
      <p:sp>
        <p:nvSpPr>
          <p:cNvPr id="6" name="Text 4"/>
          <p:cNvSpPr txBox="1"/>
          <p:nvPr/>
        </p:nvSpPr>
        <p:spPr>
          <a:xfrm>
            <a:off x="502920" y="4892040"/>
            <a:ext cx="5120640" cy="128016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Masalahnya</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Tiongkok mengklaim sebagian perairan itu lewat sembilan garis putus (nine-dash line), klaim yang tidak dikenal UNCLOS.</a:t>
            </a:r>
            <a:endParaRPr lang="en-US" sz="1500" dirty="0"/>
          </a:p>
        </p:txBody>
      </p:sp>
      <p:sp>
        <p:nvSpPr>
          <p:cNvPr id="7" name="Shape 5"/>
          <p:cNvSpPr/>
          <p:nvPr/>
        </p:nvSpPr>
        <p:spPr>
          <a:xfrm>
            <a:off x="6035040" y="1965960"/>
            <a:ext cx="0" cy="4251960"/>
          </a:xfrm>
          <a:prstGeom prst="line">
            <a:avLst/>
          </a:prstGeom>
          <a:noFill/>
          <a:ln w="12700">
            <a:solidFill>
              <a:srgbClr val="D9D2CB"/>
            </a:solidFill>
            <a:prstDash val="solid"/>
          </a:ln>
        </p:spPr>
      </p:sp>
      <p:sp>
        <p:nvSpPr>
          <p:cNvPr id="8" name="Text 6"/>
          <p:cNvSpPr txBox="1"/>
          <p:nvPr/>
        </p:nvSpPr>
        <p:spPr>
          <a:xfrm>
            <a:off x="6355080" y="1920240"/>
            <a:ext cx="5303520" cy="301752"/>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12 Juli 2016</a:t>
            </a:r>
            <a:endParaRPr lang="en-US" sz="1400" dirty="0"/>
          </a:p>
        </p:txBody>
      </p:sp>
      <p:sp>
        <p:nvSpPr>
          <p:cNvPr id="9" name="Text 7"/>
          <p:cNvSpPr txBox="1"/>
          <p:nvPr/>
        </p:nvSpPr>
        <p:spPr>
          <a:xfrm>
            <a:off x="6355080" y="2240280"/>
            <a:ext cx="5303520" cy="68580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Mahkamah arbitrase dalam perkara Filipina v. Tiongkok: klaim sembilan garis putus tidak punya dasar hukum menurut UNCLOS.</a:t>
            </a:r>
            <a:endParaRPr lang="en-US" sz="1400" dirty="0"/>
          </a:p>
        </p:txBody>
      </p:sp>
      <p:sp>
        <p:nvSpPr>
          <p:cNvPr id="10" name="Shape 8"/>
          <p:cNvSpPr/>
          <p:nvPr/>
        </p:nvSpPr>
        <p:spPr>
          <a:xfrm>
            <a:off x="6355080" y="2907792"/>
            <a:ext cx="5330952" cy="0"/>
          </a:xfrm>
          <a:prstGeom prst="line">
            <a:avLst/>
          </a:prstGeom>
          <a:noFill/>
          <a:ln w="12700">
            <a:solidFill>
              <a:srgbClr val="D9D2CB"/>
            </a:solidFill>
            <a:prstDash val="solid"/>
          </a:ln>
        </p:spPr>
      </p:sp>
      <p:sp>
        <p:nvSpPr>
          <p:cNvPr id="11" name="Text 9"/>
          <p:cNvSpPr txBox="1"/>
          <p:nvPr/>
        </p:nvSpPr>
        <p:spPr>
          <a:xfrm>
            <a:off x="6355080" y="2999232"/>
            <a:ext cx="5303520" cy="301752"/>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14 Juli 2017</a:t>
            </a:r>
            <a:endParaRPr lang="en-US" sz="1400" dirty="0"/>
          </a:p>
        </p:txBody>
      </p:sp>
      <p:sp>
        <p:nvSpPr>
          <p:cNvPr id="12" name="Text 10"/>
          <p:cNvSpPr txBox="1"/>
          <p:nvPr/>
        </p:nvSpPr>
        <p:spPr>
          <a:xfrm>
            <a:off x="6355080" y="3319272"/>
            <a:ext cx="5303520" cy="68580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Indonesia menamai perairan di utara Natuna sebagai Laut Natuna Utara dalam peta resmi.</a:t>
            </a:r>
            <a:endParaRPr lang="en-US" sz="1400" dirty="0"/>
          </a:p>
        </p:txBody>
      </p:sp>
      <p:sp>
        <p:nvSpPr>
          <p:cNvPr id="13" name="Shape 11"/>
          <p:cNvSpPr/>
          <p:nvPr/>
        </p:nvSpPr>
        <p:spPr>
          <a:xfrm>
            <a:off x="6355080" y="3986784"/>
            <a:ext cx="5330952" cy="0"/>
          </a:xfrm>
          <a:prstGeom prst="line">
            <a:avLst/>
          </a:prstGeom>
          <a:noFill/>
          <a:ln w="12700">
            <a:solidFill>
              <a:srgbClr val="D9D2CB"/>
            </a:solidFill>
            <a:prstDash val="solid"/>
          </a:ln>
        </p:spPr>
      </p:sp>
      <p:sp>
        <p:nvSpPr>
          <p:cNvPr id="14" name="Text 12"/>
          <p:cNvSpPr txBox="1"/>
          <p:nvPr/>
        </p:nvSpPr>
        <p:spPr>
          <a:xfrm>
            <a:off x="6355080" y="4078224"/>
            <a:ext cx="5303520" cy="301752"/>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Des 2019–Jan 2020</a:t>
            </a:r>
            <a:endParaRPr lang="en-US" sz="1400" dirty="0"/>
          </a:p>
        </p:txBody>
      </p:sp>
      <p:sp>
        <p:nvSpPr>
          <p:cNvPr id="15" name="Text 13"/>
          <p:cNvSpPr txBox="1"/>
          <p:nvPr/>
        </p:nvSpPr>
        <p:spPr>
          <a:xfrm>
            <a:off x="6355080" y="4398264"/>
            <a:ext cx="5303520" cy="68580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Kapal ikan dan kapal penjaga pantai Tiongkok masuk ZEE Natuna. Indonesia mengirim nota protes.</a:t>
            </a:r>
            <a:endParaRPr lang="en-US" sz="1400" dirty="0"/>
          </a:p>
        </p:txBody>
      </p:sp>
      <p:sp>
        <p:nvSpPr>
          <p:cNvPr id="16" name="Shape 14"/>
          <p:cNvSpPr/>
          <p:nvPr/>
        </p:nvSpPr>
        <p:spPr>
          <a:xfrm>
            <a:off x="6355080" y="5065776"/>
            <a:ext cx="5330952" cy="0"/>
          </a:xfrm>
          <a:prstGeom prst="line">
            <a:avLst/>
          </a:prstGeom>
          <a:noFill/>
          <a:ln w="12700">
            <a:solidFill>
              <a:srgbClr val="D9D2CB"/>
            </a:solidFill>
            <a:prstDash val="solid"/>
          </a:ln>
        </p:spPr>
      </p:sp>
      <p:sp>
        <p:nvSpPr>
          <p:cNvPr id="17" name="Text 15"/>
          <p:cNvSpPr txBox="1"/>
          <p:nvPr/>
        </p:nvSpPr>
        <p:spPr>
          <a:xfrm>
            <a:off x="6355080" y="5157216"/>
            <a:ext cx="5303520" cy="301752"/>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9–11 Nov 2024</a:t>
            </a:r>
            <a:endParaRPr lang="en-US" sz="1400" dirty="0"/>
          </a:p>
        </p:txBody>
      </p:sp>
      <p:sp>
        <p:nvSpPr>
          <p:cNvPr id="18" name="Text 16"/>
          <p:cNvSpPr txBox="1"/>
          <p:nvPr/>
        </p:nvSpPr>
        <p:spPr>
          <a:xfrm>
            <a:off x="6355080" y="5477256"/>
            <a:ext cx="5303520" cy="68580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Pernyataan bersama RI–Tiongkok menyebut “klaim tumpang tindih” dan menuai kritik. Kemlu menegaskan Indonesia tidak mengakui sembilan garis putus.</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HAK LINTAS</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Boleh Lewat, Asal Sopan</a:t>
            </a:r>
            <a:endParaRPr lang="en-US" sz="2800" dirty="0"/>
          </a:p>
        </p:txBody>
      </p:sp>
      <p:sp>
        <p:nvSpPr>
          <p:cNvPr id="4" name="Text 2"/>
          <p:cNvSpPr txBox="1"/>
          <p:nvPr/>
        </p:nvSpPr>
        <p:spPr>
          <a:xfrm>
            <a:off x="502920" y="1920240"/>
            <a:ext cx="5257800" cy="160020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Lintas damai (Pasal 17 sampai 19)</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Semua kapal asing boleh melintasi laut teritorial, asal terus-menerus, secepatnya, dan tidak mengganggu perdamaian, ketertiban, atau keamanan negara pantai.</a:t>
            </a:r>
            <a:endParaRPr lang="en-US" sz="1500" dirty="0"/>
          </a:p>
        </p:txBody>
      </p:sp>
      <p:sp>
        <p:nvSpPr>
          <p:cNvPr id="5" name="Text 3"/>
          <p:cNvSpPr txBox="1"/>
          <p:nvPr/>
        </p:nvSpPr>
        <p:spPr>
          <a:xfrm>
            <a:off x="502920" y="3611880"/>
            <a:ext cx="5257800" cy="86868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Kapal selam (Pasal 20)</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Wajib berlayar di permukaan dan menunjukkan benderanya.</a:t>
            </a:r>
            <a:endParaRPr lang="en-US" sz="1500" dirty="0"/>
          </a:p>
        </p:txBody>
      </p:sp>
      <p:sp>
        <p:nvSpPr>
          <p:cNvPr id="6" name="Text 4"/>
          <p:cNvSpPr txBox="1"/>
          <p:nvPr/>
        </p:nvSpPr>
        <p:spPr>
          <a:xfrm>
            <a:off x="502920" y="4572000"/>
            <a:ext cx="5257800" cy="1188720"/>
          </a:xfrm>
          <a:prstGeom prst="rect">
            <a:avLst/>
          </a:prstGeom>
          <a:noFill/>
          <a:ln/>
        </p:spPr>
        <p:txBody>
          <a:bodyPr wrap="square" lIns="0" tIns="0" rIns="0" bIns="0" rtlCol="0" anchor="t"/>
          <a:lstStyle/>
          <a:p>
            <a:pPr indent="0" marL="0">
              <a:spcAft>
                <a:spcPts val="600"/>
              </a:spcAft>
              <a:buNone/>
            </a:pPr>
            <a:r>
              <a:rPr lang="en-US" sz="1500" b="1" dirty="0">
                <a:solidFill>
                  <a:srgbClr val="7A1220"/>
                </a:solidFill>
                <a:latin typeface="Arial" pitchFamily="34" charset="0"/>
                <a:ea typeface="Arial" pitchFamily="34" charset="-122"/>
                <a:cs typeface="Arial" pitchFamily="34" charset="-120"/>
              </a:rPr>
              <a:t>Khusus negara kepulauan (Pasal 53)</a:t>
            </a:r>
            <a:endParaRPr lang="en-US" sz="1500" dirty="0"/>
          </a:p>
          <a:p>
            <a:pPr indent="0" marL="0">
              <a:spcAft>
                <a:spcPts val="600"/>
              </a:spcAft>
              <a:buNone/>
            </a:pPr>
            <a:r>
              <a:rPr lang="en-US" sz="1500" dirty="0">
                <a:solidFill>
                  <a:srgbClr val="2B2B2B"/>
                </a:solidFill>
                <a:latin typeface="Arial" pitchFamily="34" charset="0"/>
                <a:ea typeface="Arial" pitchFamily="34" charset="-122"/>
                <a:cs typeface="Arial" pitchFamily="34" charset="-120"/>
              </a:rPr>
              <a:t>Ada hak lintas alur laut kepulauan. Indonesia menetapkan tiga ALKI lewat PP No. 37 Tahun 2002.</a:t>
            </a:r>
            <a:endParaRPr lang="en-US" sz="1500" dirty="0"/>
          </a:p>
        </p:txBody>
      </p:sp>
      <p:sp>
        <p:nvSpPr>
          <p:cNvPr id="7" name="Shape 5"/>
          <p:cNvSpPr/>
          <p:nvPr/>
        </p:nvSpPr>
        <p:spPr>
          <a:xfrm>
            <a:off x="6080760" y="1965960"/>
            <a:ext cx="0" cy="4251960"/>
          </a:xfrm>
          <a:prstGeom prst="line">
            <a:avLst/>
          </a:prstGeom>
          <a:noFill/>
          <a:ln w="12700">
            <a:solidFill>
              <a:srgbClr val="D9D2CB"/>
            </a:solidFill>
            <a:prstDash val="solid"/>
          </a:ln>
        </p:spPr>
      </p:sp>
      <p:sp>
        <p:nvSpPr>
          <p:cNvPr id="8" name="Text 6"/>
          <p:cNvSpPr txBox="1"/>
          <p:nvPr/>
        </p:nvSpPr>
        <p:spPr>
          <a:xfrm>
            <a:off x="6355080" y="1920240"/>
            <a:ext cx="5303520" cy="274320"/>
          </a:xfrm>
          <a:prstGeom prst="rect">
            <a:avLst/>
          </a:prstGeom>
          <a:noFill/>
          <a:ln/>
        </p:spPr>
        <p:txBody>
          <a:bodyPr wrap="square" lIns="0" tIns="0" rIns="0" bIns="0" rtlCol="0" anchor="t"/>
          <a:lstStyle/>
          <a:p>
            <a:pPr indent="0" marL="0">
              <a:spcAft>
                <a:spcPts val="600"/>
              </a:spcAft>
              <a:buNone/>
            </a:pPr>
            <a:r>
              <a:rPr lang="en-US" sz="1200" b="1" spc="150" kern="0" dirty="0">
                <a:solidFill>
                  <a:srgbClr val="5F5F5F"/>
                </a:solidFill>
                <a:latin typeface="Arial" pitchFamily="34" charset="0"/>
                <a:ea typeface="Arial" pitchFamily="34" charset="-122"/>
                <a:cs typeface="Arial" pitchFamily="34" charset="-120"/>
              </a:rPr>
              <a:t>TIDAK LAGI DAMAI KALAU KAPAL... (PASAL 19 AYAT (2))</a:t>
            </a:r>
            <a:endParaRPr lang="en-US" sz="1200" dirty="0"/>
          </a:p>
        </p:txBody>
      </p:sp>
      <p:sp>
        <p:nvSpPr>
          <p:cNvPr id="9" name="Text 7"/>
          <p:cNvSpPr txBox="1"/>
          <p:nvPr/>
        </p:nvSpPr>
        <p:spPr>
          <a:xfrm>
            <a:off x="6355080" y="2286000"/>
            <a:ext cx="41148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a</a:t>
            </a:r>
            <a:endParaRPr lang="en-US" sz="2200" dirty="0"/>
          </a:p>
        </p:txBody>
      </p:sp>
      <p:sp>
        <p:nvSpPr>
          <p:cNvPr id="10" name="Text 8"/>
          <p:cNvSpPr txBox="1"/>
          <p:nvPr/>
        </p:nvSpPr>
        <p:spPr>
          <a:xfrm>
            <a:off x="6858000" y="2359152"/>
            <a:ext cx="4800600" cy="5486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Mengancam atau memakai kekerasan</a:t>
            </a:r>
            <a:endParaRPr lang="en-US" sz="1600" dirty="0"/>
          </a:p>
        </p:txBody>
      </p:sp>
      <p:sp>
        <p:nvSpPr>
          <p:cNvPr id="11" name="Shape 9"/>
          <p:cNvSpPr/>
          <p:nvPr/>
        </p:nvSpPr>
        <p:spPr>
          <a:xfrm>
            <a:off x="6858000" y="2880360"/>
            <a:ext cx="4800600" cy="0"/>
          </a:xfrm>
          <a:prstGeom prst="line">
            <a:avLst/>
          </a:prstGeom>
          <a:noFill/>
          <a:ln w="12700">
            <a:solidFill>
              <a:srgbClr val="D9D2CB"/>
            </a:solidFill>
            <a:prstDash val="solid"/>
          </a:ln>
        </p:spPr>
      </p:sp>
      <p:sp>
        <p:nvSpPr>
          <p:cNvPr id="12" name="Text 10"/>
          <p:cNvSpPr txBox="1"/>
          <p:nvPr/>
        </p:nvSpPr>
        <p:spPr>
          <a:xfrm>
            <a:off x="6355080" y="2926080"/>
            <a:ext cx="41148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b</a:t>
            </a:r>
            <a:endParaRPr lang="en-US" sz="2200" dirty="0"/>
          </a:p>
        </p:txBody>
      </p:sp>
      <p:sp>
        <p:nvSpPr>
          <p:cNvPr id="13" name="Text 11"/>
          <p:cNvSpPr txBox="1"/>
          <p:nvPr/>
        </p:nvSpPr>
        <p:spPr>
          <a:xfrm>
            <a:off x="6858000" y="2999232"/>
            <a:ext cx="4800600" cy="5486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Latihan dengan senjata</a:t>
            </a:r>
            <a:endParaRPr lang="en-US" sz="1600" dirty="0"/>
          </a:p>
        </p:txBody>
      </p:sp>
      <p:sp>
        <p:nvSpPr>
          <p:cNvPr id="14" name="Shape 12"/>
          <p:cNvSpPr/>
          <p:nvPr/>
        </p:nvSpPr>
        <p:spPr>
          <a:xfrm>
            <a:off x="6858000" y="3520440"/>
            <a:ext cx="4800600" cy="0"/>
          </a:xfrm>
          <a:prstGeom prst="line">
            <a:avLst/>
          </a:prstGeom>
          <a:noFill/>
          <a:ln w="12700">
            <a:solidFill>
              <a:srgbClr val="D9D2CB"/>
            </a:solidFill>
            <a:prstDash val="solid"/>
          </a:ln>
        </p:spPr>
      </p:sp>
      <p:sp>
        <p:nvSpPr>
          <p:cNvPr id="15" name="Text 13"/>
          <p:cNvSpPr txBox="1"/>
          <p:nvPr/>
        </p:nvSpPr>
        <p:spPr>
          <a:xfrm>
            <a:off x="6355080" y="3566160"/>
            <a:ext cx="41148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c</a:t>
            </a:r>
            <a:endParaRPr lang="en-US" sz="2200" dirty="0"/>
          </a:p>
        </p:txBody>
      </p:sp>
      <p:sp>
        <p:nvSpPr>
          <p:cNvPr id="16" name="Text 14"/>
          <p:cNvSpPr txBox="1"/>
          <p:nvPr/>
        </p:nvSpPr>
        <p:spPr>
          <a:xfrm>
            <a:off x="6858000" y="3639312"/>
            <a:ext cx="4800600" cy="5486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Memata-matai pertahanan negara pantai</a:t>
            </a:r>
            <a:endParaRPr lang="en-US" sz="1600" dirty="0"/>
          </a:p>
        </p:txBody>
      </p:sp>
      <p:sp>
        <p:nvSpPr>
          <p:cNvPr id="17" name="Shape 15"/>
          <p:cNvSpPr/>
          <p:nvPr/>
        </p:nvSpPr>
        <p:spPr>
          <a:xfrm>
            <a:off x="6858000" y="4160520"/>
            <a:ext cx="4800600" cy="0"/>
          </a:xfrm>
          <a:prstGeom prst="line">
            <a:avLst/>
          </a:prstGeom>
          <a:noFill/>
          <a:ln w="12700">
            <a:solidFill>
              <a:srgbClr val="D9D2CB"/>
            </a:solidFill>
            <a:prstDash val="solid"/>
          </a:ln>
        </p:spPr>
      </p:sp>
      <p:sp>
        <p:nvSpPr>
          <p:cNvPr id="18" name="Text 16"/>
          <p:cNvSpPr txBox="1"/>
          <p:nvPr/>
        </p:nvSpPr>
        <p:spPr>
          <a:xfrm>
            <a:off x="6355080" y="4206240"/>
            <a:ext cx="41148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h</a:t>
            </a:r>
            <a:endParaRPr lang="en-US" sz="2200" dirty="0"/>
          </a:p>
        </p:txBody>
      </p:sp>
      <p:sp>
        <p:nvSpPr>
          <p:cNvPr id="19" name="Text 17"/>
          <p:cNvSpPr txBox="1"/>
          <p:nvPr/>
        </p:nvSpPr>
        <p:spPr>
          <a:xfrm>
            <a:off x="6858000" y="4279392"/>
            <a:ext cx="4800600" cy="5486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Mencemari laut dengan sengaja dan serius</a:t>
            </a:r>
            <a:endParaRPr lang="en-US" sz="1600" dirty="0"/>
          </a:p>
        </p:txBody>
      </p:sp>
      <p:sp>
        <p:nvSpPr>
          <p:cNvPr id="20" name="Shape 18"/>
          <p:cNvSpPr/>
          <p:nvPr/>
        </p:nvSpPr>
        <p:spPr>
          <a:xfrm>
            <a:off x="6858000" y="4800600"/>
            <a:ext cx="4800600" cy="0"/>
          </a:xfrm>
          <a:prstGeom prst="line">
            <a:avLst/>
          </a:prstGeom>
          <a:noFill/>
          <a:ln w="12700">
            <a:solidFill>
              <a:srgbClr val="D9D2CB"/>
            </a:solidFill>
            <a:prstDash val="solid"/>
          </a:ln>
        </p:spPr>
      </p:sp>
      <p:sp>
        <p:nvSpPr>
          <p:cNvPr id="21" name="Text 19"/>
          <p:cNvSpPr txBox="1"/>
          <p:nvPr/>
        </p:nvSpPr>
        <p:spPr>
          <a:xfrm>
            <a:off x="6355080" y="4846320"/>
            <a:ext cx="41148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i</a:t>
            </a:r>
            <a:endParaRPr lang="en-US" sz="2200" dirty="0"/>
          </a:p>
        </p:txBody>
      </p:sp>
      <p:sp>
        <p:nvSpPr>
          <p:cNvPr id="22" name="Text 20"/>
          <p:cNvSpPr txBox="1"/>
          <p:nvPr/>
        </p:nvSpPr>
        <p:spPr>
          <a:xfrm>
            <a:off x="6858000" y="4919472"/>
            <a:ext cx="4800600" cy="5486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Menangkap ikan</a:t>
            </a:r>
            <a:endParaRPr lang="en-US" sz="1600" dirty="0"/>
          </a:p>
        </p:txBody>
      </p:sp>
      <p:sp>
        <p:nvSpPr>
          <p:cNvPr id="23" name="Shape 21"/>
          <p:cNvSpPr/>
          <p:nvPr/>
        </p:nvSpPr>
        <p:spPr>
          <a:xfrm>
            <a:off x="6858000" y="5440680"/>
            <a:ext cx="4800600" cy="0"/>
          </a:xfrm>
          <a:prstGeom prst="line">
            <a:avLst/>
          </a:prstGeom>
          <a:noFill/>
          <a:ln w="12700">
            <a:solidFill>
              <a:srgbClr val="D9D2CB"/>
            </a:solidFill>
            <a:prstDash val="solid"/>
          </a:ln>
        </p:spPr>
      </p:sp>
      <p:sp>
        <p:nvSpPr>
          <p:cNvPr id="24" name="Text 22"/>
          <p:cNvSpPr txBox="1"/>
          <p:nvPr/>
        </p:nvSpPr>
        <p:spPr>
          <a:xfrm>
            <a:off x="6355080" y="5486400"/>
            <a:ext cx="41148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j</a:t>
            </a:r>
            <a:endParaRPr lang="en-US" sz="2200" dirty="0"/>
          </a:p>
        </p:txBody>
      </p:sp>
      <p:sp>
        <p:nvSpPr>
          <p:cNvPr id="25" name="Text 23"/>
          <p:cNvSpPr txBox="1"/>
          <p:nvPr/>
        </p:nvSpPr>
        <p:spPr>
          <a:xfrm>
            <a:off x="6858000" y="5559552"/>
            <a:ext cx="4800600" cy="5486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Melakukan riset atau survei</a:t>
            </a:r>
            <a:endParaRPr lang="en-US" sz="16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ORGANISASI INTERNASIONAL</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UNCLOS Juga Melahirkan Organisasi</a:t>
            </a:r>
            <a:endParaRPr lang="en-US" sz="2800" dirty="0"/>
          </a:p>
        </p:txBody>
      </p:sp>
      <p:sp>
        <p:nvSpPr>
          <p:cNvPr id="4" name="Text 2"/>
          <p:cNvSpPr txBox="1"/>
          <p:nvPr/>
        </p:nvSpPr>
        <p:spPr>
          <a:xfrm>
            <a:off x="502920" y="1965960"/>
            <a:ext cx="210312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Kingston</a:t>
            </a:r>
            <a:endParaRPr lang="en-US" sz="2200" dirty="0"/>
          </a:p>
        </p:txBody>
      </p:sp>
      <p:sp>
        <p:nvSpPr>
          <p:cNvPr id="5" name="Text 3"/>
          <p:cNvSpPr txBox="1"/>
          <p:nvPr/>
        </p:nvSpPr>
        <p:spPr>
          <a:xfrm>
            <a:off x="2697480" y="2002536"/>
            <a:ext cx="3200400" cy="10515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Otoritas Dasar Laut Internasional (ISA) mengatur penambangan di Kawasan (Pasal 156).</a:t>
            </a:r>
            <a:endParaRPr lang="en-US" sz="1400" dirty="0"/>
          </a:p>
        </p:txBody>
      </p:sp>
      <p:sp>
        <p:nvSpPr>
          <p:cNvPr id="6" name="Shape 4"/>
          <p:cNvSpPr/>
          <p:nvPr/>
        </p:nvSpPr>
        <p:spPr>
          <a:xfrm>
            <a:off x="502920" y="3044952"/>
            <a:ext cx="5394960" cy="0"/>
          </a:xfrm>
          <a:prstGeom prst="line">
            <a:avLst/>
          </a:prstGeom>
          <a:noFill/>
          <a:ln w="12700">
            <a:solidFill>
              <a:srgbClr val="D9D2CB"/>
            </a:solidFill>
            <a:prstDash val="solid"/>
          </a:ln>
        </p:spPr>
      </p:sp>
      <p:sp>
        <p:nvSpPr>
          <p:cNvPr id="7" name="Text 5"/>
          <p:cNvSpPr txBox="1"/>
          <p:nvPr/>
        </p:nvSpPr>
        <p:spPr>
          <a:xfrm>
            <a:off x="502920" y="3154680"/>
            <a:ext cx="210312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Hamburg</a:t>
            </a:r>
            <a:endParaRPr lang="en-US" sz="2200" dirty="0"/>
          </a:p>
        </p:txBody>
      </p:sp>
      <p:sp>
        <p:nvSpPr>
          <p:cNvPr id="8" name="Text 6"/>
          <p:cNvSpPr txBox="1"/>
          <p:nvPr/>
        </p:nvSpPr>
        <p:spPr>
          <a:xfrm>
            <a:off x="2697480" y="3191256"/>
            <a:ext cx="3200400" cy="10515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Mahkamah Internasional Hukum Laut (ITLOS) mengadili sengketa hukum laut (Lampiran VI).</a:t>
            </a:r>
            <a:endParaRPr lang="en-US" sz="1400" dirty="0"/>
          </a:p>
        </p:txBody>
      </p:sp>
      <p:sp>
        <p:nvSpPr>
          <p:cNvPr id="9" name="Shape 7"/>
          <p:cNvSpPr/>
          <p:nvPr/>
        </p:nvSpPr>
        <p:spPr>
          <a:xfrm>
            <a:off x="502920" y="4233672"/>
            <a:ext cx="5394960" cy="0"/>
          </a:xfrm>
          <a:prstGeom prst="line">
            <a:avLst/>
          </a:prstGeom>
          <a:noFill/>
          <a:ln w="12700">
            <a:solidFill>
              <a:srgbClr val="D9D2CB"/>
            </a:solidFill>
            <a:prstDash val="solid"/>
          </a:ln>
        </p:spPr>
      </p:sp>
      <p:sp>
        <p:nvSpPr>
          <p:cNvPr id="10" name="Text 8"/>
          <p:cNvSpPr txBox="1"/>
          <p:nvPr/>
        </p:nvSpPr>
        <p:spPr>
          <a:xfrm>
            <a:off x="502920" y="4343400"/>
            <a:ext cx="2103120" cy="457200"/>
          </a:xfrm>
          <a:prstGeom prst="rect">
            <a:avLst/>
          </a:prstGeom>
          <a:noFill/>
          <a:ln/>
        </p:spPr>
        <p:txBody>
          <a:bodyPr wrap="square" lIns="0" tIns="0" rIns="0" bIns="0" rtlCol="0" anchor="t"/>
          <a:lstStyle/>
          <a:p>
            <a:pPr indent="0" marL="0">
              <a:spcAft>
                <a:spcPts val="600"/>
              </a:spcAft>
              <a:buNone/>
            </a:pPr>
            <a:r>
              <a:rPr lang="en-US" sz="2200" b="1" dirty="0">
                <a:solidFill>
                  <a:srgbClr val="7A1220"/>
                </a:solidFill>
                <a:latin typeface="Georgia" pitchFamily="34" charset="0"/>
                <a:ea typeface="Georgia" pitchFamily="34" charset="-122"/>
                <a:cs typeface="Georgia" pitchFamily="34" charset="-120"/>
              </a:rPr>
              <a:t>New York</a:t>
            </a:r>
            <a:endParaRPr lang="en-US" sz="2200" dirty="0"/>
          </a:p>
        </p:txBody>
      </p:sp>
      <p:sp>
        <p:nvSpPr>
          <p:cNvPr id="11" name="Text 9"/>
          <p:cNvSpPr txBox="1"/>
          <p:nvPr/>
        </p:nvSpPr>
        <p:spPr>
          <a:xfrm>
            <a:off x="2697480" y="4379976"/>
            <a:ext cx="3200400" cy="10515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Komisi Batas Landas Kontinen (CLCS) menilai klaim landas kontinen di atas 200 mil (Lampiran II).</a:t>
            </a:r>
            <a:endParaRPr lang="en-US" sz="1400" dirty="0"/>
          </a:p>
        </p:txBody>
      </p:sp>
      <p:sp>
        <p:nvSpPr>
          <p:cNvPr id="12" name="Shape 10"/>
          <p:cNvSpPr/>
          <p:nvPr/>
        </p:nvSpPr>
        <p:spPr>
          <a:xfrm>
            <a:off x="6172200" y="1965960"/>
            <a:ext cx="0" cy="3429000"/>
          </a:xfrm>
          <a:prstGeom prst="line">
            <a:avLst/>
          </a:prstGeom>
          <a:noFill/>
          <a:ln w="12700">
            <a:solidFill>
              <a:srgbClr val="D9D2CB"/>
            </a:solidFill>
            <a:prstDash val="solid"/>
          </a:ln>
        </p:spPr>
      </p:sp>
      <p:sp>
        <p:nvSpPr>
          <p:cNvPr id="13" name="Text 11"/>
          <p:cNvSpPr txBox="1"/>
          <p:nvPr/>
        </p:nvSpPr>
        <p:spPr>
          <a:xfrm>
            <a:off x="6446520" y="1920240"/>
            <a:ext cx="5212080" cy="274320"/>
          </a:xfrm>
          <a:prstGeom prst="rect">
            <a:avLst/>
          </a:prstGeom>
          <a:noFill/>
          <a:ln/>
        </p:spPr>
        <p:txBody>
          <a:bodyPr wrap="square" lIns="0" tIns="0" rIns="0" bIns="0" rtlCol="0" anchor="t"/>
          <a:lstStyle/>
          <a:p>
            <a:pPr indent="0" marL="0">
              <a:spcAft>
                <a:spcPts val="600"/>
              </a:spcAft>
              <a:buNone/>
            </a:pPr>
            <a:r>
              <a:rPr lang="en-US" sz="1200" b="1" spc="150" kern="0" dirty="0">
                <a:solidFill>
                  <a:srgbClr val="5F5F5F"/>
                </a:solidFill>
                <a:latin typeface="Arial" pitchFamily="34" charset="0"/>
                <a:ea typeface="Arial" pitchFamily="34" charset="-122"/>
                <a:cs typeface="Arial" pitchFamily="34" charset="-120"/>
              </a:rPr>
              <a:t>EMPAT UNSUR ORGANISASI INTERNASIONAL</a:t>
            </a:r>
            <a:endParaRPr lang="en-US" sz="1200" dirty="0"/>
          </a:p>
        </p:txBody>
      </p:sp>
      <p:sp>
        <p:nvSpPr>
          <p:cNvPr id="14" name="Text 12"/>
          <p:cNvSpPr txBox="1"/>
          <p:nvPr/>
        </p:nvSpPr>
        <p:spPr>
          <a:xfrm>
            <a:off x="6446520" y="2267712"/>
            <a:ext cx="365760" cy="411480"/>
          </a:xfrm>
          <a:prstGeom prst="rect">
            <a:avLst/>
          </a:prstGeom>
          <a:noFill/>
          <a:ln/>
        </p:spPr>
        <p:txBody>
          <a:bodyPr wrap="square" lIns="0" tIns="0" rIns="0" bIns="0" rtlCol="0" anchor="t"/>
          <a:lstStyle/>
          <a:p>
            <a:pPr indent="0" marL="0">
              <a:spcAft>
                <a:spcPts val="600"/>
              </a:spcAft>
              <a:buNone/>
            </a:pPr>
            <a:r>
              <a:rPr lang="en-US" sz="1800" b="1" dirty="0">
                <a:solidFill>
                  <a:srgbClr val="7A1220"/>
                </a:solidFill>
                <a:latin typeface="Georgia" pitchFamily="34" charset="0"/>
                <a:ea typeface="Georgia" pitchFamily="34" charset="-122"/>
                <a:cs typeface="Georgia" pitchFamily="34" charset="-120"/>
              </a:rPr>
              <a:t>1</a:t>
            </a:r>
            <a:endParaRPr lang="en-US" sz="1800" dirty="0"/>
          </a:p>
        </p:txBody>
      </p:sp>
      <p:sp>
        <p:nvSpPr>
          <p:cNvPr id="15" name="Text 13"/>
          <p:cNvSpPr txBox="1"/>
          <p:nvPr/>
        </p:nvSpPr>
        <p:spPr>
          <a:xfrm>
            <a:off x="6858000" y="2304288"/>
            <a:ext cx="4800600" cy="4114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Dibentuk dengan perjanjian</a:t>
            </a:r>
            <a:endParaRPr lang="en-US" sz="1400" dirty="0"/>
          </a:p>
        </p:txBody>
      </p:sp>
      <p:sp>
        <p:nvSpPr>
          <p:cNvPr id="16" name="Text 14"/>
          <p:cNvSpPr txBox="1"/>
          <p:nvPr/>
        </p:nvSpPr>
        <p:spPr>
          <a:xfrm>
            <a:off x="6446520" y="2724912"/>
            <a:ext cx="365760" cy="411480"/>
          </a:xfrm>
          <a:prstGeom prst="rect">
            <a:avLst/>
          </a:prstGeom>
          <a:noFill/>
          <a:ln/>
        </p:spPr>
        <p:txBody>
          <a:bodyPr wrap="square" lIns="0" tIns="0" rIns="0" bIns="0" rtlCol="0" anchor="t"/>
          <a:lstStyle/>
          <a:p>
            <a:pPr indent="0" marL="0">
              <a:spcAft>
                <a:spcPts val="600"/>
              </a:spcAft>
              <a:buNone/>
            </a:pPr>
            <a:r>
              <a:rPr lang="en-US" sz="1800" b="1" dirty="0">
                <a:solidFill>
                  <a:srgbClr val="7A1220"/>
                </a:solidFill>
                <a:latin typeface="Georgia" pitchFamily="34" charset="0"/>
                <a:ea typeface="Georgia" pitchFamily="34" charset="-122"/>
                <a:cs typeface="Georgia" pitchFamily="34" charset="-120"/>
              </a:rPr>
              <a:t>2</a:t>
            </a:r>
            <a:endParaRPr lang="en-US" sz="1800" dirty="0"/>
          </a:p>
        </p:txBody>
      </p:sp>
      <p:sp>
        <p:nvSpPr>
          <p:cNvPr id="17" name="Text 15"/>
          <p:cNvSpPr txBox="1"/>
          <p:nvPr/>
        </p:nvSpPr>
        <p:spPr>
          <a:xfrm>
            <a:off x="6858000" y="2761488"/>
            <a:ext cx="4800600" cy="4114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Anggotanya negara</a:t>
            </a:r>
            <a:endParaRPr lang="en-US" sz="1400" dirty="0"/>
          </a:p>
        </p:txBody>
      </p:sp>
      <p:sp>
        <p:nvSpPr>
          <p:cNvPr id="18" name="Text 16"/>
          <p:cNvSpPr txBox="1"/>
          <p:nvPr/>
        </p:nvSpPr>
        <p:spPr>
          <a:xfrm>
            <a:off x="6446520" y="3182112"/>
            <a:ext cx="365760" cy="411480"/>
          </a:xfrm>
          <a:prstGeom prst="rect">
            <a:avLst/>
          </a:prstGeom>
          <a:noFill/>
          <a:ln/>
        </p:spPr>
        <p:txBody>
          <a:bodyPr wrap="square" lIns="0" tIns="0" rIns="0" bIns="0" rtlCol="0" anchor="t"/>
          <a:lstStyle/>
          <a:p>
            <a:pPr indent="0" marL="0">
              <a:spcAft>
                <a:spcPts val="600"/>
              </a:spcAft>
              <a:buNone/>
            </a:pPr>
            <a:r>
              <a:rPr lang="en-US" sz="1800" b="1" dirty="0">
                <a:solidFill>
                  <a:srgbClr val="7A1220"/>
                </a:solidFill>
                <a:latin typeface="Georgia" pitchFamily="34" charset="0"/>
                <a:ea typeface="Georgia" pitchFamily="34" charset="-122"/>
                <a:cs typeface="Georgia" pitchFamily="34" charset="-120"/>
              </a:rPr>
              <a:t>3</a:t>
            </a:r>
            <a:endParaRPr lang="en-US" sz="1800" dirty="0"/>
          </a:p>
        </p:txBody>
      </p:sp>
      <p:sp>
        <p:nvSpPr>
          <p:cNvPr id="19" name="Text 17"/>
          <p:cNvSpPr txBox="1"/>
          <p:nvPr/>
        </p:nvSpPr>
        <p:spPr>
          <a:xfrm>
            <a:off x="6858000" y="3218688"/>
            <a:ext cx="4800600" cy="4114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Punya organ yang tetap</a:t>
            </a:r>
            <a:endParaRPr lang="en-US" sz="1400" dirty="0"/>
          </a:p>
        </p:txBody>
      </p:sp>
      <p:sp>
        <p:nvSpPr>
          <p:cNvPr id="20" name="Text 18"/>
          <p:cNvSpPr txBox="1"/>
          <p:nvPr/>
        </p:nvSpPr>
        <p:spPr>
          <a:xfrm>
            <a:off x="6446520" y="3639312"/>
            <a:ext cx="365760" cy="411480"/>
          </a:xfrm>
          <a:prstGeom prst="rect">
            <a:avLst/>
          </a:prstGeom>
          <a:noFill/>
          <a:ln/>
        </p:spPr>
        <p:txBody>
          <a:bodyPr wrap="square" lIns="0" tIns="0" rIns="0" bIns="0" rtlCol="0" anchor="t"/>
          <a:lstStyle/>
          <a:p>
            <a:pPr indent="0" marL="0">
              <a:spcAft>
                <a:spcPts val="600"/>
              </a:spcAft>
              <a:buNone/>
            </a:pPr>
            <a:r>
              <a:rPr lang="en-US" sz="1800" b="1" dirty="0">
                <a:solidFill>
                  <a:srgbClr val="7A1220"/>
                </a:solidFill>
                <a:latin typeface="Georgia" pitchFamily="34" charset="0"/>
                <a:ea typeface="Georgia" pitchFamily="34" charset="-122"/>
                <a:cs typeface="Georgia" pitchFamily="34" charset="-120"/>
              </a:rPr>
              <a:t>4</a:t>
            </a:r>
            <a:endParaRPr lang="en-US" sz="1800" dirty="0"/>
          </a:p>
        </p:txBody>
      </p:sp>
      <p:sp>
        <p:nvSpPr>
          <p:cNvPr id="21" name="Text 19"/>
          <p:cNvSpPr txBox="1"/>
          <p:nvPr/>
        </p:nvSpPr>
        <p:spPr>
          <a:xfrm>
            <a:off x="6858000" y="3675888"/>
            <a:ext cx="4800600" cy="41148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Punya personalitas hukum sendiri (Reparation for Injuries, 1949)</a:t>
            </a:r>
            <a:endParaRPr lang="en-US" sz="1400" dirty="0"/>
          </a:p>
        </p:txBody>
      </p:sp>
      <p:sp>
        <p:nvSpPr>
          <p:cNvPr id="22" name="Text 20"/>
          <p:cNvSpPr txBox="1"/>
          <p:nvPr/>
        </p:nvSpPr>
        <p:spPr>
          <a:xfrm>
            <a:off x="6446520" y="4206240"/>
            <a:ext cx="5212080" cy="1143000"/>
          </a:xfrm>
          <a:prstGeom prst="rect">
            <a:avLst/>
          </a:prstGeom>
          <a:noFill/>
          <a:ln/>
        </p:spPr>
        <p:txBody>
          <a:bodyPr wrap="square" lIns="0" tIns="0" rIns="0" bIns="0" rtlCol="0" anchor="t"/>
          <a:lstStyle/>
          <a:p>
            <a:pPr indent="0" marL="0">
              <a:spcAft>
                <a:spcPts val="600"/>
              </a:spcAft>
              <a:buNone/>
            </a:pPr>
            <a:r>
              <a:rPr lang="en-US" sz="1400" b="1" dirty="0">
                <a:solidFill>
                  <a:srgbClr val="2B2B2B"/>
                </a:solidFill>
                <a:latin typeface="Arial" pitchFamily="34" charset="0"/>
                <a:ea typeface="Arial" pitchFamily="34" charset="-122"/>
                <a:cs typeface="Arial" pitchFamily="34" charset="-120"/>
              </a:rPr>
              <a:t>PBB: </a:t>
            </a:r>
            <a:pPr indent="0" marL="0">
              <a:spcAft>
                <a:spcPts val="600"/>
              </a:spcAft>
              <a:buNone/>
            </a:pPr>
            <a:r>
              <a:rPr lang="en-US" sz="1400" dirty="0">
                <a:solidFill>
                  <a:srgbClr val="2B2B2B"/>
                </a:solidFill>
                <a:latin typeface="Arial" pitchFamily="34" charset="0"/>
                <a:ea typeface="Arial" pitchFamily="34" charset="-122"/>
                <a:cs typeface="Arial" pitchFamily="34" charset="-120"/>
              </a:rPr>
              <a:t>Piagam 1945, enam organ utama (Pasal 7).</a:t>
            </a:r>
            <a:endParaRPr lang="en-US" sz="1400" dirty="0"/>
          </a:p>
          <a:p>
            <a:pPr indent="0" marL="0">
              <a:spcAft>
                <a:spcPts val="600"/>
              </a:spcAft>
              <a:buNone/>
            </a:pPr>
            <a:r>
              <a:rPr lang="en-US" sz="1400" b="1" dirty="0">
                <a:solidFill>
                  <a:srgbClr val="2B2B2B"/>
                </a:solidFill>
                <a:latin typeface="Arial" pitchFamily="34" charset="0"/>
                <a:ea typeface="Arial" pitchFamily="34" charset="-122"/>
                <a:cs typeface="Arial" pitchFamily="34" charset="-120"/>
              </a:rPr>
              <a:t>ASEAN: </a:t>
            </a:r>
            <a:pPr indent="0" marL="0">
              <a:spcAft>
                <a:spcPts val="600"/>
              </a:spcAft>
              <a:buNone/>
            </a:pPr>
            <a:r>
              <a:rPr lang="en-US" sz="1400" dirty="0">
                <a:solidFill>
                  <a:srgbClr val="2B2B2B"/>
                </a:solidFill>
                <a:latin typeface="Arial" pitchFamily="34" charset="0"/>
                <a:ea typeface="Arial" pitchFamily="34" charset="-122"/>
                <a:cs typeface="Arial" pitchFamily="34" charset="-120"/>
              </a:rPr>
              <a:t>Piagam ASEAN 2007, personalitas hukum di Pasal 3; disahkan dengan UU No. 38 Tahun 2008.</a:t>
            </a:r>
            <a:endParaRPr lang="en-US" sz="1400" dirty="0"/>
          </a:p>
        </p:txBody>
      </p:sp>
      <p:sp>
        <p:nvSpPr>
          <p:cNvPr id="23" name="Shape 21"/>
          <p:cNvSpPr/>
          <p:nvPr/>
        </p:nvSpPr>
        <p:spPr>
          <a:xfrm>
            <a:off x="502920" y="5532120"/>
            <a:ext cx="11183112" cy="0"/>
          </a:xfrm>
          <a:prstGeom prst="line">
            <a:avLst/>
          </a:prstGeom>
          <a:noFill/>
          <a:ln w="12700">
            <a:solidFill>
              <a:srgbClr val="D9D2CB"/>
            </a:solidFill>
            <a:prstDash val="solid"/>
          </a:ln>
        </p:spPr>
      </p:sp>
      <p:sp>
        <p:nvSpPr>
          <p:cNvPr id="24" name="Text 22"/>
          <p:cNvSpPr txBox="1"/>
          <p:nvPr/>
        </p:nvSpPr>
        <p:spPr>
          <a:xfrm>
            <a:off x="502920" y="5641848"/>
            <a:ext cx="11155680" cy="594360"/>
          </a:xfrm>
          <a:prstGeom prst="rect">
            <a:avLst/>
          </a:prstGeom>
          <a:noFill/>
          <a:ln/>
        </p:spPr>
        <p:txBody>
          <a:bodyPr wrap="square" lIns="0" tIns="0" rIns="0" bIns="0" rtlCol="0" anchor="t"/>
          <a:lstStyle/>
          <a:p>
            <a:pPr indent="0" marL="0">
              <a:spcAft>
                <a:spcPts val="600"/>
              </a:spcAft>
              <a:buNone/>
            </a:pPr>
            <a:r>
              <a:rPr lang="en-US" sz="1600" b="1" dirty="0">
                <a:solidFill>
                  <a:srgbClr val="7A1220"/>
                </a:solidFill>
                <a:latin typeface="Arial" pitchFamily="34" charset="0"/>
                <a:ea typeface="Arial" pitchFamily="34" charset="-122"/>
                <a:cs typeface="Arial" pitchFamily="34" charset="-120"/>
              </a:rPr>
              <a:t>Tahukah kamu? </a:t>
            </a:r>
            <a:pPr indent="0" marL="0">
              <a:spcAft>
                <a:spcPts val="600"/>
              </a:spcAft>
              <a:buNone/>
            </a:pPr>
            <a:r>
              <a:rPr lang="en-US" sz="1600" dirty="0">
                <a:solidFill>
                  <a:srgbClr val="2B2B2B"/>
                </a:solidFill>
                <a:latin typeface="Arial" pitchFamily="34" charset="0"/>
                <a:ea typeface="Arial" pitchFamily="34" charset="-122"/>
                <a:cs typeface="Arial" pitchFamily="34" charset="-120"/>
              </a:rPr>
              <a:t>Indonesia satu-satunya negara yang pernah keluar dari PBB (Januari 1965), lalu kembali aktif pada September 1966.</a:t>
            </a:r>
            <a:endParaRPr lang="en-US" sz="16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PERKEMBANGAN TERBARU</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Laut Lepas Kini Punya Penjaga</a:t>
            </a:r>
            <a:endParaRPr lang="en-US" sz="2800" dirty="0"/>
          </a:p>
        </p:txBody>
      </p:sp>
      <p:sp>
        <p:nvSpPr>
          <p:cNvPr id="4" name="Text 2"/>
          <p:cNvSpPr txBox="1"/>
          <p:nvPr/>
        </p:nvSpPr>
        <p:spPr>
          <a:xfrm>
            <a:off x="502920" y="1828800"/>
            <a:ext cx="3840480" cy="1234440"/>
          </a:xfrm>
          <a:prstGeom prst="rect">
            <a:avLst/>
          </a:prstGeom>
          <a:noFill/>
          <a:ln/>
        </p:spPr>
        <p:txBody>
          <a:bodyPr wrap="square" lIns="0" tIns="0" rIns="0" bIns="0" rtlCol="0" anchor="t"/>
          <a:lstStyle/>
          <a:p>
            <a:pPr indent="0" marL="0">
              <a:buNone/>
            </a:pPr>
            <a:r>
              <a:rPr lang="en-US" sz="8000" b="1" dirty="0">
                <a:solidFill>
                  <a:srgbClr val="7A1220"/>
                </a:solidFill>
                <a:latin typeface="Georgia" pitchFamily="34" charset="0"/>
                <a:ea typeface="Georgia" pitchFamily="34" charset="-122"/>
                <a:cs typeface="Georgia" pitchFamily="34" charset="-120"/>
              </a:rPr>
              <a:t>2/3</a:t>
            </a:r>
            <a:endParaRPr lang="en-US" sz="8000" dirty="0"/>
          </a:p>
        </p:txBody>
      </p:sp>
      <p:sp>
        <p:nvSpPr>
          <p:cNvPr id="5" name="Text 3"/>
          <p:cNvSpPr txBox="1"/>
          <p:nvPr/>
        </p:nvSpPr>
        <p:spPr>
          <a:xfrm>
            <a:off x="502920" y="3108960"/>
            <a:ext cx="3749040" cy="822960"/>
          </a:xfrm>
          <a:prstGeom prst="rect">
            <a:avLst/>
          </a:prstGeom>
          <a:noFill/>
          <a:ln/>
        </p:spPr>
        <p:txBody>
          <a:bodyPr wrap="square" lIns="0" tIns="0" rIns="0" bIns="0" rtlCol="0" anchor="t"/>
          <a:lstStyle/>
          <a:p>
            <a:pPr indent="0" marL="0">
              <a:spcAft>
                <a:spcPts val="600"/>
              </a:spcAft>
              <a:buNone/>
            </a:pPr>
            <a:r>
              <a:rPr lang="en-US" sz="1700" b="1" dirty="0">
                <a:solidFill>
                  <a:srgbClr val="2B2B2B"/>
                </a:solidFill>
                <a:latin typeface="Arial" pitchFamily="34" charset="0"/>
                <a:ea typeface="Arial" pitchFamily="34" charset="-122"/>
                <a:cs typeface="Arial" pitchFamily="34" charset="-120"/>
              </a:rPr>
              <a:t>lautan dunia adalah laut lepas, di luar yurisdiksi negara mana pun.</a:t>
            </a:r>
            <a:endParaRPr lang="en-US" sz="1700" dirty="0"/>
          </a:p>
        </p:txBody>
      </p:sp>
      <p:sp>
        <p:nvSpPr>
          <p:cNvPr id="6" name="Text 4"/>
          <p:cNvSpPr txBox="1"/>
          <p:nvPr/>
        </p:nvSpPr>
        <p:spPr>
          <a:xfrm>
            <a:off x="502920" y="4069080"/>
            <a:ext cx="3749040" cy="1280160"/>
          </a:xfrm>
          <a:prstGeom prst="rect">
            <a:avLst/>
          </a:prstGeom>
          <a:noFill/>
          <a:ln/>
        </p:spPr>
        <p:txBody>
          <a:bodyPr wrap="square" lIns="0" tIns="0" rIns="0" bIns="0" rtlCol="0" anchor="t"/>
          <a:lstStyle/>
          <a:p>
            <a:pPr indent="0" marL="0">
              <a:spcAft>
                <a:spcPts val="600"/>
              </a:spcAft>
              <a:buNone/>
            </a:pPr>
            <a:r>
              <a:rPr lang="en-US" sz="1500" dirty="0">
                <a:solidFill>
                  <a:srgbClr val="2B2B2B"/>
                </a:solidFill>
                <a:latin typeface="Arial" pitchFamily="34" charset="0"/>
                <a:ea typeface="Arial" pitchFamily="34" charset="-122"/>
                <a:cs typeface="Arial" pitchFamily="34" charset="-120"/>
              </a:rPr>
              <a:t>Perjanjian BBNJ di bawah UNCLOS mulai berlaku 17 Januari 2026. Indonesia mengesahkannya dengan Perpres No. 67 Tahun 2025.</a:t>
            </a:r>
            <a:endParaRPr lang="en-US" sz="1500" dirty="0"/>
          </a:p>
        </p:txBody>
      </p:sp>
      <p:sp>
        <p:nvSpPr>
          <p:cNvPr id="7" name="Text 5"/>
          <p:cNvSpPr txBox="1"/>
          <p:nvPr/>
        </p:nvSpPr>
        <p:spPr>
          <a:xfrm>
            <a:off x="502920" y="5440680"/>
            <a:ext cx="3749040" cy="731520"/>
          </a:xfrm>
          <a:prstGeom prst="rect">
            <a:avLst/>
          </a:prstGeom>
          <a:noFill/>
          <a:ln/>
        </p:spPr>
        <p:txBody>
          <a:bodyPr wrap="square" lIns="0" tIns="0" rIns="0" bIns="0" rtlCol="0" anchor="t"/>
          <a:lstStyle/>
          <a:p>
            <a:pPr indent="0" marL="0">
              <a:spcAft>
                <a:spcPts val="600"/>
              </a:spcAft>
              <a:buNone/>
            </a:pPr>
            <a:r>
              <a:rPr lang="en-US" sz="1400" i="1" dirty="0">
                <a:solidFill>
                  <a:srgbClr val="5F5F5F"/>
                </a:solidFill>
                <a:latin typeface="Arial" pitchFamily="34" charset="0"/>
                <a:ea typeface="Arial" pitchFamily="34" charset="-122"/>
                <a:cs typeface="Arial" pitchFamily="34" charset="-120"/>
              </a:rPr>
              <a:t>Ingat pertanyaan di Pertemuan 5: tepatkah disahkan dengan perpres?</a:t>
            </a:r>
            <a:endParaRPr lang="en-US" sz="1400" dirty="0"/>
          </a:p>
        </p:txBody>
      </p:sp>
      <p:sp>
        <p:nvSpPr>
          <p:cNvPr id="8" name="Shape 6"/>
          <p:cNvSpPr/>
          <p:nvPr/>
        </p:nvSpPr>
        <p:spPr>
          <a:xfrm>
            <a:off x="4617720" y="1965960"/>
            <a:ext cx="0" cy="4251960"/>
          </a:xfrm>
          <a:prstGeom prst="line">
            <a:avLst/>
          </a:prstGeom>
          <a:noFill/>
          <a:ln w="12700">
            <a:solidFill>
              <a:srgbClr val="D9D2CB"/>
            </a:solidFill>
            <a:prstDash val="solid"/>
          </a:ln>
        </p:spPr>
      </p:sp>
      <p:sp>
        <p:nvSpPr>
          <p:cNvPr id="9" name="Shape 7"/>
          <p:cNvSpPr/>
          <p:nvPr/>
        </p:nvSpPr>
        <p:spPr>
          <a:xfrm>
            <a:off x="8183880" y="2057400"/>
            <a:ext cx="0" cy="4069080"/>
          </a:xfrm>
          <a:prstGeom prst="line">
            <a:avLst/>
          </a:prstGeom>
          <a:noFill/>
          <a:ln w="12700">
            <a:solidFill>
              <a:srgbClr val="D9D2CB"/>
            </a:solidFill>
            <a:prstDash val="solid"/>
          </a:ln>
        </p:spPr>
      </p:sp>
      <p:sp>
        <p:nvSpPr>
          <p:cNvPr id="10" name="Shape 8"/>
          <p:cNvSpPr/>
          <p:nvPr/>
        </p:nvSpPr>
        <p:spPr>
          <a:xfrm>
            <a:off x="4892040" y="4069080"/>
            <a:ext cx="6793992" cy="0"/>
          </a:xfrm>
          <a:prstGeom prst="line">
            <a:avLst/>
          </a:prstGeom>
          <a:noFill/>
          <a:ln w="12700">
            <a:solidFill>
              <a:srgbClr val="D9D2CB"/>
            </a:solidFill>
            <a:prstDash val="solid"/>
          </a:ln>
        </p:spPr>
      </p:sp>
      <p:sp>
        <p:nvSpPr>
          <p:cNvPr id="11" name="Text 9"/>
          <p:cNvSpPr txBox="1"/>
          <p:nvPr/>
        </p:nvSpPr>
        <p:spPr>
          <a:xfrm>
            <a:off x="4937760" y="1965960"/>
            <a:ext cx="457200" cy="548640"/>
          </a:xfrm>
          <a:prstGeom prst="rect">
            <a:avLst/>
          </a:prstGeom>
          <a:noFill/>
          <a:ln/>
        </p:spPr>
        <p:txBody>
          <a:bodyPr wrap="square" lIns="0" tIns="0" rIns="0" bIns="0" rtlCol="0" anchor="t"/>
          <a:lstStyle/>
          <a:p>
            <a:pPr indent="0" marL="0">
              <a:spcAft>
                <a:spcPts val="600"/>
              </a:spcAft>
              <a:buNone/>
            </a:pPr>
            <a:r>
              <a:rPr lang="en-US" sz="2800" b="1" dirty="0">
                <a:solidFill>
                  <a:srgbClr val="7A1220"/>
                </a:solidFill>
                <a:latin typeface="Georgia" pitchFamily="34" charset="0"/>
                <a:ea typeface="Georgia" pitchFamily="34" charset="-122"/>
                <a:cs typeface="Georgia" pitchFamily="34" charset="-120"/>
              </a:rPr>
              <a:t>1</a:t>
            </a:r>
            <a:endParaRPr lang="en-US" sz="2800" dirty="0"/>
          </a:p>
        </p:txBody>
      </p:sp>
      <p:sp>
        <p:nvSpPr>
          <p:cNvPr id="12" name="Text 10"/>
          <p:cNvSpPr txBox="1"/>
          <p:nvPr/>
        </p:nvSpPr>
        <p:spPr>
          <a:xfrm>
            <a:off x="4937760" y="2560320"/>
            <a:ext cx="3108960" cy="365760"/>
          </a:xfrm>
          <a:prstGeom prst="rect">
            <a:avLst/>
          </a:prstGeom>
          <a:noFill/>
          <a:ln/>
        </p:spPr>
        <p:txBody>
          <a:bodyPr wrap="square" lIns="0" tIns="0" rIns="0" bIns="0" rtlCol="0" anchor="t"/>
          <a:lstStyle/>
          <a:p>
            <a:pPr indent="0" marL="0">
              <a:spcAft>
                <a:spcPts val="600"/>
              </a:spcAft>
              <a:buNone/>
            </a:pPr>
            <a:r>
              <a:rPr lang="en-US" sz="1600" b="1" dirty="0">
                <a:solidFill>
                  <a:srgbClr val="2B2B2B"/>
                </a:solidFill>
                <a:latin typeface="Arial" pitchFamily="34" charset="0"/>
                <a:ea typeface="Arial" pitchFamily="34" charset="-122"/>
                <a:cs typeface="Arial" pitchFamily="34" charset="-120"/>
              </a:rPr>
              <a:t>Sumber daya genetik laut</a:t>
            </a:r>
            <a:endParaRPr lang="en-US" sz="1600" dirty="0"/>
          </a:p>
        </p:txBody>
      </p:sp>
      <p:sp>
        <p:nvSpPr>
          <p:cNvPr id="13" name="Text 11"/>
          <p:cNvSpPr txBox="1"/>
          <p:nvPr/>
        </p:nvSpPr>
        <p:spPr>
          <a:xfrm>
            <a:off x="4937760" y="2953512"/>
            <a:ext cx="3108960" cy="8229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Manfaat dari organisme laut lepas, misalnya untuk obat, dibagi secara adil.</a:t>
            </a:r>
            <a:endParaRPr lang="en-US" sz="1400" dirty="0"/>
          </a:p>
        </p:txBody>
      </p:sp>
      <p:sp>
        <p:nvSpPr>
          <p:cNvPr id="14" name="Text 12"/>
          <p:cNvSpPr txBox="1"/>
          <p:nvPr/>
        </p:nvSpPr>
        <p:spPr>
          <a:xfrm>
            <a:off x="8458200" y="1965960"/>
            <a:ext cx="457200" cy="548640"/>
          </a:xfrm>
          <a:prstGeom prst="rect">
            <a:avLst/>
          </a:prstGeom>
          <a:noFill/>
          <a:ln/>
        </p:spPr>
        <p:txBody>
          <a:bodyPr wrap="square" lIns="0" tIns="0" rIns="0" bIns="0" rtlCol="0" anchor="t"/>
          <a:lstStyle/>
          <a:p>
            <a:pPr indent="0" marL="0">
              <a:spcAft>
                <a:spcPts val="600"/>
              </a:spcAft>
              <a:buNone/>
            </a:pPr>
            <a:r>
              <a:rPr lang="en-US" sz="2800" b="1" dirty="0">
                <a:solidFill>
                  <a:srgbClr val="7A1220"/>
                </a:solidFill>
                <a:latin typeface="Georgia" pitchFamily="34" charset="0"/>
                <a:ea typeface="Georgia" pitchFamily="34" charset="-122"/>
                <a:cs typeface="Georgia" pitchFamily="34" charset="-120"/>
              </a:rPr>
              <a:t>2</a:t>
            </a:r>
            <a:endParaRPr lang="en-US" sz="2800" dirty="0"/>
          </a:p>
        </p:txBody>
      </p:sp>
      <p:sp>
        <p:nvSpPr>
          <p:cNvPr id="15" name="Text 13"/>
          <p:cNvSpPr txBox="1"/>
          <p:nvPr/>
        </p:nvSpPr>
        <p:spPr>
          <a:xfrm>
            <a:off x="8458200" y="2560320"/>
            <a:ext cx="3108960" cy="365760"/>
          </a:xfrm>
          <a:prstGeom prst="rect">
            <a:avLst/>
          </a:prstGeom>
          <a:noFill/>
          <a:ln/>
        </p:spPr>
        <p:txBody>
          <a:bodyPr wrap="square" lIns="0" tIns="0" rIns="0" bIns="0" rtlCol="0" anchor="t"/>
          <a:lstStyle/>
          <a:p>
            <a:pPr indent="0" marL="0">
              <a:spcAft>
                <a:spcPts val="600"/>
              </a:spcAft>
              <a:buNone/>
            </a:pPr>
            <a:r>
              <a:rPr lang="en-US" sz="1600" b="1" dirty="0">
                <a:solidFill>
                  <a:srgbClr val="2B2B2B"/>
                </a:solidFill>
                <a:latin typeface="Arial" pitchFamily="34" charset="0"/>
                <a:ea typeface="Arial" pitchFamily="34" charset="-122"/>
                <a:cs typeface="Arial" pitchFamily="34" charset="-120"/>
              </a:rPr>
              <a:t>Kawasan konservasi</a:t>
            </a:r>
            <a:endParaRPr lang="en-US" sz="1600" dirty="0"/>
          </a:p>
        </p:txBody>
      </p:sp>
      <p:sp>
        <p:nvSpPr>
          <p:cNvPr id="16" name="Text 14"/>
          <p:cNvSpPr txBox="1"/>
          <p:nvPr/>
        </p:nvSpPr>
        <p:spPr>
          <a:xfrm>
            <a:off x="8458200" y="2953512"/>
            <a:ext cx="3108960" cy="8229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Kawasan lindung laut dapat ditetapkan di laut lepas.</a:t>
            </a:r>
            <a:endParaRPr lang="en-US" sz="1400" dirty="0"/>
          </a:p>
        </p:txBody>
      </p:sp>
      <p:sp>
        <p:nvSpPr>
          <p:cNvPr id="17" name="Text 15"/>
          <p:cNvSpPr txBox="1"/>
          <p:nvPr/>
        </p:nvSpPr>
        <p:spPr>
          <a:xfrm>
            <a:off x="4937760" y="4251960"/>
            <a:ext cx="457200" cy="548640"/>
          </a:xfrm>
          <a:prstGeom prst="rect">
            <a:avLst/>
          </a:prstGeom>
          <a:noFill/>
          <a:ln/>
        </p:spPr>
        <p:txBody>
          <a:bodyPr wrap="square" lIns="0" tIns="0" rIns="0" bIns="0" rtlCol="0" anchor="t"/>
          <a:lstStyle/>
          <a:p>
            <a:pPr indent="0" marL="0">
              <a:spcAft>
                <a:spcPts val="600"/>
              </a:spcAft>
              <a:buNone/>
            </a:pPr>
            <a:r>
              <a:rPr lang="en-US" sz="2800" b="1" dirty="0">
                <a:solidFill>
                  <a:srgbClr val="7A1220"/>
                </a:solidFill>
                <a:latin typeface="Georgia" pitchFamily="34" charset="0"/>
                <a:ea typeface="Georgia" pitchFamily="34" charset="-122"/>
                <a:cs typeface="Georgia" pitchFamily="34" charset="-120"/>
              </a:rPr>
              <a:t>3</a:t>
            </a:r>
            <a:endParaRPr lang="en-US" sz="2800" dirty="0"/>
          </a:p>
        </p:txBody>
      </p:sp>
      <p:sp>
        <p:nvSpPr>
          <p:cNvPr id="18" name="Text 16"/>
          <p:cNvSpPr txBox="1"/>
          <p:nvPr/>
        </p:nvSpPr>
        <p:spPr>
          <a:xfrm>
            <a:off x="4937760" y="4846320"/>
            <a:ext cx="3108960" cy="365760"/>
          </a:xfrm>
          <a:prstGeom prst="rect">
            <a:avLst/>
          </a:prstGeom>
          <a:noFill/>
          <a:ln/>
        </p:spPr>
        <p:txBody>
          <a:bodyPr wrap="square" lIns="0" tIns="0" rIns="0" bIns="0" rtlCol="0" anchor="t"/>
          <a:lstStyle/>
          <a:p>
            <a:pPr indent="0" marL="0">
              <a:spcAft>
                <a:spcPts val="600"/>
              </a:spcAft>
              <a:buNone/>
            </a:pPr>
            <a:r>
              <a:rPr lang="en-US" sz="1600" b="1" dirty="0">
                <a:solidFill>
                  <a:srgbClr val="2B2B2B"/>
                </a:solidFill>
                <a:latin typeface="Arial" pitchFamily="34" charset="0"/>
                <a:ea typeface="Arial" pitchFamily="34" charset="-122"/>
                <a:cs typeface="Arial" pitchFamily="34" charset="-120"/>
              </a:rPr>
              <a:t>Analisis dampak lingkungan</a:t>
            </a:r>
            <a:endParaRPr lang="en-US" sz="1600" dirty="0"/>
          </a:p>
        </p:txBody>
      </p:sp>
      <p:sp>
        <p:nvSpPr>
          <p:cNvPr id="19" name="Text 17"/>
          <p:cNvSpPr txBox="1"/>
          <p:nvPr/>
        </p:nvSpPr>
        <p:spPr>
          <a:xfrm>
            <a:off x="4937760" y="5239512"/>
            <a:ext cx="3108960" cy="8229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Kegiatan berisiko di laut lepas harus dikaji dulu dampaknya.</a:t>
            </a:r>
            <a:endParaRPr lang="en-US" sz="1400" dirty="0"/>
          </a:p>
        </p:txBody>
      </p:sp>
      <p:sp>
        <p:nvSpPr>
          <p:cNvPr id="20" name="Text 18"/>
          <p:cNvSpPr txBox="1"/>
          <p:nvPr/>
        </p:nvSpPr>
        <p:spPr>
          <a:xfrm>
            <a:off x="8458200" y="4251960"/>
            <a:ext cx="457200" cy="548640"/>
          </a:xfrm>
          <a:prstGeom prst="rect">
            <a:avLst/>
          </a:prstGeom>
          <a:noFill/>
          <a:ln/>
        </p:spPr>
        <p:txBody>
          <a:bodyPr wrap="square" lIns="0" tIns="0" rIns="0" bIns="0" rtlCol="0" anchor="t"/>
          <a:lstStyle/>
          <a:p>
            <a:pPr indent="0" marL="0">
              <a:spcAft>
                <a:spcPts val="600"/>
              </a:spcAft>
              <a:buNone/>
            </a:pPr>
            <a:r>
              <a:rPr lang="en-US" sz="2800" b="1" dirty="0">
                <a:solidFill>
                  <a:srgbClr val="7A1220"/>
                </a:solidFill>
                <a:latin typeface="Georgia" pitchFamily="34" charset="0"/>
                <a:ea typeface="Georgia" pitchFamily="34" charset="-122"/>
                <a:cs typeface="Georgia" pitchFamily="34" charset="-120"/>
              </a:rPr>
              <a:t>4</a:t>
            </a:r>
            <a:endParaRPr lang="en-US" sz="2800" dirty="0"/>
          </a:p>
        </p:txBody>
      </p:sp>
      <p:sp>
        <p:nvSpPr>
          <p:cNvPr id="21" name="Text 19"/>
          <p:cNvSpPr txBox="1"/>
          <p:nvPr/>
        </p:nvSpPr>
        <p:spPr>
          <a:xfrm>
            <a:off x="8458200" y="4846320"/>
            <a:ext cx="3108960" cy="365760"/>
          </a:xfrm>
          <a:prstGeom prst="rect">
            <a:avLst/>
          </a:prstGeom>
          <a:noFill/>
          <a:ln/>
        </p:spPr>
        <p:txBody>
          <a:bodyPr wrap="square" lIns="0" tIns="0" rIns="0" bIns="0" rtlCol="0" anchor="t"/>
          <a:lstStyle/>
          <a:p>
            <a:pPr indent="0" marL="0">
              <a:spcAft>
                <a:spcPts val="600"/>
              </a:spcAft>
              <a:buNone/>
            </a:pPr>
            <a:r>
              <a:rPr lang="en-US" sz="1600" b="1" dirty="0">
                <a:solidFill>
                  <a:srgbClr val="2B2B2B"/>
                </a:solidFill>
                <a:latin typeface="Arial" pitchFamily="34" charset="0"/>
                <a:ea typeface="Arial" pitchFamily="34" charset="-122"/>
                <a:cs typeface="Arial" pitchFamily="34" charset="-120"/>
              </a:rPr>
              <a:t>Kapasitas dan teknologi</a:t>
            </a:r>
            <a:endParaRPr lang="en-US" sz="1600" dirty="0"/>
          </a:p>
        </p:txBody>
      </p:sp>
      <p:sp>
        <p:nvSpPr>
          <p:cNvPr id="22" name="Text 20"/>
          <p:cNvSpPr txBox="1"/>
          <p:nvPr/>
        </p:nvSpPr>
        <p:spPr>
          <a:xfrm>
            <a:off x="8458200" y="5239512"/>
            <a:ext cx="3108960" cy="822960"/>
          </a:xfrm>
          <a:prstGeom prst="rect">
            <a:avLst/>
          </a:prstGeom>
          <a:noFill/>
          <a:ln/>
        </p:spPr>
        <p:txBody>
          <a:bodyPr wrap="square" lIns="0" tIns="0" rIns="0" bIns="0" rtlCol="0" anchor="t"/>
          <a:lstStyle/>
          <a:p>
            <a:pPr indent="0" marL="0">
              <a:spcAft>
                <a:spcPts val="600"/>
              </a:spcAft>
              <a:buNone/>
            </a:pPr>
            <a:r>
              <a:rPr lang="en-US" sz="1400" dirty="0">
                <a:solidFill>
                  <a:srgbClr val="2B2B2B"/>
                </a:solidFill>
                <a:latin typeface="Arial" pitchFamily="34" charset="0"/>
                <a:ea typeface="Arial" pitchFamily="34" charset="-122"/>
                <a:cs typeface="Arial" pitchFamily="34" charset="-120"/>
              </a:rPr>
              <a:t>Negara berkembang dibantu kapasitas dan alih teknologi kelautan.</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896112"/>
            <a:ext cx="11155680" cy="274320"/>
          </a:xfrm>
          <a:prstGeom prst="rect">
            <a:avLst/>
          </a:prstGeom>
          <a:noFill/>
          <a:ln/>
        </p:spPr>
        <p:txBody>
          <a:bodyPr wrap="square" lIns="0" tIns="0" rIns="0" bIns="0" rtlCol="0" anchor="t"/>
          <a:lstStyle/>
          <a:p>
            <a:pPr indent="0" marL="0">
              <a:buNone/>
            </a:pPr>
            <a:r>
              <a:rPr lang="en-US" sz="1200" b="1" spc="200" kern="0" dirty="0">
                <a:solidFill>
                  <a:srgbClr val="7A1220"/>
                </a:solidFill>
                <a:latin typeface="Arial" pitchFamily="34" charset="0"/>
                <a:ea typeface="Arial" pitchFamily="34" charset="-122"/>
                <a:cs typeface="Arial" pitchFamily="34" charset="-120"/>
              </a:rPr>
              <a:t>SEBELUM PULANG</a:t>
            </a:r>
            <a:endParaRPr lang="en-US" sz="1200" dirty="0"/>
          </a:p>
        </p:txBody>
      </p:sp>
      <p:sp>
        <p:nvSpPr>
          <p:cNvPr id="3" name="Text 1"/>
          <p:cNvSpPr txBox="1"/>
          <p:nvPr/>
        </p:nvSpPr>
        <p:spPr>
          <a:xfrm>
            <a:off x="502920" y="1152144"/>
            <a:ext cx="11183112" cy="640080"/>
          </a:xfrm>
          <a:prstGeom prst="rect">
            <a:avLst/>
          </a:prstGeom>
          <a:noFill/>
          <a:ln/>
        </p:spPr>
        <p:txBody>
          <a:bodyPr wrap="square" lIns="0" tIns="0" rIns="0" bIns="0" rtlCol="0" anchor="ctr"/>
          <a:lstStyle/>
          <a:p>
            <a:pPr indent="0" marL="0">
              <a:buNone/>
            </a:pPr>
            <a:r>
              <a:rPr lang="en-US" sz="2800" b="1" dirty="0">
                <a:solidFill>
                  <a:srgbClr val="7A1220"/>
                </a:solidFill>
                <a:latin typeface="Georgia" pitchFamily="34" charset="0"/>
                <a:ea typeface="Georgia" pitchFamily="34" charset="-122"/>
                <a:cs typeface="Georgia" pitchFamily="34" charset="-120"/>
              </a:rPr>
              <a:t>Cek Pemahaman</a:t>
            </a:r>
            <a:endParaRPr lang="en-US" sz="2800" dirty="0"/>
          </a:p>
        </p:txBody>
      </p:sp>
      <p:sp>
        <p:nvSpPr>
          <p:cNvPr id="4" name="Text 2"/>
          <p:cNvSpPr txBox="1"/>
          <p:nvPr/>
        </p:nvSpPr>
        <p:spPr>
          <a:xfrm>
            <a:off x="502920" y="19659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1</a:t>
            </a:r>
            <a:endParaRPr lang="en-US" sz="3000" dirty="0"/>
          </a:p>
        </p:txBody>
      </p:sp>
      <p:sp>
        <p:nvSpPr>
          <p:cNvPr id="5" name="Text 3"/>
          <p:cNvSpPr txBox="1"/>
          <p:nvPr/>
        </p:nvSpPr>
        <p:spPr>
          <a:xfrm>
            <a:off x="1051560" y="20116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Kapal ikan asing menangkap ikan 150 mil dari garis pangkal Natuna tanpa izin. Zona apa, dan hak apa yang dilanggar?</a:t>
            </a:r>
            <a:endParaRPr lang="en-US" sz="1600" dirty="0"/>
          </a:p>
        </p:txBody>
      </p:sp>
      <p:sp>
        <p:nvSpPr>
          <p:cNvPr id="6" name="Text 4"/>
          <p:cNvSpPr txBox="1"/>
          <p:nvPr/>
        </p:nvSpPr>
        <p:spPr>
          <a:xfrm>
            <a:off x="502920" y="33375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2</a:t>
            </a:r>
            <a:endParaRPr lang="en-US" sz="3000" dirty="0"/>
          </a:p>
        </p:txBody>
      </p:sp>
      <p:sp>
        <p:nvSpPr>
          <p:cNvPr id="7" name="Text 5"/>
          <p:cNvSpPr txBox="1"/>
          <p:nvPr/>
        </p:nvSpPr>
        <p:spPr>
          <a:xfrm>
            <a:off x="1051560" y="33832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Kapal perang asing melintas di laut teritorial sambil latihan menembak. Masih lintas damai?</a:t>
            </a:r>
            <a:endParaRPr lang="en-US" sz="1600" dirty="0"/>
          </a:p>
        </p:txBody>
      </p:sp>
      <p:sp>
        <p:nvSpPr>
          <p:cNvPr id="8" name="Text 6"/>
          <p:cNvSpPr txBox="1"/>
          <p:nvPr/>
        </p:nvSpPr>
        <p:spPr>
          <a:xfrm>
            <a:off x="502920" y="4709160"/>
            <a:ext cx="457200" cy="548640"/>
          </a:xfrm>
          <a:prstGeom prst="rect">
            <a:avLst/>
          </a:prstGeom>
          <a:noFill/>
          <a:ln/>
        </p:spPr>
        <p:txBody>
          <a:bodyPr wrap="square" lIns="0" tIns="0" rIns="0" bIns="0" rtlCol="0" anchor="t"/>
          <a:lstStyle/>
          <a:p>
            <a:pPr indent="0" marL="0">
              <a:spcAft>
                <a:spcPts val="600"/>
              </a:spcAft>
              <a:buNone/>
            </a:pPr>
            <a:r>
              <a:rPr lang="en-US" sz="3000" b="1" dirty="0">
                <a:solidFill>
                  <a:srgbClr val="7A1220"/>
                </a:solidFill>
                <a:latin typeface="Georgia" pitchFamily="34" charset="0"/>
                <a:ea typeface="Georgia" pitchFamily="34" charset="-122"/>
                <a:cs typeface="Georgia" pitchFamily="34" charset="-120"/>
              </a:rPr>
              <a:t>3</a:t>
            </a:r>
            <a:endParaRPr lang="en-US" sz="3000" dirty="0"/>
          </a:p>
        </p:txBody>
      </p:sp>
      <p:sp>
        <p:nvSpPr>
          <p:cNvPr id="9" name="Text 7"/>
          <p:cNvSpPr txBox="1"/>
          <p:nvPr/>
        </p:nvSpPr>
        <p:spPr>
          <a:xfrm>
            <a:off x="1051560" y="4754880"/>
            <a:ext cx="6172200" cy="1234440"/>
          </a:xfrm>
          <a:prstGeom prst="rect">
            <a:avLst/>
          </a:prstGeom>
          <a:noFill/>
          <a:ln/>
        </p:spPr>
        <p:txBody>
          <a:bodyPr wrap="square" lIns="0" tIns="0" rIns="0" bIns="0" rtlCol="0" anchor="t"/>
          <a:lstStyle/>
          <a:p>
            <a:pPr indent="0" marL="0">
              <a:spcAft>
                <a:spcPts val="600"/>
              </a:spcAft>
              <a:buNone/>
            </a:pPr>
            <a:r>
              <a:rPr lang="en-US" sz="1600" dirty="0">
                <a:solidFill>
                  <a:srgbClr val="2B2B2B"/>
                </a:solidFill>
                <a:latin typeface="Arial" pitchFamily="34" charset="0"/>
                <a:ea typeface="Arial" pitchFamily="34" charset="-122"/>
                <a:cs typeface="Arial" pitchFamily="34" charset="-120"/>
              </a:rPr>
              <a:t>Sebut empat unsur organisasi internasional dan satu contoh organisasinya.</a:t>
            </a:r>
            <a:endParaRPr lang="en-US" sz="1600" dirty="0"/>
          </a:p>
        </p:txBody>
      </p:sp>
      <p:sp>
        <p:nvSpPr>
          <p:cNvPr id="10" name="Shape 8"/>
          <p:cNvSpPr/>
          <p:nvPr/>
        </p:nvSpPr>
        <p:spPr>
          <a:xfrm>
            <a:off x="7589520" y="2011680"/>
            <a:ext cx="0" cy="4160520"/>
          </a:xfrm>
          <a:prstGeom prst="line">
            <a:avLst/>
          </a:prstGeom>
          <a:noFill/>
          <a:ln w="12700">
            <a:solidFill>
              <a:srgbClr val="D9D2CB"/>
            </a:solidFill>
            <a:prstDash val="solid"/>
          </a:ln>
        </p:spPr>
      </p:sp>
      <p:sp>
        <p:nvSpPr>
          <p:cNvPr id="11" name="Text 9"/>
          <p:cNvSpPr txBox="1"/>
          <p:nvPr/>
        </p:nvSpPr>
        <p:spPr>
          <a:xfrm>
            <a:off x="7863840" y="2011680"/>
            <a:ext cx="3822192" cy="2286000"/>
          </a:xfrm>
          <a:prstGeom prst="rect">
            <a:avLst/>
          </a:prstGeom>
          <a:noFill/>
          <a:ln/>
        </p:spPr>
        <p:txBody>
          <a:bodyPr wrap="square" lIns="0" tIns="0" rIns="0" bIns="0" rtlCol="0" anchor="t"/>
          <a:lstStyle/>
          <a:p>
            <a:pPr indent="0" marL="0">
              <a:spcAft>
                <a:spcPts val="400"/>
              </a:spcAft>
              <a:buNone/>
            </a:pPr>
            <a:r>
              <a:rPr lang="en-US" sz="1400" b="1" dirty="0">
                <a:solidFill>
                  <a:srgbClr val="7A1220"/>
                </a:solidFill>
                <a:latin typeface="Arial" pitchFamily="34" charset="0"/>
                <a:ea typeface="Arial" pitchFamily="34" charset="-122"/>
                <a:cs typeface="Arial" pitchFamily="34" charset="-120"/>
              </a:rPr>
              <a:t>Bacaan</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Kusumaatmadja (2019), Pengantar Hukum Internasional, Bab 6</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Dixon (2013), Textbook on International Law, Bab 7</a:t>
            </a:r>
            <a:endParaRPr lang="en-US" sz="1400" dirty="0"/>
          </a:p>
          <a:p>
            <a:pPr indent="0" marL="0">
              <a:spcAft>
                <a:spcPts val="400"/>
              </a:spcAft>
              <a:buNone/>
            </a:pPr>
            <a:r>
              <a:rPr lang="en-US" sz="1400" dirty="0">
                <a:solidFill>
                  <a:srgbClr val="2B2B2B"/>
                </a:solidFill>
                <a:latin typeface="Arial" pitchFamily="34" charset="0"/>
                <a:ea typeface="Arial" pitchFamily="34" charset="-122"/>
                <a:cs typeface="Arial" pitchFamily="34" charset="-120"/>
              </a:rPr>
              <a:t>UNCLOS 1982 (disahkan dengan UU No. 17 Tahun 1985)</a:t>
            </a:r>
            <a:endParaRPr lang="en-US" sz="1400" dirty="0"/>
          </a:p>
        </p:txBody>
      </p:sp>
      <p:sp>
        <p:nvSpPr>
          <p:cNvPr id="12" name="Text 10"/>
          <p:cNvSpPr txBox="1"/>
          <p:nvPr/>
        </p:nvSpPr>
        <p:spPr>
          <a:xfrm>
            <a:off x="7863840" y="4526280"/>
            <a:ext cx="3822192" cy="1645920"/>
          </a:xfrm>
          <a:prstGeom prst="rect">
            <a:avLst/>
          </a:prstGeom>
          <a:noFill/>
          <a:ln/>
        </p:spPr>
        <p:txBody>
          <a:bodyPr wrap="square" lIns="0" tIns="0" rIns="0" bIns="0" rtlCol="0" anchor="t"/>
          <a:lstStyle/>
          <a:p>
            <a:pPr indent="0" marL="0">
              <a:spcAft>
                <a:spcPts val="600"/>
              </a:spcAft>
              <a:buNone/>
            </a:pPr>
            <a:r>
              <a:rPr lang="en-US" sz="1400" b="1" dirty="0">
                <a:solidFill>
                  <a:srgbClr val="7A1220"/>
                </a:solidFill>
                <a:latin typeface="Arial" pitchFamily="34" charset="0"/>
                <a:ea typeface="Arial" pitchFamily="34" charset="-122"/>
                <a:cs typeface="Arial" pitchFamily="34" charset="-120"/>
              </a:rPr>
              <a:t>Pertemuan berikutnya</a:t>
            </a:r>
            <a:endParaRPr lang="en-US" sz="1400" dirty="0"/>
          </a:p>
          <a:p>
            <a:pPr indent="0" marL="0">
              <a:spcAft>
                <a:spcPts val="600"/>
              </a:spcAft>
              <a:buNone/>
            </a:pPr>
            <a:r>
              <a:rPr lang="en-US" sz="1400" dirty="0">
                <a:solidFill>
                  <a:srgbClr val="2B2B2B"/>
                </a:solidFill>
                <a:latin typeface="Arial" pitchFamily="34" charset="0"/>
                <a:ea typeface="Arial" pitchFamily="34" charset="-122"/>
                <a:cs typeface="Arial" pitchFamily="34" charset="-120"/>
              </a:rPr>
              <a:t>Hukum diplomatik dan penyelesaian sengketa internasional. Ada simulasi perundingan, siapkan dirimu.</a:t>
            </a:r>
            <a:endParaRPr lang="en-US" sz="1400" dirty="0"/>
          </a:p>
        </p:txBody>
      </p:sp>
      <p:sp>
        <p:nvSpPr>
          <p:cNvPr id="25" name="Slide Number Placeholder 0"/>
          <p:cNvSpPr>
            <a:spLocks noGrp="1"/>
          </p:cNvSpPr>
          <p:nvPr>
            <p:ph type="sldNum" sz="quarter" idx="4294967295"/>
          </p:nvPr>
        </p:nvSpPr>
        <p:spPr>
          <a:xfrm>
            <a:off x="1122883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FH UNISSULA">
  <a:themeElements>
    <a:clrScheme name="FH UNISSULA">
      <a:dk1>
        <a:srgbClr val="2B2B2B"/>
      </a:dk1>
      <a:lt1>
        <a:srgbClr val="FFFFFF"/>
      </a:lt1>
      <a:dk2>
        <a:srgbClr val="7A1220"/>
      </a:dk2>
      <a:lt2>
        <a:srgbClr val="F7F4F0"/>
      </a:lt2>
      <a:accent1>
        <a:srgbClr val="7A1220"/>
      </a:accent1>
      <a:accent2>
        <a:srgbClr val="9C6B4E"/>
      </a:accent2>
      <a:accent3>
        <a:srgbClr val="4F6D7A"/>
      </a:accent3>
      <a:accent4>
        <a:srgbClr val="B08D57"/>
      </a:accent4>
      <a:accent5>
        <a:srgbClr val="6B6B6B"/>
      </a:accent5>
      <a:accent6>
        <a:srgbClr val="3E5641"/>
      </a:accent6>
      <a:hlink>
        <a:srgbClr val="7A1220"/>
      </a:hlink>
      <a:folHlink>
        <a:srgbClr val="5F5F5F"/>
      </a:folHlink>
    </a:clrScheme>
    <a:fontScheme name="FH UNISSULA">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Fakultas Hukum UNISSULA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Hukum Laut (UNCLOS 1982) dan Organisasi Internasional</dc:title>
  <dc:subject>Hukum Internasional, Pertemuan 6</dc:subject>
  <dc:creator>Aditya Noviyansyah, S.H., M.H.</dc:creator>
  <cp:lastModifiedBy>Aditya Noviyansyah, S.H., M.H.</cp:lastModifiedBy>
  <cp:revision>1</cp:revision>
  <dcterms:created xsi:type="dcterms:W3CDTF">2026-10-21T16:42:16Z</dcterms:created>
  <dcterms:modified xsi:type="dcterms:W3CDTF">2026-10-21T16:42:16Z</dcterms:modified>
</cp:coreProperties>
</file>