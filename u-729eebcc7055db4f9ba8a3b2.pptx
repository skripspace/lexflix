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pertanyaan sampul dan minta voting: boleh atau tidak. Biasanya banyak yang menjawab boleh, karena yang ditangkap memang bermasalah hukum. Slide 2 menunjukkan kasus nyatanya.
Tujuan (Sub-CPMK6): mahasiswa mampu menganalisis hukum diplomatik dan kekebalan diplomatik berdasarkan Konvensi Wina 1961 serta cara penyelesaian sengketa internasional.
Waktu kira-kira: kasus dan kekebalan 40 menit, penyelesaian sengketa 30 menit, simulasi 35 menit, kuis dan persiapan UTS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pertanyaan sampul: tidak boleh. Pasal 22 tidak memberi pengecualian, bahkan untuk keadaan darurat sekalipun. Dalam kasus Tehran Hostages (1980), MI menyebut kewajiban melindungi misi diplomatik sebagai kewajiban paling mendasar.
Glas sudah divonis dalam kasus korupsi. Meksiko memberinya suaka beberapa jam sebelum penggerebekan.
Suaka diplomatik dikenal dalam praktik Amerika Latin (misalnya Konvensi Caracas 1954), tetapi tidak diatur Konvensi Wina 1961. Ini sumber argumen Ekuador.
Perkembangan terakhir: pada Februari 2026 MI mengizinkan putaran tambahan pembelaan tertulis dengan tenggat sampai Februari 2027.
Diskusi: kalau kedutaan boleh dimasuki demi menangkap koruptor, apa risikonya bagi kedutaan Indonesia di luar negeri?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Konvensi Wina 1961 mengatur hubungan diplomatik (kedutaan). Konvensi Wina 1963 mengatur hubungan konsuler (konsulat); kekebalan pejabat konsuler lebih terbatas.
Dasar pemikirannya adalah teori kebutuhan fungsional: kekebalan diberikan agar misi bisa bekerja, bukan untuk keuntungan pribadi diplomat (pembukaan Konvensi Wina 1961).
Pasal 31: ada pengecualian perdata, misalnya sengketa tanah pribadi atau kegiatan bisnis di luar tugas.
Tanyakan: apakah diplomat yang melanggar lalu lintas bisa ditilang? Arahkan ke slide berikut.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soal diplomat melanggar lalu lintas: ia tidak bisa ditilang secara pidana, tetapi negara penerima bisa memprotes, meminta penanggalan kekebalan, atau menyatakannya persona non grata.
Persona non grata adalah alat paling sering dipakai dan tidak perlu alasan.
Tehran Hostages (Amerika Serikat v. Iran): sandera ditahan sejak 4 November 1979 dan dibebaskan Januari 1981.
Khashoggi: konsulat adalah perwakilan konsuler, sehingga yang berlaku Konvensi Wina 1963. Kasus ini menunjukkan perlindungan gedung bukan izin untuk berbuat kejahatan.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Pasal 2 ayat (3) Piagam PBB mewajibkan sengketa diselesaikan secara damai. Pasal 33 ayat (1) menyebut pilihan caranya, termasuk melalui badan atau pengaturan regional.
Makin ke kanan, makin besar peran pihak ketiga dan makin mengikat hasilnya. Negara bebas memilih cara.
Mediasi Thailand-Kamboja: gencatan senjata disepakati di Putrajaya, lalu Kuala Lumpur Peace Accord ditandatangani 26 Oktober 2025. Thailand menangguhkan pelaksanaannya pada November 2025 dan bentrokan kembali terjadi 8 Desember 2025. Pelajaran: hasil mediasi bergantung pada kemauan para pihak.
MI hanya berwenang bila negara setuju (Pasal 36 Statuta), dan putusannya wajib dipatuhi (Pasal 94 Piagam). Sipadan-Ligitan dibawa ke MI lewat persetujuan khusus.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sesuai metode di RPS. Bagi kelas: dua kelompok delegasi, satu kelompok mediator, satu kelompok pemantau hukum. Negara dan tokohnya fiktif agar diskusi fokus pada hukum.
Petunjuk untuk delegasi Arunika: Pasal 22 Konvensi Wina 1961. Untuk delegasi Samudra: Pasal 41 ayat (1) dan (3), gedung misi tidak boleh dipakai di luar fungsinya; suaka diplomatik tidak diatur Konvensi Wina 1961.
Untuk mediator: tawarkan jalan tengah, misalnya jaminan proses hukum yang adil, pemantauan pihak ketiga, atau membawa sengketa ke MI.
Pemantau hukum membacakan catatannya di akhir. Nilai keaktifan bisa diambil dari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(1) Pasal 22, gedung perwakilan tidak dapat diganggu gugat; (2) tidak bisa diadili secara pidana selama kebal (Pasal 31), kecuali kekebalannya ditanggalkan negara pengirim (Pasal 32); negara penerima bisa menyatakannya persona non grata (Pasal 9); (3) hasil mediasi bergantung pada kesepakatan, putusan arbitrase mengikat.
Persiapan UTS: sarankan mahasiswa mengulang dasar hukum dan kasus di setiap pertemuan.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7</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Hukum Diplomatik dan</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Penyelesaian Sengketa</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Bolehkah polisi masuk kedutaan asing untuk menangkap buronan?</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7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KASUS NYATA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Kedutaan Meksiko di Quito, 2024</a:t>
            </a:r>
            <a:endParaRPr lang="en-US" sz="2800" dirty="0"/>
          </a:p>
        </p:txBody>
      </p:sp>
      <p:sp>
        <p:nvSpPr>
          <p:cNvPr id="4" name="Shape 2"/>
          <p:cNvSpPr/>
          <p:nvPr/>
        </p:nvSpPr>
        <p:spPr>
          <a:xfrm>
            <a:off x="685800" y="2103120"/>
            <a:ext cx="10789920" cy="0"/>
          </a:xfrm>
          <a:prstGeom prst="line">
            <a:avLst/>
          </a:prstGeom>
          <a:noFill/>
          <a:ln w="19050">
            <a:solidFill>
              <a:srgbClr val="D9D2CB"/>
            </a:solidFill>
            <a:prstDash val="solid"/>
          </a:ln>
        </p:spPr>
      </p:sp>
      <p:sp>
        <p:nvSpPr>
          <p:cNvPr id="5" name="Shape 3"/>
          <p:cNvSpPr/>
          <p:nvPr/>
        </p:nvSpPr>
        <p:spPr>
          <a:xfrm>
            <a:off x="576072" y="2002536"/>
            <a:ext cx="201168" cy="201168"/>
          </a:xfrm>
          <a:prstGeom prst="ellipse">
            <a:avLst/>
          </a:prstGeom>
          <a:solidFill>
            <a:srgbClr val="7A1220"/>
          </a:solidFill>
          <a:ln w="12700">
            <a:solidFill>
              <a:srgbClr val="7A1220"/>
            </a:solidFill>
            <a:prstDash val="solid"/>
          </a:ln>
        </p:spPr>
      </p:sp>
      <p:sp>
        <p:nvSpPr>
          <p:cNvPr id="6" name="Text 4"/>
          <p:cNvSpPr txBox="1"/>
          <p:nvPr/>
        </p:nvSpPr>
        <p:spPr>
          <a:xfrm>
            <a:off x="502920" y="2286000"/>
            <a:ext cx="260604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17 Des 2023</a:t>
            </a:r>
            <a:endParaRPr lang="en-US" sz="1700" dirty="0"/>
          </a:p>
        </p:txBody>
      </p:sp>
      <p:sp>
        <p:nvSpPr>
          <p:cNvPr id="7" name="Text 5"/>
          <p:cNvSpPr txBox="1"/>
          <p:nvPr/>
        </p:nvSpPr>
        <p:spPr>
          <a:xfrm>
            <a:off x="502920" y="2670048"/>
            <a:ext cx="2606040" cy="15087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Jorge Glas, mantan Wakil Presiden Ekuador yang terjerat kasus korupsi, berlindung di Kedutaan Meksiko.</a:t>
            </a:r>
            <a:endParaRPr lang="en-US" sz="1400" dirty="0"/>
          </a:p>
        </p:txBody>
      </p:sp>
      <p:sp>
        <p:nvSpPr>
          <p:cNvPr id="8" name="Shape 6"/>
          <p:cNvSpPr/>
          <p:nvPr/>
        </p:nvSpPr>
        <p:spPr>
          <a:xfrm>
            <a:off x="3419856" y="2002536"/>
            <a:ext cx="201168" cy="201168"/>
          </a:xfrm>
          <a:prstGeom prst="ellipse">
            <a:avLst/>
          </a:prstGeom>
          <a:solidFill>
            <a:srgbClr val="7A1220"/>
          </a:solidFill>
          <a:ln w="12700">
            <a:solidFill>
              <a:srgbClr val="7A1220"/>
            </a:solidFill>
            <a:prstDash val="solid"/>
          </a:ln>
        </p:spPr>
      </p:sp>
      <p:sp>
        <p:nvSpPr>
          <p:cNvPr id="9" name="Text 7"/>
          <p:cNvSpPr txBox="1"/>
          <p:nvPr/>
        </p:nvSpPr>
        <p:spPr>
          <a:xfrm>
            <a:off x="3346704" y="2286000"/>
            <a:ext cx="260604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5 Apr 2024</a:t>
            </a:r>
            <a:endParaRPr lang="en-US" sz="1700" dirty="0"/>
          </a:p>
        </p:txBody>
      </p:sp>
      <p:sp>
        <p:nvSpPr>
          <p:cNvPr id="10" name="Text 8"/>
          <p:cNvSpPr txBox="1"/>
          <p:nvPr/>
        </p:nvSpPr>
        <p:spPr>
          <a:xfrm>
            <a:off x="3346704" y="2670048"/>
            <a:ext cx="2606040" cy="15087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Meksiko memberinya suaka. Malam itu polisi Ekuador masuk kedutaan dan menangkapnya. Meksiko memutus hubungan diplomatik.</a:t>
            </a:r>
            <a:endParaRPr lang="en-US" sz="1400" dirty="0"/>
          </a:p>
        </p:txBody>
      </p:sp>
      <p:sp>
        <p:nvSpPr>
          <p:cNvPr id="11" name="Shape 9"/>
          <p:cNvSpPr/>
          <p:nvPr/>
        </p:nvSpPr>
        <p:spPr>
          <a:xfrm>
            <a:off x="6263640" y="2002536"/>
            <a:ext cx="201168" cy="201168"/>
          </a:xfrm>
          <a:prstGeom prst="ellipse">
            <a:avLst/>
          </a:prstGeom>
          <a:solidFill>
            <a:srgbClr val="7A1220"/>
          </a:solidFill>
          <a:ln w="12700">
            <a:solidFill>
              <a:srgbClr val="7A1220"/>
            </a:solidFill>
            <a:prstDash val="solid"/>
          </a:ln>
        </p:spPr>
      </p:sp>
      <p:sp>
        <p:nvSpPr>
          <p:cNvPr id="12" name="Text 10"/>
          <p:cNvSpPr txBox="1"/>
          <p:nvPr/>
        </p:nvSpPr>
        <p:spPr>
          <a:xfrm>
            <a:off x="6190488" y="2286000"/>
            <a:ext cx="260604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April 2024</a:t>
            </a:r>
            <a:endParaRPr lang="en-US" sz="1700" dirty="0"/>
          </a:p>
        </p:txBody>
      </p:sp>
      <p:sp>
        <p:nvSpPr>
          <p:cNvPr id="13" name="Text 11"/>
          <p:cNvSpPr txBox="1"/>
          <p:nvPr/>
        </p:nvSpPr>
        <p:spPr>
          <a:xfrm>
            <a:off x="6190488" y="2670048"/>
            <a:ext cx="2606040" cy="15087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Meksiko menggugat Ekuador ke MI. Ekuador balik menggugat (29 April) karena menilai suaka itu disalahgunakan.</a:t>
            </a:r>
            <a:endParaRPr lang="en-US" sz="1400" dirty="0"/>
          </a:p>
        </p:txBody>
      </p:sp>
      <p:sp>
        <p:nvSpPr>
          <p:cNvPr id="14" name="Shape 12"/>
          <p:cNvSpPr/>
          <p:nvPr/>
        </p:nvSpPr>
        <p:spPr>
          <a:xfrm>
            <a:off x="9107424" y="2002536"/>
            <a:ext cx="201168" cy="201168"/>
          </a:xfrm>
          <a:prstGeom prst="ellipse">
            <a:avLst/>
          </a:prstGeom>
          <a:solidFill>
            <a:srgbClr val="7A1220"/>
          </a:solidFill>
          <a:ln w="12700">
            <a:solidFill>
              <a:srgbClr val="7A1220"/>
            </a:solidFill>
            <a:prstDash val="solid"/>
          </a:ln>
        </p:spPr>
      </p:sp>
      <p:sp>
        <p:nvSpPr>
          <p:cNvPr id="15" name="Text 13"/>
          <p:cNvSpPr txBox="1"/>
          <p:nvPr/>
        </p:nvSpPr>
        <p:spPr>
          <a:xfrm>
            <a:off x="9034272" y="2286000"/>
            <a:ext cx="2606040" cy="365760"/>
          </a:xfrm>
          <a:prstGeom prst="rect">
            <a:avLst/>
          </a:prstGeom>
          <a:noFill/>
          <a:ln/>
        </p:spPr>
        <p:txBody>
          <a:bodyPr wrap="square" lIns="0" tIns="0" rIns="0" bIns="0" rtlCol="0" anchor="t"/>
          <a:lstStyle/>
          <a:p>
            <a:pPr indent="0" marL="0">
              <a:spcAft>
                <a:spcPts val="600"/>
              </a:spcAft>
              <a:buNone/>
            </a:pPr>
            <a:r>
              <a:rPr lang="en-US" sz="1700" b="1" dirty="0">
                <a:solidFill>
                  <a:srgbClr val="7A1220"/>
                </a:solidFill>
                <a:latin typeface="Georgia" pitchFamily="34" charset="0"/>
                <a:ea typeface="Georgia" pitchFamily="34" charset="-122"/>
                <a:cs typeface="Georgia" pitchFamily="34" charset="-120"/>
              </a:rPr>
              <a:t>23 Mei 2024</a:t>
            </a:r>
            <a:endParaRPr lang="en-US" sz="1700" dirty="0"/>
          </a:p>
        </p:txBody>
      </p:sp>
      <p:sp>
        <p:nvSpPr>
          <p:cNvPr id="16" name="Text 14"/>
          <p:cNvSpPr txBox="1"/>
          <p:nvPr/>
        </p:nvSpPr>
        <p:spPr>
          <a:xfrm>
            <a:off x="9034272" y="2670048"/>
            <a:ext cx="2606040" cy="15087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MI menolak tindakan sementara karena Ekuador berjanji melindungi gedung kedutaan, sambil menegaskan pentingnya Konvensi Wina 1961.</a:t>
            </a:r>
            <a:endParaRPr lang="en-US" sz="1400" dirty="0"/>
          </a:p>
        </p:txBody>
      </p:sp>
      <p:sp>
        <p:nvSpPr>
          <p:cNvPr id="17" name="Shape 15"/>
          <p:cNvSpPr/>
          <p:nvPr/>
        </p:nvSpPr>
        <p:spPr>
          <a:xfrm>
            <a:off x="502920" y="4297680"/>
            <a:ext cx="11183112" cy="0"/>
          </a:xfrm>
          <a:prstGeom prst="line">
            <a:avLst/>
          </a:prstGeom>
          <a:noFill/>
          <a:ln w="12700">
            <a:solidFill>
              <a:srgbClr val="D9D2CB"/>
            </a:solidFill>
            <a:prstDash val="solid"/>
          </a:ln>
        </p:spPr>
      </p:sp>
      <p:sp>
        <p:nvSpPr>
          <p:cNvPr id="18" name="Shape 16"/>
          <p:cNvSpPr/>
          <p:nvPr/>
        </p:nvSpPr>
        <p:spPr>
          <a:xfrm>
            <a:off x="548640" y="4480560"/>
            <a:ext cx="0" cy="1280160"/>
          </a:xfrm>
          <a:prstGeom prst="line">
            <a:avLst/>
          </a:prstGeom>
          <a:noFill/>
          <a:ln w="38100">
            <a:solidFill>
              <a:srgbClr val="7A1220"/>
            </a:solidFill>
            <a:prstDash val="solid"/>
          </a:ln>
        </p:spPr>
      </p:sp>
      <p:sp>
        <p:nvSpPr>
          <p:cNvPr id="19" name="Text 17"/>
          <p:cNvSpPr txBox="1"/>
          <p:nvPr/>
        </p:nvSpPr>
        <p:spPr>
          <a:xfrm>
            <a:off x="822960" y="4434840"/>
            <a:ext cx="5577840" cy="1143000"/>
          </a:xfrm>
          <a:prstGeom prst="rect">
            <a:avLst/>
          </a:prstGeom>
          <a:noFill/>
          <a:ln/>
        </p:spPr>
        <p:txBody>
          <a:bodyPr wrap="square" lIns="0" tIns="0" rIns="0" bIns="0" rtlCol="0" anchor="t"/>
          <a:lstStyle/>
          <a:p>
            <a:pPr indent="0" marL="0">
              <a:spcAft>
                <a:spcPts val="600"/>
              </a:spcAft>
              <a:buNone/>
            </a:pPr>
            <a:r>
              <a:rPr lang="en-US" sz="1800" dirty="0">
                <a:solidFill>
                  <a:srgbClr val="2B2B2B"/>
                </a:solidFill>
                <a:latin typeface="Georgia" pitchFamily="34" charset="0"/>
                <a:ea typeface="Georgia" pitchFamily="34" charset="-122"/>
                <a:cs typeface="Georgia" pitchFamily="34" charset="-120"/>
              </a:rPr>
              <a:t>Gedung perwakilan tidak dapat diganggu gugat. Aparat negara penerima tidak boleh masuk, kecuali dengan izin kepala perwakilan.</a:t>
            </a:r>
            <a:endParaRPr lang="en-US" sz="1800" dirty="0"/>
          </a:p>
        </p:txBody>
      </p:sp>
      <p:sp>
        <p:nvSpPr>
          <p:cNvPr id="20" name="Text 18"/>
          <p:cNvSpPr txBox="1"/>
          <p:nvPr/>
        </p:nvSpPr>
        <p:spPr>
          <a:xfrm>
            <a:off x="822960" y="5623560"/>
            <a:ext cx="5577840" cy="274320"/>
          </a:xfrm>
          <a:prstGeom prst="rect">
            <a:avLst/>
          </a:prstGeom>
          <a:noFill/>
          <a:ln/>
        </p:spPr>
        <p:txBody>
          <a:bodyPr wrap="square" lIns="0" tIns="0" rIns="0" bIns="0" rtlCol="0" anchor="t"/>
          <a:lstStyle/>
          <a:p>
            <a:pPr indent="0" marL="0">
              <a:spcAft>
                <a:spcPts val="600"/>
              </a:spcAft>
              <a:buNone/>
            </a:pPr>
            <a:r>
              <a:rPr lang="en-US" sz="1200" i="1" dirty="0">
                <a:solidFill>
                  <a:srgbClr val="5F5F5F"/>
                </a:solidFill>
                <a:latin typeface="Arial" pitchFamily="34" charset="0"/>
                <a:ea typeface="Arial" pitchFamily="34" charset="-122"/>
                <a:cs typeface="Arial" pitchFamily="34" charset="-120"/>
              </a:rPr>
              <a:t>Pasal 22 ayat (1) Konvensi Wina 1961, terjemahan bebas</a:t>
            </a:r>
            <a:endParaRPr lang="en-US" sz="1200" dirty="0"/>
          </a:p>
        </p:txBody>
      </p:sp>
      <p:sp>
        <p:nvSpPr>
          <p:cNvPr id="21" name="Shape 19"/>
          <p:cNvSpPr/>
          <p:nvPr/>
        </p:nvSpPr>
        <p:spPr>
          <a:xfrm>
            <a:off x="6720840" y="4480560"/>
            <a:ext cx="0" cy="1691640"/>
          </a:xfrm>
          <a:prstGeom prst="line">
            <a:avLst/>
          </a:prstGeom>
          <a:noFill/>
          <a:ln w="12700">
            <a:solidFill>
              <a:srgbClr val="D9D2CB"/>
            </a:solidFill>
            <a:prstDash val="solid"/>
          </a:ln>
        </p:spPr>
      </p:sp>
      <p:sp>
        <p:nvSpPr>
          <p:cNvPr id="22" name="Text 20"/>
          <p:cNvSpPr txBox="1"/>
          <p:nvPr/>
        </p:nvSpPr>
        <p:spPr>
          <a:xfrm>
            <a:off x="6995160" y="4434840"/>
            <a:ext cx="4663440" cy="146304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Tapi tunggu dulu</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Konvensi Wina 1961 tidak mengatur suaka diplomatik. Ekuador berdalih kedutaan dipakai melindungi terpidana. Argumen siapa yang lebih kuat?</a:t>
            </a:r>
            <a:endParaRPr lang="en-US" sz="1500" dirty="0"/>
          </a:p>
        </p:txBody>
      </p:sp>
      <p:sp>
        <p:nvSpPr>
          <p:cNvPr id="23" name="Text 21"/>
          <p:cNvSpPr txBox="1"/>
          <p:nvPr/>
        </p:nvSpPr>
        <p:spPr>
          <a:xfrm>
            <a:off x="6995160" y="5897880"/>
            <a:ext cx="4663440" cy="320040"/>
          </a:xfrm>
          <a:prstGeom prst="rect">
            <a:avLst/>
          </a:prstGeom>
          <a:noFill/>
          <a:ln/>
        </p:spPr>
        <p:txBody>
          <a:bodyPr wrap="square" lIns="0" tIns="0" rIns="0" bIns="0" rtlCol="0" anchor="t"/>
          <a:lstStyle/>
          <a:p>
            <a:pPr indent="0" marL="0">
              <a:spcAft>
                <a:spcPts val="600"/>
              </a:spcAft>
              <a:buNone/>
            </a:pPr>
            <a:r>
              <a:rPr lang="en-US" sz="1200" i="1" dirty="0">
                <a:solidFill>
                  <a:srgbClr val="5F5F5F"/>
                </a:solidFill>
                <a:latin typeface="Arial" pitchFamily="34" charset="0"/>
                <a:ea typeface="Arial" pitchFamily="34" charset="-122"/>
                <a:cs typeface="Arial" pitchFamily="34" charset="-120"/>
              </a:rPr>
              <a:t>Status: perkara masih berjalan di MI.</a:t>
            </a:r>
            <a:endParaRPr lang="en-US" sz="12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KEKEBALAN DAN HAK ISTIMEWA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Apa Saja yang Dilindungi?</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11183112" cy="914400"/>
        </p:xfrm>
        <a:graphic>
          <a:graphicData uri="http://schemas.openxmlformats.org/drawingml/2006/table">
            <a:tbl>
              <a:tblPr/>
              <a:tblGrid>
                <a:gridCol w="914400"/>
                <a:gridCol w="5486400"/>
                <a:gridCol w="4782312"/>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Pasal</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Isi Konvensi Wina 1961</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Bahasa gampangnya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7A1220"/>
                    </a:solidFill>
                  </a:tcPr>
                </a:tc>
              </a:tr>
              <a:tr h="512064">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22</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Gedung perwakilan tidak dapat diganggu gugat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Polisi setempat tidak boleh masuk tanpa izin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24</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Arsip dan dokumen perwakilan tidak dapat diganggu gugat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Dokumen kedutaan tidak boleh disita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512064">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27</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Kantong diplomatik tidak boleh dibuka atau ditahan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Tas diplomatik tidak boleh digeledah</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29</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Pribadi diplomat tidak dapat diganggu gugat</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Diplomat tidak boleh ditangkap atau ditahan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r h="640080">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31</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Kebal dari yurisdiksi pidana; perdata dan administrasi dengan pengecualian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Tidak bisa diadili secara pidana di negara penerima</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FFFFF"/>
                    </a:solidFill>
                  </a:tcPr>
                </a:tc>
              </a:tr>
              <a:tr h="512064">
                <a:tc>
                  <a:txBody>
                    <a:bodyPr/>
                    <a:lstStyle/>
                    <a:p>
                      <a:pPr algn="ctr" indent="0" marL="0">
                        <a:buNone/>
                      </a:pPr>
                      <a:r>
                        <a:rPr lang="en-US" sz="1800" b="1" dirty="0">
                          <a:solidFill>
                            <a:srgbClr val="7A1220"/>
                          </a:solidFill>
                          <a:latin typeface="Georgia" pitchFamily="34" charset="0"/>
                          <a:ea typeface="Georgia" pitchFamily="34" charset="-122"/>
                          <a:cs typeface="Georgia" pitchFamily="34" charset="-120"/>
                        </a:rPr>
                        <a:t>37</a:t>
                      </a:r>
                      <a:endParaRPr lang="en-US" sz="1800" dirty="0">
                        <a:latin typeface="Georgia" charset="0"/>
                        <a:ea typeface="Georgia" charset="0"/>
                        <a:cs typeface="Georgia"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dirty="0">
                          <a:solidFill>
                            <a:srgbClr val="2B2B2B"/>
                          </a:solidFill>
                          <a:latin typeface="Arial" pitchFamily="34" charset="0"/>
                          <a:ea typeface="Arial" pitchFamily="34" charset="-122"/>
                          <a:cs typeface="Arial" pitchFamily="34" charset="-120"/>
                        </a:rPr>
                        <a:t>Keluarga serumah ikut menikmati kekebalan</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c>
                  <a:txBody>
                    <a:bodyPr/>
                    <a:lstStyle/>
                    <a:p>
                      <a:pPr indent="0" marL="0">
                        <a:buNone/>
                      </a:pPr>
                      <a:r>
                        <a:rPr lang="en-US" sz="1400" i="1" dirty="0">
                          <a:solidFill>
                            <a:srgbClr val="2B2B2B"/>
                          </a:solidFill>
                          <a:latin typeface="Arial" pitchFamily="34" charset="0"/>
                          <a:ea typeface="Arial" pitchFamily="34" charset="-122"/>
                          <a:cs typeface="Arial" pitchFamily="34" charset="-120"/>
                        </a:rPr>
                        <a:t>Keluarga diplomat juga terlindungi</a:t>
                      </a:r>
                      <a:endParaRPr lang="en-US" sz="1400" dirty="0">
                        <a:latin typeface="Arial" charset="0"/>
                        <a:ea typeface="Arial" charset="0"/>
                        <a:cs typeface="Arial" charset="0"/>
                      </a:endParaRPr>
                    </a:p>
                  </a:txBody>
                  <a:tcPr marL="91440" marR="91440" marT="54864" marB="54864" anchor="ctr">
                    <a:lnL w="9525" cap="flat" cmpd="sng" algn="ctr">
                      <a:solidFill>
                        <a:srgbClr val="D9D2CB"/>
                      </a:solidFill>
                      <a:prstDash val="solid"/>
                      <a:round/>
                      <a:headEnd type="none" w="med" len="med"/>
                      <a:tailEnd type="none" w="med" len="med"/>
                    </a:lnL>
                    <a:lnR w="9525" cap="flat" cmpd="sng" algn="ctr">
                      <a:solidFill>
                        <a:srgbClr val="D9D2CB"/>
                      </a:solidFill>
                      <a:prstDash val="solid"/>
                      <a:round/>
                      <a:headEnd type="none" w="med" len="med"/>
                      <a:tailEnd type="none" w="med" len="med"/>
                    </a:lnR>
                    <a:lnT w="9525" cap="flat" cmpd="sng" algn="ctr">
                      <a:solidFill>
                        <a:srgbClr val="D9D2CB"/>
                      </a:solidFill>
                      <a:prstDash val="solid"/>
                      <a:round/>
                      <a:headEnd type="none" w="med" len="med"/>
                      <a:tailEnd type="none" w="med" len="med"/>
                    </a:lnT>
                    <a:lnB w="9525" cap="flat" cmpd="sng" algn="ctr">
                      <a:solidFill>
                        <a:srgbClr val="D9D2CB"/>
                      </a:solidFill>
                      <a:prstDash val="solid"/>
                      <a:round/>
                      <a:headEnd type="none" w="med" len="med"/>
                      <a:tailEnd type="none" w="med" len="med"/>
                    </a:lnB>
                    <a:solidFill>
                      <a:srgbClr val="F7F4F0"/>
                    </a:solidFill>
                  </a:tcPr>
                </a:tc>
              </a:tr>
            </a:tbl>
          </a:graphicData>
        </a:graphic>
      </p:graphicFrame>
      <p:sp>
        <p:nvSpPr>
          <p:cNvPr id="5" name="Text 2"/>
          <p:cNvSpPr txBox="1"/>
          <p:nvPr/>
        </p:nvSpPr>
        <p:spPr>
          <a:xfrm>
            <a:off x="502920" y="5715000"/>
            <a:ext cx="11155680" cy="54864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Di Indonesia: </a:t>
            </a:r>
            <a:pPr indent="0" marL="0">
              <a:spcAft>
                <a:spcPts val="600"/>
              </a:spcAft>
              <a:buNone/>
            </a:pPr>
            <a:r>
              <a:rPr lang="en-US" sz="1500" dirty="0">
                <a:solidFill>
                  <a:srgbClr val="2B2B2B"/>
                </a:solidFill>
                <a:latin typeface="Arial" pitchFamily="34" charset="0"/>
                <a:ea typeface="Arial" pitchFamily="34" charset="-122"/>
                <a:cs typeface="Arial" pitchFamily="34" charset="-120"/>
              </a:rPr>
              <a:t>Konvensi Wina 1961 dan 1963 disahkan dengan UU No. 1 Tahun 1982; hubungan luar negeri diatur UU No. 37 Tahun 1999.</a:t>
            </a:r>
            <a:endParaRPr lang="en-US" sz="15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BATASNYA</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Kebal Bukan Berarti Bebas</a:t>
            </a:r>
            <a:endParaRPr lang="en-US" sz="2800" dirty="0"/>
          </a:p>
        </p:txBody>
      </p:sp>
      <p:sp>
        <p:nvSpPr>
          <p:cNvPr id="4" name="Text 2"/>
          <p:cNvSpPr txBox="1"/>
          <p:nvPr/>
        </p:nvSpPr>
        <p:spPr>
          <a:xfrm>
            <a:off x="502920" y="1920240"/>
            <a:ext cx="914400" cy="274320"/>
          </a:xfrm>
          <a:prstGeom prst="rect">
            <a:avLst/>
          </a:prstGeom>
          <a:noFill/>
          <a:ln/>
        </p:spPr>
        <p:txBody>
          <a:bodyPr wrap="square" lIns="0" tIns="0" rIns="0" bIns="0" rtlCol="0" anchor="t"/>
          <a:lstStyle/>
          <a:p>
            <a:pPr indent="0" marL="0">
              <a:spcAft>
                <a:spcPts val="600"/>
              </a:spcAft>
              <a:buNone/>
            </a:pPr>
            <a:r>
              <a:rPr lang="en-US" sz="1100" b="1" spc="200" kern="0" dirty="0">
                <a:solidFill>
                  <a:srgbClr val="5F5F5F"/>
                </a:solidFill>
                <a:latin typeface="Arial" pitchFamily="34" charset="0"/>
                <a:ea typeface="Arial" pitchFamily="34" charset="-122"/>
                <a:cs typeface="Arial" pitchFamily="34" charset="-120"/>
              </a:rPr>
              <a:t>PASAL</a:t>
            </a:r>
            <a:endParaRPr lang="en-US" sz="1100" dirty="0"/>
          </a:p>
        </p:txBody>
      </p:sp>
      <p:sp>
        <p:nvSpPr>
          <p:cNvPr id="5" name="Text 3"/>
          <p:cNvSpPr txBox="1"/>
          <p:nvPr/>
        </p:nvSpPr>
        <p:spPr>
          <a:xfrm>
            <a:off x="502920" y="2148840"/>
            <a:ext cx="1280160" cy="731520"/>
          </a:xfrm>
          <a:prstGeom prst="rect">
            <a:avLst/>
          </a:prstGeom>
          <a:noFill/>
          <a:ln/>
        </p:spPr>
        <p:txBody>
          <a:bodyPr wrap="square" lIns="0" tIns="0" rIns="0" bIns="0" rtlCol="0" anchor="t"/>
          <a:lstStyle/>
          <a:p>
            <a:pPr indent="0" marL="0">
              <a:spcAft>
                <a:spcPts val="600"/>
              </a:spcAft>
              <a:buNone/>
            </a:pPr>
            <a:r>
              <a:rPr lang="en-US" sz="4400" b="1" dirty="0">
                <a:solidFill>
                  <a:srgbClr val="7A1220"/>
                </a:solidFill>
                <a:latin typeface="Georgia" pitchFamily="34" charset="0"/>
                <a:ea typeface="Georgia" pitchFamily="34" charset="-122"/>
                <a:cs typeface="Georgia" pitchFamily="34" charset="-120"/>
              </a:rPr>
              <a:t>41</a:t>
            </a:r>
            <a:endParaRPr lang="en-US" sz="4400" dirty="0"/>
          </a:p>
        </p:txBody>
      </p:sp>
      <p:sp>
        <p:nvSpPr>
          <p:cNvPr id="6" name="Text 4"/>
          <p:cNvSpPr txBox="1"/>
          <p:nvPr/>
        </p:nvSpPr>
        <p:spPr>
          <a:xfrm>
            <a:off x="502920" y="292608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Hormati hukum setempat</a:t>
            </a:r>
            <a:endParaRPr lang="en-US" sz="1600" dirty="0"/>
          </a:p>
        </p:txBody>
      </p:sp>
      <p:sp>
        <p:nvSpPr>
          <p:cNvPr id="7" name="Text 5"/>
          <p:cNvSpPr txBox="1"/>
          <p:nvPr/>
        </p:nvSpPr>
        <p:spPr>
          <a:xfrm>
            <a:off x="502920" y="3337560"/>
            <a:ext cx="3474720" cy="118872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Diplomat wajib menaati hukum negara penerima, tidak mencampuri urusan dalam negerinya, dan gedung misi tidak boleh dipakai di luar fungsinya.</a:t>
            </a:r>
            <a:endParaRPr lang="en-US" sz="1400" dirty="0"/>
          </a:p>
        </p:txBody>
      </p:sp>
      <p:sp>
        <p:nvSpPr>
          <p:cNvPr id="8" name="Shape 6"/>
          <p:cNvSpPr/>
          <p:nvPr/>
        </p:nvSpPr>
        <p:spPr>
          <a:xfrm>
            <a:off x="4114800" y="1965960"/>
            <a:ext cx="0" cy="2514600"/>
          </a:xfrm>
          <a:prstGeom prst="line">
            <a:avLst/>
          </a:prstGeom>
          <a:noFill/>
          <a:ln w="12700">
            <a:solidFill>
              <a:srgbClr val="D9D2CB"/>
            </a:solidFill>
            <a:prstDash val="solid"/>
          </a:ln>
        </p:spPr>
      </p:sp>
      <p:sp>
        <p:nvSpPr>
          <p:cNvPr id="9" name="Text 7"/>
          <p:cNvSpPr txBox="1"/>
          <p:nvPr/>
        </p:nvSpPr>
        <p:spPr>
          <a:xfrm>
            <a:off x="4297680" y="1920240"/>
            <a:ext cx="914400" cy="274320"/>
          </a:xfrm>
          <a:prstGeom prst="rect">
            <a:avLst/>
          </a:prstGeom>
          <a:noFill/>
          <a:ln/>
        </p:spPr>
        <p:txBody>
          <a:bodyPr wrap="square" lIns="0" tIns="0" rIns="0" bIns="0" rtlCol="0" anchor="t"/>
          <a:lstStyle/>
          <a:p>
            <a:pPr indent="0" marL="0">
              <a:spcAft>
                <a:spcPts val="600"/>
              </a:spcAft>
              <a:buNone/>
            </a:pPr>
            <a:r>
              <a:rPr lang="en-US" sz="1100" b="1" spc="200" kern="0" dirty="0">
                <a:solidFill>
                  <a:srgbClr val="5F5F5F"/>
                </a:solidFill>
                <a:latin typeface="Arial" pitchFamily="34" charset="0"/>
                <a:ea typeface="Arial" pitchFamily="34" charset="-122"/>
                <a:cs typeface="Arial" pitchFamily="34" charset="-120"/>
              </a:rPr>
              <a:t>PASAL</a:t>
            </a:r>
            <a:endParaRPr lang="en-US" sz="1100" dirty="0"/>
          </a:p>
        </p:txBody>
      </p:sp>
      <p:sp>
        <p:nvSpPr>
          <p:cNvPr id="10" name="Text 8"/>
          <p:cNvSpPr txBox="1"/>
          <p:nvPr/>
        </p:nvSpPr>
        <p:spPr>
          <a:xfrm>
            <a:off x="4297680" y="2148840"/>
            <a:ext cx="1280160" cy="731520"/>
          </a:xfrm>
          <a:prstGeom prst="rect">
            <a:avLst/>
          </a:prstGeom>
          <a:noFill/>
          <a:ln/>
        </p:spPr>
        <p:txBody>
          <a:bodyPr wrap="square" lIns="0" tIns="0" rIns="0" bIns="0" rtlCol="0" anchor="t"/>
          <a:lstStyle/>
          <a:p>
            <a:pPr indent="0" marL="0">
              <a:spcAft>
                <a:spcPts val="600"/>
              </a:spcAft>
              <a:buNone/>
            </a:pPr>
            <a:r>
              <a:rPr lang="en-US" sz="4400" b="1" dirty="0">
                <a:solidFill>
                  <a:srgbClr val="7A1220"/>
                </a:solidFill>
                <a:latin typeface="Georgia" pitchFamily="34" charset="0"/>
                <a:ea typeface="Georgia" pitchFamily="34" charset="-122"/>
                <a:cs typeface="Georgia" pitchFamily="34" charset="-120"/>
              </a:rPr>
              <a:t>9</a:t>
            </a:r>
            <a:endParaRPr lang="en-US" sz="4400" dirty="0"/>
          </a:p>
        </p:txBody>
      </p:sp>
      <p:sp>
        <p:nvSpPr>
          <p:cNvPr id="11" name="Text 9"/>
          <p:cNvSpPr txBox="1"/>
          <p:nvPr/>
        </p:nvSpPr>
        <p:spPr>
          <a:xfrm>
            <a:off x="4297680" y="292608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Persona non grata</a:t>
            </a:r>
            <a:endParaRPr lang="en-US" sz="1600" dirty="0"/>
          </a:p>
        </p:txBody>
      </p:sp>
      <p:sp>
        <p:nvSpPr>
          <p:cNvPr id="12" name="Text 10"/>
          <p:cNvSpPr txBox="1"/>
          <p:nvPr/>
        </p:nvSpPr>
        <p:spPr>
          <a:xfrm>
            <a:off x="4297680" y="3337560"/>
            <a:ext cx="3474720" cy="118872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penerima boleh menyatakan diplomat tidak dikehendaki kapan saja tanpa memberi alasan. Negara pengirim harus menariknya.</a:t>
            </a:r>
            <a:endParaRPr lang="en-US" sz="1400" dirty="0"/>
          </a:p>
        </p:txBody>
      </p:sp>
      <p:sp>
        <p:nvSpPr>
          <p:cNvPr id="13" name="Shape 11"/>
          <p:cNvSpPr/>
          <p:nvPr/>
        </p:nvSpPr>
        <p:spPr>
          <a:xfrm>
            <a:off x="7909560" y="1965960"/>
            <a:ext cx="0" cy="2514600"/>
          </a:xfrm>
          <a:prstGeom prst="line">
            <a:avLst/>
          </a:prstGeom>
          <a:noFill/>
          <a:ln w="12700">
            <a:solidFill>
              <a:srgbClr val="D9D2CB"/>
            </a:solidFill>
            <a:prstDash val="solid"/>
          </a:ln>
        </p:spPr>
      </p:sp>
      <p:sp>
        <p:nvSpPr>
          <p:cNvPr id="14" name="Text 12"/>
          <p:cNvSpPr txBox="1"/>
          <p:nvPr/>
        </p:nvSpPr>
        <p:spPr>
          <a:xfrm>
            <a:off x="8092440" y="1920240"/>
            <a:ext cx="914400" cy="274320"/>
          </a:xfrm>
          <a:prstGeom prst="rect">
            <a:avLst/>
          </a:prstGeom>
          <a:noFill/>
          <a:ln/>
        </p:spPr>
        <p:txBody>
          <a:bodyPr wrap="square" lIns="0" tIns="0" rIns="0" bIns="0" rtlCol="0" anchor="t"/>
          <a:lstStyle/>
          <a:p>
            <a:pPr indent="0" marL="0">
              <a:spcAft>
                <a:spcPts val="600"/>
              </a:spcAft>
              <a:buNone/>
            </a:pPr>
            <a:r>
              <a:rPr lang="en-US" sz="1100" b="1" spc="200" kern="0" dirty="0">
                <a:solidFill>
                  <a:srgbClr val="5F5F5F"/>
                </a:solidFill>
                <a:latin typeface="Arial" pitchFamily="34" charset="0"/>
                <a:ea typeface="Arial" pitchFamily="34" charset="-122"/>
                <a:cs typeface="Arial" pitchFamily="34" charset="-120"/>
              </a:rPr>
              <a:t>PASAL</a:t>
            </a:r>
            <a:endParaRPr lang="en-US" sz="1100" dirty="0"/>
          </a:p>
        </p:txBody>
      </p:sp>
      <p:sp>
        <p:nvSpPr>
          <p:cNvPr id="15" name="Text 13"/>
          <p:cNvSpPr txBox="1"/>
          <p:nvPr/>
        </p:nvSpPr>
        <p:spPr>
          <a:xfrm>
            <a:off x="8092440" y="2148840"/>
            <a:ext cx="1280160" cy="731520"/>
          </a:xfrm>
          <a:prstGeom prst="rect">
            <a:avLst/>
          </a:prstGeom>
          <a:noFill/>
          <a:ln/>
        </p:spPr>
        <p:txBody>
          <a:bodyPr wrap="square" lIns="0" tIns="0" rIns="0" bIns="0" rtlCol="0" anchor="t"/>
          <a:lstStyle/>
          <a:p>
            <a:pPr indent="0" marL="0">
              <a:spcAft>
                <a:spcPts val="600"/>
              </a:spcAft>
              <a:buNone/>
            </a:pPr>
            <a:r>
              <a:rPr lang="en-US" sz="4400" b="1" dirty="0">
                <a:solidFill>
                  <a:srgbClr val="7A1220"/>
                </a:solidFill>
                <a:latin typeface="Georgia" pitchFamily="34" charset="0"/>
                <a:ea typeface="Georgia" pitchFamily="34" charset="-122"/>
                <a:cs typeface="Georgia" pitchFamily="34" charset="-120"/>
              </a:rPr>
              <a:t>32</a:t>
            </a:r>
            <a:endParaRPr lang="en-US" sz="4400" dirty="0"/>
          </a:p>
        </p:txBody>
      </p:sp>
      <p:sp>
        <p:nvSpPr>
          <p:cNvPr id="16" name="Text 14"/>
          <p:cNvSpPr txBox="1"/>
          <p:nvPr/>
        </p:nvSpPr>
        <p:spPr>
          <a:xfrm>
            <a:off x="8092440" y="2926080"/>
            <a:ext cx="347472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Penanggalan kekebalan</a:t>
            </a:r>
            <a:endParaRPr lang="en-US" sz="1600" dirty="0"/>
          </a:p>
        </p:txBody>
      </p:sp>
      <p:sp>
        <p:nvSpPr>
          <p:cNvPr id="17" name="Text 15"/>
          <p:cNvSpPr txBox="1"/>
          <p:nvPr/>
        </p:nvSpPr>
        <p:spPr>
          <a:xfrm>
            <a:off x="8092440" y="3337560"/>
            <a:ext cx="3474720" cy="118872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Kekebalan bisa ditanggalkan, tetapi hanya oleh negara pengirim dan harus dinyatakan tegas.</a:t>
            </a:r>
            <a:endParaRPr lang="en-US" sz="1400" dirty="0"/>
          </a:p>
        </p:txBody>
      </p:sp>
      <p:sp>
        <p:nvSpPr>
          <p:cNvPr id="18" name="Shape 16"/>
          <p:cNvSpPr/>
          <p:nvPr/>
        </p:nvSpPr>
        <p:spPr>
          <a:xfrm>
            <a:off x="502920" y="4663440"/>
            <a:ext cx="11183112" cy="0"/>
          </a:xfrm>
          <a:prstGeom prst="line">
            <a:avLst/>
          </a:prstGeom>
          <a:noFill/>
          <a:ln w="12700">
            <a:solidFill>
              <a:srgbClr val="D9D2CB"/>
            </a:solidFill>
            <a:prstDash val="solid"/>
          </a:ln>
        </p:spPr>
      </p:sp>
      <p:sp>
        <p:nvSpPr>
          <p:cNvPr id="19" name="Text 17"/>
          <p:cNvSpPr txBox="1"/>
          <p:nvPr/>
        </p:nvSpPr>
        <p:spPr>
          <a:xfrm>
            <a:off x="502920" y="4773168"/>
            <a:ext cx="5394960" cy="14630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1979–1980, Teheran</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Kedutaan AS diduduki dan 52 warga AS disandera 444 hari. MI (24 Mei 1980): Iran melanggar kewajiban melindungi misi diplomatik.</a:t>
            </a:r>
            <a:endParaRPr lang="en-US" sz="1400" dirty="0"/>
          </a:p>
        </p:txBody>
      </p:sp>
      <p:sp>
        <p:nvSpPr>
          <p:cNvPr id="20" name="Text 18"/>
          <p:cNvSpPr txBox="1"/>
          <p:nvPr/>
        </p:nvSpPr>
        <p:spPr>
          <a:xfrm>
            <a:off x="6263640" y="4773168"/>
            <a:ext cx="5394960" cy="146304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2018, Istanbul</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Jurnalis Jamal Khashoggi dibunuh di Konsulat Arab Saudi. Gedung konsuler tidak boleh dipakai untuk hal yang bertentangan dengan fungsinya (Pasal 55 Konvensi Wina 1963).</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PENYELESAIAN SENGKETA (PASAL 33 PIAGAM PBB)</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Dari Meja Runding sampai Ruang Sidang</a:t>
            </a:r>
            <a:endParaRPr lang="en-US" sz="2800" dirty="0"/>
          </a:p>
        </p:txBody>
      </p:sp>
      <p:sp>
        <p:nvSpPr>
          <p:cNvPr id="4" name="Text 2"/>
          <p:cNvSpPr/>
          <p:nvPr/>
        </p:nvSpPr>
        <p:spPr>
          <a:xfrm>
            <a:off x="502920" y="3520440"/>
            <a:ext cx="1828800" cy="548640"/>
          </a:xfrm>
          <a:prstGeom prst="rect">
            <a:avLst/>
          </a:prstGeom>
          <a:solidFill>
            <a:srgbClr val="FFFFFF"/>
          </a:solidFill>
          <a:ln w="12700">
            <a:solidFill>
              <a:srgbClr val="D9D2CB"/>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Negosiasi</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langsung antarpihak</a:t>
            </a:r>
            <a:endParaRPr lang="en-US" sz="1400" dirty="0"/>
          </a:p>
        </p:txBody>
      </p:sp>
      <p:sp>
        <p:nvSpPr>
          <p:cNvPr id="5" name="Text 3"/>
          <p:cNvSpPr/>
          <p:nvPr/>
        </p:nvSpPr>
        <p:spPr>
          <a:xfrm>
            <a:off x="2368296" y="3246120"/>
            <a:ext cx="1828800" cy="822960"/>
          </a:xfrm>
          <a:prstGeom prst="rect">
            <a:avLst/>
          </a:prstGeom>
          <a:solidFill>
            <a:srgbClr val="FFFFFF"/>
          </a:solidFill>
          <a:ln w="12700">
            <a:solidFill>
              <a:srgbClr val="D9D2CB"/>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Penyelidikan</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mencari fakta</a:t>
            </a:r>
            <a:endParaRPr lang="en-US" sz="1400" dirty="0"/>
          </a:p>
        </p:txBody>
      </p:sp>
      <p:sp>
        <p:nvSpPr>
          <p:cNvPr id="6" name="Text 4"/>
          <p:cNvSpPr/>
          <p:nvPr/>
        </p:nvSpPr>
        <p:spPr>
          <a:xfrm>
            <a:off x="4233672" y="2971800"/>
            <a:ext cx="1828800" cy="1097280"/>
          </a:xfrm>
          <a:prstGeom prst="rect">
            <a:avLst/>
          </a:prstGeom>
          <a:solidFill>
            <a:srgbClr val="FFFFFF"/>
          </a:solidFill>
          <a:ln w="12700">
            <a:solidFill>
              <a:srgbClr val="D9D2CB"/>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Mediasi</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pihak ketiga membantu</a:t>
            </a:r>
            <a:endParaRPr lang="en-US" sz="1400" dirty="0"/>
          </a:p>
        </p:txBody>
      </p:sp>
      <p:sp>
        <p:nvSpPr>
          <p:cNvPr id="7" name="Text 5"/>
          <p:cNvSpPr/>
          <p:nvPr/>
        </p:nvSpPr>
        <p:spPr>
          <a:xfrm>
            <a:off x="6099048" y="2697480"/>
            <a:ext cx="1828800" cy="1371600"/>
          </a:xfrm>
          <a:prstGeom prst="rect">
            <a:avLst/>
          </a:prstGeom>
          <a:solidFill>
            <a:srgbClr val="FFFFFF"/>
          </a:solidFill>
          <a:ln w="12700">
            <a:solidFill>
              <a:srgbClr val="D9D2CB"/>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Konsiliasi</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komisi beri rekomendasi</a:t>
            </a:r>
            <a:endParaRPr lang="en-US" sz="1400" dirty="0"/>
          </a:p>
        </p:txBody>
      </p:sp>
      <p:sp>
        <p:nvSpPr>
          <p:cNvPr id="8" name="Text 6"/>
          <p:cNvSpPr/>
          <p:nvPr/>
        </p:nvSpPr>
        <p:spPr>
          <a:xfrm>
            <a:off x="7964424" y="2423160"/>
            <a:ext cx="1828800" cy="1645920"/>
          </a:xfrm>
          <a:prstGeom prst="rect">
            <a:avLst/>
          </a:prstGeom>
          <a:solidFill>
            <a:srgbClr val="F7F4F0"/>
          </a:solidFill>
          <a:ln w="12700">
            <a:solidFill>
              <a:srgbClr val="7A1220"/>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Arbitrase</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arbiter pilihan pihak</a:t>
            </a:r>
            <a:endParaRPr lang="en-US" sz="1400" dirty="0"/>
          </a:p>
        </p:txBody>
      </p:sp>
      <p:sp>
        <p:nvSpPr>
          <p:cNvPr id="9" name="Text 7"/>
          <p:cNvSpPr/>
          <p:nvPr/>
        </p:nvSpPr>
        <p:spPr>
          <a:xfrm>
            <a:off x="9829800" y="2148840"/>
            <a:ext cx="1828800" cy="1920240"/>
          </a:xfrm>
          <a:prstGeom prst="rect">
            <a:avLst/>
          </a:prstGeom>
          <a:solidFill>
            <a:srgbClr val="F7F4F0"/>
          </a:solidFill>
          <a:ln w="12700">
            <a:solidFill>
              <a:srgbClr val="7A1220"/>
            </a:solidFill>
          </a:ln>
        </p:spPr>
        <p:txBody>
          <a:bodyPr wrap="square" lIns="76200" tIns="50800" rIns="50800" bIns="0" rtlCol="0" anchor="t"/>
          <a:lstStyle/>
          <a:p>
            <a:pPr algn="ctr" indent="0" marL="0">
              <a:buNone/>
            </a:pPr>
            <a:r>
              <a:rPr lang="en-US" sz="1400" b="1" dirty="0">
                <a:solidFill>
                  <a:srgbClr val="7A1220"/>
                </a:solidFill>
                <a:latin typeface="Arial" pitchFamily="34" charset="0"/>
                <a:ea typeface="Arial" pitchFamily="34" charset="-122"/>
                <a:cs typeface="Arial" pitchFamily="34" charset="-120"/>
              </a:rPr>
              <a:t>Pengadilan</a:t>
            </a:r>
            <a:endParaRPr lang="en-US" sz="1400" dirty="0"/>
          </a:p>
          <a:p>
            <a:pPr algn="ctr" indent="0" marL="0">
              <a:buNone/>
            </a:pPr>
            <a:r>
              <a:rPr lang="en-US" sz="1200" b="1" dirty="0">
                <a:solidFill>
                  <a:srgbClr val="5F5F5F"/>
                </a:solidFill>
                <a:latin typeface="Arial" pitchFamily="34" charset="0"/>
                <a:ea typeface="Arial" pitchFamily="34" charset="-122"/>
                <a:cs typeface="Arial" pitchFamily="34" charset="-120"/>
              </a:rPr>
              <a:t>MI atau ITLOS</a:t>
            </a:r>
            <a:endParaRPr lang="en-US" sz="1400" dirty="0"/>
          </a:p>
        </p:txBody>
      </p:sp>
      <p:sp>
        <p:nvSpPr>
          <p:cNvPr id="10" name="Text 8"/>
          <p:cNvSpPr txBox="1"/>
          <p:nvPr/>
        </p:nvSpPr>
        <p:spPr>
          <a:xfrm>
            <a:off x="502920" y="1965960"/>
            <a:ext cx="6400800" cy="548640"/>
          </a:xfrm>
          <a:prstGeom prst="rect">
            <a:avLst/>
          </a:prstGeom>
          <a:noFill/>
          <a:ln/>
        </p:spPr>
        <p:txBody>
          <a:bodyPr wrap="square" lIns="0" tIns="0" rIns="0" bIns="0" rtlCol="0" anchor="t"/>
          <a:lstStyle/>
          <a:p>
            <a:pPr indent="0" marL="0">
              <a:spcAft>
                <a:spcPts val="600"/>
              </a:spcAft>
              <a:buNone/>
            </a:pPr>
            <a:r>
              <a:rPr lang="en-US" sz="1300" i="1" dirty="0">
                <a:solidFill>
                  <a:srgbClr val="5F5F5F"/>
                </a:solidFill>
                <a:latin typeface="Arial" pitchFamily="34" charset="0"/>
                <a:ea typeface="Arial" pitchFamily="34" charset="-122"/>
                <a:cs typeface="Arial" pitchFamily="34" charset="-120"/>
              </a:rPr>
              <a:t>Jalur diplomatik: hasilnya bergantung pada kesepakatan para pihak</a:t>
            </a:r>
            <a:endParaRPr lang="en-US" sz="1300" dirty="0"/>
          </a:p>
        </p:txBody>
      </p:sp>
      <p:sp>
        <p:nvSpPr>
          <p:cNvPr id="11" name="Text 9"/>
          <p:cNvSpPr txBox="1"/>
          <p:nvPr/>
        </p:nvSpPr>
        <p:spPr>
          <a:xfrm>
            <a:off x="8001000" y="1874520"/>
            <a:ext cx="3657600" cy="274320"/>
          </a:xfrm>
          <a:prstGeom prst="rect">
            <a:avLst/>
          </a:prstGeom>
          <a:noFill/>
          <a:ln/>
        </p:spPr>
        <p:txBody>
          <a:bodyPr wrap="square" lIns="0" tIns="0" rIns="0" bIns="0" rtlCol="0" anchor="t"/>
          <a:lstStyle/>
          <a:p>
            <a:pPr algn="r" indent="0" marL="0">
              <a:spcAft>
                <a:spcPts val="600"/>
              </a:spcAft>
              <a:buNone/>
            </a:pPr>
            <a:r>
              <a:rPr lang="en-US" sz="1300" i="1" dirty="0">
                <a:solidFill>
                  <a:srgbClr val="7A1220"/>
                </a:solidFill>
                <a:latin typeface="Arial" pitchFamily="34" charset="0"/>
                <a:ea typeface="Arial" pitchFamily="34" charset="-122"/>
                <a:cs typeface="Arial" pitchFamily="34" charset="-120"/>
              </a:rPr>
              <a:t>Jalur hukum: putusannya mengikat</a:t>
            </a:r>
            <a:endParaRPr lang="en-US" sz="1300" dirty="0"/>
          </a:p>
        </p:txBody>
      </p:sp>
      <p:sp>
        <p:nvSpPr>
          <p:cNvPr id="12" name="Shape 10"/>
          <p:cNvSpPr/>
          <p:nvPr/>
        </p:nvSpPr>
        <p:spPr>
          <a:xfrm>
            <a:off x="502920" y="4251960"/>
            <a:ext cx="11183112" cy="0"/>
          </a:xfrm>
          <a:prstGeom prst="line">
            <a:avLst/>
          </a:prstGeom>
          <a:noFill/>
          <a:ln w="12700">
            <a:solidFill>
              <a:srgbClr val="D9D2CB"/>
            </a:solidFill>
            <a:prstDash val="solid"/>
          </a:ln>
        </p:spPr>
      </p:sp>
      <p:sp>
        <p:nvSpPr>
          <p:cNvPr id="13" name="Text 11"/>
          <p:cNvSpPr txBox="1"/>
          <p:nvPr/>
        </p:nvSpPr>
        <p:spPr>
          <a:xfrm>
            <a:off x="502920" y="4389120"/>
            <a:ext cx="2606040" cy="1874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Negosiasi</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Batas ZEE Indonesia–Filipina dirundingkan sekitar 20 tahun, disepakati 2014, lalu disahkan UU No. 4 Tahun 2017.</a:t>
            </a:r>
            <a:endParaRPr lang="en-US" sz="1400" dirty="0"/>
          </a:p>
        </p:txBody>
      </p:sp>
      <p:sp>
        <p:nvSpPr>
          <p:cNvPr id="14" name="Shape 12"/>
          <p:cNvSpPr/>
          <p:nvPr/>
        </p:nvSpPr>
        <p:spPr>
          <a:xfrm>
            <a:off x="3182112" y="4434840"/>
            <a:ext cx="0" cy="1783080"/>
          </a:xfrm>
          <a:prstGeom prst="line">
            <a:avLst/>
          </a:prstGeom>
          <a:noFill/>
          <a:ln w="12700">
            <a:solidFill>
              <a:srgbClr val="D9D2CB"/>
            </a:solidFill>
            <a:prstDash val="solid"/>
          </a:ln>
        </p:spPr>
      </p:sp>
      <p:sp>
        <p:nvSpPr>
          <p:cNvPr id="15" name="Text 13"/>
          <p:cNvSpPr txBox="1"/>
          <p:nvPr/>
        </p:nvSpPr>
        <p:spPr>
          <a:xfrm>
            <a:off x="3346704" y="4389120"/>
            <a:ext cx="2606040" cy="1874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Mediasi</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Thailand–Kamboja: Malaysia sebagai Ketua ASEAN memfasilitasi gencatan senjata 28 Juli 2025. Bentrokan pecah lagi Desember 2025.</a:t>
            </a:r>
            <a:endParaRPr lang="en-US" sz="1400" dirty="0"/>
          </a:p>
        </p:txBody>
      </p:sp>
      <p:sp>
        <p:nvSpPr>
          <p:cNvPr id="16" name="Shape 14"/>
          <p:cNvSpPr/>
          <p:nvPr/>
        </p:nvSpPr>
        <p:spPr>
          <a:xfrm>
            <a:off x="6025896" y="4434840"/>
            <a:ext cx="0" cy="1783080"/>
          </a:xfrm>
          <a:prstGeom prst="line">
            <a:avLst/>
          </a:prstGeom>
          <a:noFill/>
          <a:ln w="12700">
            <a:solidFill>
              <a:srgbClr val="D9D2CB"/>
            </a:solidFill>
            <a:prstDash val="solid"/>
          </a:ln>
        </p:spPr>
      </p:sp>
      <p:sp>
        <p:nvSpPr>
          <p:cNvPr id="17" name="Text 15"/>
          <p:cNvSpPr txBox="1"/>
          <p:nvPr/>
        </p:nvSpPr>
        <p:spPr>
          <a:xfrm>
            <a:off x="6190488" y="4389120"/>
            <a:ext cx="2606040" cy="1874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Arbitrase</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Filipina v. Tiongkok (12 Juli 2016), mahkamah arbitrase berdasarkan Lampiran VII UNCLOS.</a:t>
            </a:r>
            <a:endParaRPr lang="en-US" sz="1400" dirty="0"/>
          </a:p>
        </p:txBody>
      </p:sp>
      <p:sp>
        <p:nvSpPr>
          <p:cNvPr id="18" name="Shape 16"/>
          <p:cNvSpPr/>
          <p:nvPr/>
        </p:nvSpPr>
        <p:spPr>
          <a:xfrm>
            <a:off x="8869680" y="4434840"/>
            <a:ext cx="0" cy="1783080"/>
          </a:xfrm>
          <a:prstGeom prst="line">
            <a:avLst/>
          </a:prstGeom>
          <a:noFill/>
          <a:ln w="12700">
            <a:solidFill>
              <a:srgbClr val="D9D2CB"/>
            </a:solidFill>
            <a:prstDash val="solid"/>
          </a:ln>
        </p:spPr>
      </p:sp>
      <p:sp>
        <p:nvSpPr>
          <p:cNvPr id="19" name="Text 17"/>
          <p:cNvSpPr txBox="1"/>
          <p:nvPr/>
        </p:nvSpPr>
        <p:spPr>
          <a:xfrm>
            <a:off x="9034272" y="4389120"/>
            <a:ext cx="2606040" cy="18745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Pengadilan</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Sipadan–Ligitan (MI, 17 Desember 2002): Indonesia dan Malaysia sepakat membawa sengketa ke MI.</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SIMULASI DIPLOMASI</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Ruang Perundingan: 15 Menit</a:t>
            </a:r>
            <a:endParaRPr lang="en-US" sz="2800" dirty="0"/>
          </a:p>
        </p:txBody>
      </p:sp>
      <p:sp>
        <p:nvSpPr>
          <p:cNvPr id="4" name="Shape 2"/>
          <p:cNvSpPr/>
          <p:nvPr/>
        </p:nvSpPr>
        <p:spPr>
          <a:xfrm>
            <a:off x="502920" y="1965960"/>
            <a:ext cx="5212080" cy="2377440"/>
          </a:xfrm>
          <a:prstGeom prst="rect">
            <a:avLst/>
          </a:prstGeom>
          <a:ln w="12700">
            <a:solidFill>
              <a:srgbClr val="7A1220"/>
            </a:solidFill>
            <a:prstDash val="solid"/>
          </a:ln>
        </p:spPr>
      </p:sp>
      <p:sp>
        <p:nvSpPr>
          <p:cNvPr id="5" name="Text 3"/>
          <p:cNvSpPr txBox="1"/>
          <p:nvPr/>
        </p:nvSpPr>
        <p:spPr>
          <a:xfrm>
            <a:off x="731520" y="2103120"/>
            <a:ext cx="4800600" cy="2377440"/>
          </a:xfrm>
          <a:prstGeom prst="rect">
            <a:avLst/>
          </a:prstGeom>
          <a:noFill/>
          <a:ln/>
        </p:spPr>
        <p:txBody>
          <a:bodyPr wrap="square" lIns="0" tIns="0" rIns="0" bIns="0" rtlCol="0" anchor="t"/>
          <a:lstStyle/>
          <a:p>
            <a:pPr indent="0" marL="0">
              <a:spcAft>
                <a:spcPts val="600"/>
              </a:spcAft>
              <a:buNone/>
            </a:pPr>
            <a:r>
              <a:rPr lang="en-US" sz="1200" b="1" spc="200" kern="0" dirty="0">
                <a:solidFill>
                  <a:srgbClr val="7A1220"/>
                </a:solidFill>
                <a:latin typeface="Arial" pitchFamily="34" charset="0"/>
                <a:ea typeface="Arial" pitchFamily="34" charset="-122"/>
                <a:cs typeface="Arial" pitchFamily="34" charset="-120"/>
              </a:rPr>
              <a:t>SKENARIO (FIKTIF)</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Kedutaan Republik Arunika di ibu kota Kerajaan Samudra melindungi mantan menteri Samudra yang sedang dicari polisi dalam kasus korupsi. Polisi Samudra sudah berjaga di depan gerbang, dan media sosial mulai memanas.</a:t>
            </a:r>
            <a:endParaRPr lang="en-US" sz="1500" dirty="0"/>
          </a:p>
        </p:txBody>
      </p:sp>
      <p:sp>
        <p:nvSpPr>
          <p:cNvPr id="6" name="Shape 4"/>
          <p:cNvSpPr/>
          <p:nvPr/>
        </p:nvSpPr>
        <p:spPr>
          <a:xfrm>
            <a:off x="8778240" y="2011680"/>
            <a:ext cx="0" cy="2514600"/>
          </a:xfrm>
          <a:prstGeom prst="line">
            <a:avLst/>
          </a:prstGeom>
          <a:noFill/>
          <a:ln w="12700">
            <a:solidFill>
              <a:srgbClr val="D9D2CB"/>
            </a:solidFill>
            <a:prstDash val="solid"/>
          </a:ln>
        </p:spPr>
      </p:sp>
      <p:sp>
        <p:nvSpPr>
          <p:cNvPr id="7" name="Shape 5"/>
          <p:cNvSpPr/>
          <p:nvPr/>
        </p:nvSpPr>
        <p:spPr>
          <a:xfrm>
            <a:off x="6080760" y="3273552"/>
            <a:ext cx="5605272" cy="0"/>
          </a:xfrm>
          <a:prstGeom prst="line">
            <a:avLst/>
          </a:prstGeom>
          <a:noFill/>
          <a:ln w="12700">
            <a:solidFill>
              <a:srgbClr val="D9D2CB"/>
            </a:solidFill>
            <a:prstDash val="solid"/>
          </a:ln>
        </p:spPr>
      </p:sp>
      <p:sp>
        <p:nvSpPr>
          <p:cNvPr id="8" name="Text 6"/>
          <p:cNvSpPr txBox="1"/>
          <p:nvPr/>
        </p:nvSpPr>
        <p:spPr>
          <a:xfrm>
            <a:off x="6080760" y="1965960"/>
            <a:ext cx="2606040" cy="11887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Delegasi Arunika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Pertahankan perlindungan kedutaan.</a:t>
            </a:r>
            <a:endParaRPr lang="en-US" sz="1400" dirty="0"/>
          </a:p>
        </p:txBody>
      </p:sp>
      <p:sp>
        <p:nvSpPr>
          <p:cNvPr id="9" name="Text 7"/>
          <p:cNvSpPr txBox="1"/>
          <p:nvPr/>
        </p:nvSpPr>
        <p:spPr>
          <a:xfrm>
            <a:off x="9052560" y="1965960"/>
            <a:ext cx="2606040" cy="11887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Delegasi Samudra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Tuntut penyerahan buronan.</a:t>
            </a:r>
            <a:endParaRPr lang="en-US" sz="1400" dirty="0"/>
          </a:p>
        </p:txBody>
      </p:sp>
      <p:sp>
        <p:nvSpPr>
          <p:cNvPr id="10" name="Text 8"/>
          <p:cNvSpPr txBox="1"/>
          <p:nvPr/>
        </p:nvSpPr>
        <p:spPr>
          <a:xfrm>
            <a:off x="6080760" y="3401568"/>
            <a:ext cx="2606040" cy="11887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Mediator ASEAN</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Cari rumusan yang bisa diterima keduanya.</a:t>
            </a:r>
            <a:endParaRPr lang="en-US" sz="1400" dirty="0"/>
          </a:p>
        </p:txBody>
      </p:sp>
      <p:sp>
        <p:nvSpPr>
          <p:cNvPr id="11" name="Text 9"/>
          <p:cNvSpPr txBox="1"/>
          <p:nvPr/>
        </p:nvSpPr>
        <p:spPr>
          <a:xfrm>
            <a:off x="9052560" y="3401568"/>
            <a:ext cx="2606040" cy="11887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Pemantau hukum</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Catat pasal yang dipakai dan dilanggar.</a:t>
            </a:r>
            <a:endParaRPr lang="en-US" sz="1400" dirty="0"/>
          </a:p>
        </p:txBody>
      </p:sp>
      <p:sp>
        <p:nvSpPr>
          <p:cNvPr id="12" name="Shape 10"/>
          <p:cNvSpPr/>
          <p:nvPr/>
        </p:nvSpPr>
        <p:spPr>
          <a:xfrm>
            <a:off x="502920" y="4800600"/>
            <a:ext cx="11183112" cy="0"/>
          </a:xfrm>
          <a:prstGeom prst="line">
            <a:avLst/>
          </a:prstGeom>
          <a:noFill/>
          <a:ln w="12700">
            <a:solidFill>
              <a:srgbClr val="D9D2CB"/>
            </a:solidFill>
            <a:prstDash val="solid"/>
          </a:ln>
        </p:spPr>
      </p:sp>
      <p:sp>
        <p:nvSpPr>
          <p:cNvPr id="13" name="Text 11"/>
          <p:cNvSpPr txBox="1"/>
          <p:nvPr/>
        </p:nvSpPr>
        <p:spPr>
          <a:xfrm>
            <a:off x="502920" y="4937760"/>
            <a:ext cx="2377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2 menit</a:t>
            </a:r>
            <a:endParaRPr lang="en-US" sz="1900" dirty="0"/>
          </a:p>
        </p:txBody>
      </p:sp>
      <p:sp>
        <p:nvSpPr>
          <p:cNvPr id="14" name="Text 12"/>
          <p:cNvSpPr txBox="1"/>
          <p:nvPr/>
        </p:nvSpPr>
        <p:spPr>
          <a:xfrm>
            <a:off x="502920" y="5376672"/>
            <a:ext cx="233172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Pernyataan posisi tiap delegasi</a:t>
            </a:r>
            <a:endParaRPr lang="en-US" sz="1400" dirty="0"/>
          </a:p>
        </p:txBody>
      </p:sp>
      <p:sp>
        <p:nvSpPr>
          <p:cNvPr id="15" name="Shape 13"/>
          <p:cNvSpPr/>
          <p:nvPr/>
        </p:nvSpPr>
        <p:spPr>
          <a:xfrm>
            <a:off x="2880360" y="5029200"/>
            <a:ext cx="347472" cy="219456"/>
          </a:xfrm>
          <a:prstGeom prst="rightArrow">
            <a:avLst/>
          </a:prstGeom>
          <a:solidFill>
            <a:srgbClr val="D9D2CB"/>
          </a:solidFill>
          <a:ln w="12700">
            <a:solidFill>
              <a:srgbClr val="D9D2CB"/>
            </a:solidFill>
            <a:prstDash val="solid"/>
          </a:ln>
        </p:spPr>
      </p:sp>
      <p:sp>
        <p:nvSpPr>
          <p:cNvPr id="16" name="Text 14"/>
          <p:cNvSpPr txBox="1"/>
          <p:nvPr/>
        </p:nvSpPr>
        <p:spPr>
          <a:xfrm>
            <a:off x="3346704" y="4937760"/>
            <a:ext cx="2377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8 menit</a:t>
            </a:r>
            <a:endParaRPr lang="en-US" sz="1900" dirty="0"/>
          </a:p>
        </p:txBody>
      </p:sp>
      <p:sp>
        <p:nvSpPr>
          <p:cNvPr id="17" name="Text 15"/>
          <p:cNvSpPr txBox="1"/>
          <p:nvPr/>
        </p:nvSpPr>
        <p:spPr>
          <a:xfrm>
            <a:off x="3346704" y="5376672"/>
            <a:ext cx="233172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Perundingan</a:t>
            </a:r>
            <a:endParaRPr lang="en-US" sz="1400" dirty="0"/>
          </a:p>
        </p:txBody>
      </p:sp>
      <p:sp>
        <p:nvSpPr>
          <p:cNvPr id="18" name="Shape 16"/>
          <p:cNvSpPr/>
          <p:nvPr/>
        </p:nvSpPr>
        <p:spPr>
          <a:xfrm>
            <a:off x="5724144" y="5029200"/>
            <a:ext cx="347472" cy="219456"/>
          </a:xfrm>
          <a:prstGeom prst="rightArrow">
            <a:avLst/>
          </a:prstGeom>
          <a:solidFill>
            <a:srgbClr val="D9D2CB"/>
          </a:solidFill>
          <a:ln w="12700">
            <a:solidFill>
              <a:srgbClr val="D9D2CB"/>
            </a:solidFill>
            <a:prstDash val="solid"/>
          </a:ln>
        </p:spPr>
      </p:sp>
      <p:sp>
        <p:nvSpPr>
          <p:cNvPr id="19" name="Text 17"/>
          <p:cNvSpPr txBox="1"/>
          <p:nvPr/>
        </p:nvSpPr>
        <p:spPr>
          <a:xfrm>
            <a:off x="6190488" y="4937760"/>
            <a:ext cx="2377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3 menit</a:t>
            </a:r>
            <a:endParaRPr lang="en-US" sz="1900" dirty="0"/>
          </a:p>
        </p:txBody>
      </p:sp>
      <p:sp>
        <p:nvSpPr>
          <p:cNvPr id="20" name="Text 18"/>
          <p:cNvSpPr txBox="1"/>
          <p:nvPr/>
        </p:nvSpPr>
        <p:spPr>
          <a:xfrm>
            <a:off x="6190488" y="5376672"/>
            <a:ext cx="233172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Usulan mediator</a:t>
            </a:r>
            <a:endParaRPr lang="en-US" sz="1400" dirty="0"/>
          </a:p>
        </p:txBody>
      </p:sp>
      <p:sp>
        <p:nvSpPr>
          <p:cNvPr id="21" name="Shape 19"/>
          <p:cNvSpPr/>
          <p:nvPr/>
        </p:nvSpPr>
        <p:spPr>
          <a:xfrm>
            <a:off x="8567928" y="5029200"/>
            <a:ext cx="347472" cy="219456"/>
          </a:xfrm>
          <a:prstGeom prst="rightArrow">
            <a:avLst/>
          </a:prstGeom>
          <a:solidFill>
            <a:srgbClr val="D9D2CB"/>
          </a:solidFill>
          <a:ln w="12700">
            <a:solidFill>
              <a:srgbClr val="D9D2CB"/>
            </a:solidFill>
            <a:prstDash val="solid"/>
          </a:ln>
        </p:spPr>
      </p:sp>
      <p:sp>
        <p:nvSpPr>
          <p:cNvPr id="22" name="Text 20"/>
          <p:cNvSpPr txBox="1"/>
          <p:nvPr/>
        </p:nvSpPr>
        <p:spPr>
          <a:xfrm>
            <a:off x="9034272" y="4937760"/>
            <a:ext cx="2377440" cy="411480"/>
          </a:xfrm>
          <a:prstGeom prst="rect">
            <a:avLst/>
          </a:prstGeom>
          <a:noFill/>
          <a:ln/>
        </p:spPr>
        <p:txBody>
          <a:bodyPr wrap="square" lIns="0" tIns="0" rIns="0" bIns="0" rtlCol="0" anchor="t"/>
          <a:lstStyle/>
          <a:p>
            <a:pPr indent="0" marL="0">
              <a:spcAft>
                <a:spcPts val="600"/>
              </a:spcAft>
              <a:buNone/>
            </a:pPr>
            <a:r>
              <a:rPr lang="en-US" sz="1900" b="1" dirty="0">
                <a:solidFill>
                  <a:srgbClr val="7A1220"/>
                </a:solidFill>
                <a:latin typeface="Georgia" pitchFamily="34" charset="0"/>
                <a:ea typeface="Georgia" pitchFamily="34" charset="-122"/>
                <a:cs typeface="Georgia" pitchFamily="34" charset="-120"/>
              </a:rPr>
              <a:t>Hasil</a:t>
            </a:r>
            <a:endParaRPr lang="en-US" sz="1900" dirty="0"/>
          </a:p>
        </p:txBody>
      </p:sp>
      <p:sp>
        <p:nvSpPr>
          <p:cNvPr id="23" name="Text 21"/>
          <p:cNvSpPr txBox="1"/>
          <p:nvPr/>
        </p:nvSpPr>
        <p:spPr>
          <a:xfrm>
            <a:off x="9034272" y="5376672"/>
            <a:ext cx="233172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Pernyataan bersama, paling banyak 3 kalimat</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Polisi Ekuador masuk Kedutaan Meksiko. Pasal berapa Konvensi Wina 1961 yang dipersoalkan, dan apa isinya?</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Seorang diplomat menabrak pejalan kaki saat mabuk. Bisakah ia diadili? Apa pilihan negara penerima?</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Apa beda mediasi dan arbitrase dari sisi kekuatan mengikat hasilnya?</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Purnomo (2021), Hukum Internasional: Suatu Pengantar, Bab 5</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Shaw (2021), International Law, Bab 12</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Konvensi Wina 1961 tentang Hubungan Diplomatik</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Pertemuan 8: Ujian Tengah Semester. Materi Pertemuan 1 sampai 7.</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Hukum Diplomatik dan Penyelesaian Sengketa Internasional</dc:title>
  <dc:subject>Hukum Internasional, Pertemuan 7</dc:subject>
  <dc:creator>Aditya Noviyansyah, S.H., M.H.</dc:creator>
  <cp:lastModifiedBy>Aditya Noviyansyah, S.H., M.H.</cp:lastModifiedBy>
  <cp:revision>1</cp:revision>
  <dcterms:created xsi:type="dcterms:W3CDTF">2026-10-21T16:42:17Z</dcterms:created>
  <dcterms:modified xsi:type="dcterms:W3CDTF">2026-10-21T16:42:17Z</dcterms:modified>
</cp:coreProperties>
</file>